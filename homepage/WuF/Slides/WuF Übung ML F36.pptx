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487" r:id="rId7"/>
    <p:sldId id="467" r:id="rId8"/>
    <p:sldId id="497" r:id="rId9"/>
    <p:sldId id="499" r:id="rId10"/>
    <p:sldId id="468" r:id="rId11"/>
    <p:sldId id="263" r:id="rId12"/>
    <p:sldId id="264" r:id="rId13"/>
    <p:sldId id="479" r:id="rId14"/>
    <p:sldId id="478" r:id="rId15"/>
    <p:sldId id="273" r:id="rId16"/>
    <p:sldId id="477" r:id="rId17"/>
    <p:sldId id="494" r:id="rId18"/>
    <p:sldId id="493" r:id="rId19"/>
    <p:sldId id="492" r:id="rId20"/>
    <p:sldId id="270"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51" d="100"/>
          <a:sy n="51" d="100"/>
        </p:scale>
        <p:origin x="102" y="13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B92FA-6E50-424E-91C5-309868860976}" type="datetimeFigureOut">
              <a:rPr lang="de-CH" smtClean="0"/>
              <a:t>17.04.2025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E43038-F565-4057-9E75-22733D0223FB}" type="slidenum">
              <a:rPr lang="de-CH" smtClean="0"/>
              <a:t>‹#›</a:t>
            </a:fld>
            <a:endParaRPr lang="de-CH"/>
          </a:p>
        </p:txBody>
      </p:sp>
    </p:spTree>
    <p:extLst>
      <p:ext uri="{BB962C8B-B14F-4D97-AF65-F5344CB8AC3E}">
        <p14:creationId xmlns:p14="http://schemas.microsoft.com/office/powerpoint/2010/main" val="965596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err="1"/>
              <a:t>Ashby’s</a:t>
            </a:r>
            <a:r>
              <a:rPr lang="fr-CH"/>
              <a:t> </a:t>
            </a:r>
            <a:r>
              <a:rPr lang="fr-CH" err="1"/>
              <a:t>chapters</a:t>
            </a:r>
            <a:r>
              <a:rPr lang="fr-CH"/>
              <a:t> 8, 9 and 10</a:t>
            </a:r>
            <a:endParaRPr lang="de-CH"/>
          </a:p>
        </p:txBody>
      </p:sp>
      <p:sp>
        <p:nvSpPr>
          <p:cNvPr id="4" name="Slide Number Placeholder 3"/>
          <p:cNvSpPr>
            <a:spLocks noGrp="1"/>
          </p:cNvSpPr>
          <p:nvPr>
            <p:ph type="sldNum" sz="quarter" idx="5"/>
          </p:nvPr>
        </p:nvSpPr>
        <p:spPr/>
        <p:txBody>
          <a:bodyPr/>
          <a:lstStyle/>
          <a:p>
            <a:fld id="{A51C0C35-A9A2-4EFD-9BAF-1E52E29E03D1}" type="slidenum">
              <a:rPr lang="de-CH" smtClean="0"/>
              <a:pPr/>
              <a:t>5</a:t>
            </a:fld>
            <a:endParaRPr lang="de-CH"/>
          </a:p>
        </p:txBody>
      </p:sp>
    </p:spTree>
    <p:extLst>
      <p:ext uri="{BB962C8B-B14F-4D97-AF65-F5344CB8AC3E}">
        <p14:creationId xmlns:p14="http://schemas.microsoft.com/office/powerpoint/2010/main" val="2034415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EFDC8-3F00-B8B1-009E-46F517F55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EAD42-53C6-FC49-A35C-7AEF0C0A6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E4B57-7993-3608-DFEE-BCB781D52070}"/>
              </a:ext>
            </a:extLst>
          </p:cNvPr>
          <p:cNvSpPr>
            <a:spLocks noGrp="1"/>
          </p:cNvSpPr>
          <p:nvPr>
            <p:ph type="body" idx="1"/>
          </p:nvPr>
        </p:nvSpPr>
        <p:spPr/>
        <p:txBody>
          <a:bodyPr/>
          <a:lstStyle/>
          <a:p>
            <a:endParaRPr lang="en-GB" b="1">
              <a:latin typeface="Arial"/>
              <a:cs typeface="Arial"/>
            </a:endParaRPr>
          </a:p>
        </p:txBody>
      </p:sp>
      <p:sp>
        <p:nvSpPr>
          <p:cNvPr id="4" name="Slide Number Placeholder 3">
            <a:extLst>
              <a:ext uri="{FF2B5EF4-FFF2-40B4-BE49-F238E27FC236}">
                <a16:creationId xmlns:a16="http://schemas.microsoft.com/office/drawing/2014/main" id="{46A5C22C-BE94-C289-9BC1-0DB69F67389E}"/>
              </a:ext>
            </a:extLst>
          </p:cNvPr>
          <p:cNvSpPr>
            <a:spLocks noGrp="1"/>
          </p:cNvSpPr>
          <p:nvPr>
            <p:ph type="sldNum" sz="quarter" idx="5"/>
          </p:nvPr>
        </p:nvSpPr>
        <p:spPr/>
        <p:txBody>
          <a:bodyPr/>
          <a:lstStyle/>
          <a:p>
            <a:fld id="{A51C0C35-A9A2-4EFD-9BAF-1E52E29E03D1}" type="slidenum">
              <a:rPr lang="de-CH" smtClean="0"/>
              <a:pPr/>
              <a:t>6</a:t>
            </a:fld>
            <a:endParaRPr lang="de-CH"/>
          </a:p>
        </p:txBody>
      </p:sp>
    </p:spTree>
    <p:extLst>
      <p:ext uri="{BB962C8B-B14F-4D97-AF65-F5344CB8AC3E}">
        <p14:creationId xmlns:p14="http://schemas.microsoft.com/office/powerpoint/2010/main" val="4083661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r>
                  <a:rPr lang="fr-FR"/>
                  <a:t>Note: </a:t>
                </a:r>
                <a:r>
                  <a:rPr lang="fr-FR" err="1"/>
                  <a:t>Mistake</a:t>
                </a:r>
                <a:r>
                  <a:rPr lang="fr-FR"/>
                  <a:t> in </a:t>
                </a:r>
                <a:r>
                  <a:rPr lang="fr-FR" err="1"/>
                  <a:t>Markus’s</a:t>
                </a:r>
                <a:r>
                  <a:rPr lang="fr-FR"/>
                  <a:t> slides ?</a:t>
                </a:r>
              </a:p>
              <a:p>
                <a:pPr algn="l"/>
                <a:endParaRPr lang="fr-FR"/>
              </a:p>
              <a:p>
                <a:pPr algn="l"/>
                <a:r>
                  <a:rPr lang="fr-FR"/>
                  <a:t>Basquin </a:t>
                </a:r>
                <a:r>
                  <a:rPr lang="fr-FR" err="1"/>
                  <a:t>is</a:t>
                </a:r>
                <a:r>
                  <a:rPr lang="fr-FR"/>
                  <a:t> </a:t>
                </a:r>
                <a14:m>
                  <m:oMath xmlns:m="http://schemas.openxmlformats.org/officeDocument/2006/math">
                    <m:sSub>
                      <m:sSubPr>
                        <m:ctrlPr>
                          <a:rPr lang="en-US" b="1" i="1" dirty="0" smtClean="0">
                            <a:solidFill>
                              <a:schemeClr val="bg1"/>
                            </a:solidFill>
                            <a:latin typeface="Cambria Math" panose="02040503050406030204" pitchFamily="18" charset="0"/>
                          </a:rPr>
                        </m:ctrlPr>
                      </m:sSubPr>
                      <m:e>
                        <m:r>
                          <a:rPr lang="en-US" b="1" i="1" dirty="0" smtClean="0">
                            <a:solidFill>
                              <a:schemeClr val="bg1"/>
                            </a:solidFill>
                            <a:latin typeface="Cambria Math" panose="02040503050406030204" pitchFamily="18" charset="0"/>
                          </a:rPr>
                          <m:t>𝝈</m:t>
                        </m:r>
                      </m:e>
                      <m:sub>
                        <m:r>
                          <a:rPr lang="en-US" b="1" i="1" dirty="0" smtClean="0">
                            <a:solidFill>
                              <a:schemeClr val="bg1"/>
                            </a:solidFill>
                            <a:latin typeface="Cambria Math" panose="02040503050406030204" pitchFamily="18" charset="0"/>
                          </a:rPr>
                          <m:t>𝒂</m:t>
                        </m:r>
                      </m:sub>
                    </m:sSub>
                    <m:r>
                      <a:rPr lang="de-CH" b="1" i="1" dirty="0">
                        <a:solidFill>
                          <a:schemeClr val="bg1"/>
                        </a:solidFill>
                        <a:latin typeface="Cambria Math" panose="02040503050406030204" pitchFamily="18" charset="0"/>
                      </a:rPr>
                      <m:t>=</m:t>
                    </m:r>
                    <m:sSub>
                      <m:sSubPr>
                        <m:ctrlPr>
                          <a:rPr lang="en-US" b="1" i="1" dirty="0">
                            <a:solidFill>
                              <a:schemeClr val="bg1"/>
                            </a:solidFill>
                            <a:latin typeface="Cambria Math" panose="02040503050406030204" pitchFamily="18" charset="0"/>
                          </a:rPr>
                        </m:ctrlPr>
                      </m:sSubPr>
                      <m:e>
                        <m:r>
                          <a:rPr lang="en-US" b="1" i="1" dirty="0">
                            <a:solidFill>
                              <a:schemeClr val="bg1"/>
                            </a:solidFill>
                            <a:latin typeface="Cambria Math" panose="02040503050406030204" pitchFamily="18" charset="0"/>
                          </a:rPr>
                          <m:t>𝑪</m:t>
                        </m:r>
                      </m:e>
                      <m:sub>
                        <m:r>
                          <a:rPr lang="en-US" b="1" i="1" dirty="0" smtClean="0">
                            <a:solidFill>
                              <a:schemeClr val="bg1"/>
                            </a:solidFill>
                            <a:latin typeface="Cambria Math" panose="02040503050406030204" pitchFamily="18" charset="0"/>
                          </a:rPr>
                          <m:t>𝟏</m:t>
                        </m:r>
                      </m:sub>
                    </m:sSub>
                    <m:sSubSup>
                      <m:sSubSupPr>
                        <m:ctrlPr>
                          <a:rPr lang="en-US" b="1" i="1" dirty="0">
                            <a:solidFill>
                              <a:schemeClr val="bg1"/>
                            </a:solidFill>
                            <a:latin typeface="Cambria Math" panose="02040503050406030204" pitchFamily="18" charset="0"/>
                          </a:rPr>
                        </m:ctrlPr>
                      </m:sSubSupPr>
                      <m:e>
                        <m:r>
                          <a:rPr lang="en-US" b="1" i="1" dirty="0">
                            <a:solidFill>
                              <a:schemeClr val="bg1"/>
                            </a:solidFill>
                            <a:latin typeface="Cambria Math" panose="02040503050406030204" pitchFamily="18" charset="0"/>
                          </a:rPr>
                          <m:t>𝑵</m:t>
                        </m:r>
                      </m:e>
                      <m:sub>
                        <m:r>
                          <a:rPr lang="en-US" b="1" i="1" dirty="0">
                            <a:solidFill>
                              <a:schemeClr val="bg1"/>
                            </a:solidFill>
                            <a:latin typeface="Cambria Math" panose="02040503050406030204" pitchFamily="18" charset="0"/>
                          </a:rPr>
                          <m:t>𝑩</m:t>
                        </m:r>
                      </m:sub>
                      <m:sup>
                        <m:r>
                          <a:rPr lang="fr-FR" b="1" i="1" dirty="0" smtClean="0">
                            <a:solidFill>
                              <a:schemeClr val="bg1"/>
                            </a:solidFill>
                            <a:latin typeface="Cambria Math" panose="02040503050406030204" pitchFamily="18" charset="0"/>
                          </a:rPr>
                          <m:t>−</m:t>
                        </m:r>
                        <m:r>
                          <a:rPr lang="en-US" b="1" i="1" dirty="0" smtClean="0">
                            <a:solidFill>
                              <a:schemeClr val="bg1"/>
                            </a:solidFill>
                            <a:latin typeface="Cambria Math" panose="02040503050406030204" pitchFamily="18" charset="0"/>
                          </a:rPr>
                          <m:t>𝒃</m:t>
                        </m:r>
                      </m:sup>
                    </m:sSubSup>
                  </m:oMath>
                </a14:m>
                <a:r>
                  <a:rPr lang="fr-FR" b="1"/>
                  <a:t> </a:t>
                </a:r>
                <a:r>
                  <a:rPr lang="fr-FR" err="1"/>
                  <a:t>with</a:t>
                </a:r>
                <a:r>
                  <a:rPr lang="fr-FR"/>
                  <a:t> b&gt;0</a:t>
                </a:r>
              </a:p>
              <a:p>
                <a:pPr algn="l"/>
                <a:r>
                  <a:rPr lang="fr-FR">
                    <a:solidFill>
                      <a:schemeClr val="bg1"/>
                    </a:solidFill>
                  </a:rPr>
                  <a:t>Or </a:t>
                </a:r>
                <a14:m>
                  <m:oMath xmlns:m="http://schemas.openxmlformats.org/officeDocument/2006/math">
                    <m:r>
                      <a:rPr lang="en-US" b="1" i="1" smtClean="0">
                        <a:solidFill>
                          <a:schemeClr val="bg1"/>
                        </a:solidFill>
                        <a:latin typeface="Cambria Math" panose="02040503050406030204" pitchFamily="18" charset="0"/>
                      </a:rPr>
                      <m:t>𝝈</m:t>
                    </m:r>
                    <m:r>
                      <a:rPr lang="fr-FR" b="1" i="1" baseline="-25000">
                        <a:solidFill>
                          <a:schemeClr val="bg1"/>
                        </a:solidFill>
                        <a:latin typeface="Cambria Math" panose="02040503050406030204" pitchFamily="18" charset="0"/>
                      </a:rPr>
                      <m:t>𝒂</m:t>
                    </m:r>
                    <m:sSubSup>
                      <m:sSubSupPr>
                        <m:ctrlPr>
                          <a:rPr lang="en-US" b="1" i="1" smtClean="0">
                            <a:solidFill>
                              <a:schemeClr val="bg1"/>
                            </a:solidFill>
                            <a:latin typeface="Cambria Math" panose="02040503050406030204" pitchFamily="18" charset="0"/>
                          </a:rPr>
                        </m:ctrlPr>
                      </m:sSubSupPr>
                      <m:e>
                        <m:r>
                          <a:rPr lang="en-US" b="1" i="1" smtClean="0">
                            <a:solidFill>
                              <a:schemeClr val="bg1"/>
                            </a:solidFill>
                            <a:latin typeface="Cambria Math" panose="02040503050406030204" pitchFamily="18" charset="0"/>
                          </a:rPr>
                          <m:t>⋅</m:t>
                        </m:r>
                        <m:r>
                          <a:rPr lang="fr-FR" b="1" i="1">
                            <a:solidFill>
                              <a:schemeClr val="bg1"/>
                            </a:solidFill>
                            <a:latin typeface="Cambria Math" panose="02040503050406030204" pitchFamily="18" charset="0"/>
                          </a:rPr>
                          <m:t>𝑵</m:t>
                        </m:r>
                      </m:e>
                      <m:sub>
                        <m:r>
                          <a:rPr lang="en-US" b="1" i="1" smtClean="0">
                            <a:solidFill>
                              <a:schemeClr val="bg1"/>
                            </a:solidFill>
                            <a:latin typeface="Cambria Math" panose="02040503050406030204" pitchFamily="18" charset="0"/>
                          </a:rPr>
                          <m:t>𝑩</m:t>
                        </m:r>
                      </m:sub>
                      <m:sup>
                        <m:r>
                          <a:rPr lang="fr-FR" b="1" i="1">
                            <a:solidFill>
                              <a:schemeClr val="bg1"/>
                            </a:solidFill>
                            <a:latin typeface="Cambria Math" panose="02040503050406030204" pitchFamily="18" charset="0"/>
                          </a:rPr>
                          <m:t>𝒃</m:t>
                        </m:r>
                      </m:sup>
                    </m:sSubSup>
                    <m:r>
                      <a:rPr lang="de-CH" b="1" i="1">
                        <a:solidFill>
                          <a:schemeClr val="bg1"/>
                        </a:solidFill>
                        <a:latin typeface="Cambria Math" panose="02040503050406030204" pitchFamily="18" charset="0"/>
                        <a:ea typeface="Cambria Math" panose="02040503050406030204" pitchFamily="18" charset="0"/>
                      </a:rPr>
                      <m:t>≤</m:t>
                    </m:r>
                    <m:sSub>
                      <m:sSubPr>
                        <m:ctrlPr>
                          <a:rPr lang="en-US" b="1" i="1" smtClean="0">
                            <a:solidFill>
                              <a:schemeClr val="bg1"/>
                            </a:solidFill>
                            <a:latin typeface="Cambria Math" panose="02040503050406030204" pitchFamily="18" charset="0"/>
                            <a:ea typeface="Cambria Math" panose="02040503050406030204" pitchFamily="18" charset="0"/>
                          </a:rPr>
                        </m:ctrlPr>
                      </m:sSubPr>
                      <m:e>
                        <m:r>
                          <a:rPr lang="en-US" b="1" i="1" smtClean="0">
                            <a:solidFill>
                              <a:schemeClr val="bg1"/>
                            </a:solidFill>
                            <a:latin typeface="Cambria Math" panose="02040503050406030204" pitchFamily="18" charset="0"/>
                            <a:ea typeface="Cambria Math" panose="02040503050406030204" pitchFamily="18" charset="0"/>
                          </a:rPr>
                          <m:t>𝒄</m:t>
                        </m:r>
                      </m:e>
                      <m:sub>
                        <m:r>
                          <a:rPr lang="en-US" b="1" i="1" smtClean="0">
                            <a:solidFill>
                              <a:schemeClr val="bg1"/>
                            </a:solidFill>
                            <a:latin typeface="Cambria Math" panose="02040503050406030204" pitchFamily="18" charset="0"/>
                            <a:ea typeface="Cambria Math" panose="02040503050406030204" pitchFamily="18" charset="0"/>
                          </a:rPr>
                          <m:t>𝒃</m:t>
                        </m:r>
                      </m:sub>
                    </m:sSub>
                  </m:oMath>
                </a14:m>
                <a:r>
                  <a:rPr lang="de-CH" b="1">
                    <a:solidFill>
                      <a:schemeClr val="bg1"/>
                    </a:solidFill>
                  </a:rPr>
                  <a:t> </a:t>
                </a:r>
                <a:r>
                  <a:rPr lang="fr-FR" err="1">
                    <a:solidFill>
                      <a:schemeClr val="bg1"/>
                    </a:solidFill>
                  </a:rPr>
                  <a:t>with</a:t>
                </a:r>
                <a:r>
                  <a:rPr lang="fr-FR">
                    <a:solidFill>
                      <a:schemeClr val="bg1"/>
                    </a:solidFill>
                  </a:rPr>
                  <a:t> b&gt;0</a:t>
                </a:r>
              </a:p>
              <a:p>
                <a:pPr algn="l"/>
                <a:r>
                  <a:rPr lang="fr-FR">
                    <a:solidFill>
                      <a:schemeClr val="bg1"/>
                    </a:solidFill>
                  </a:rPr>
                  <a:t>(the </a:t>
                </a:r>
                <a:r>
                  <a:rPr lang="fr-FR" err="1">
                    <a:solidFill>
                      <a:schemeClr val="bg1"/>
                    </a:solidFill>
                  </a:rPr>
                  <a:t>slope</a:t>
                </a:r>
                <a:r>
                  <a:rPr lang="fr-FR">
                    <a:solidFill>
                      <a:schemeClr val="bg1"/>
                    </a:solidFill>
                  </a:rPr>
                  <a:t> of log(</a:t>
                </a:r>
                <a14:m>
                  <m:oMath xmlns:m="http://schemas.openxmlformats.org/officeDocument/2006/math">
                    <m:r>
                      <a:rPr lang="en-US" b="1" i="1" smtClean="0">
                        <a:solidFill>
                          <a:schemeClr val="bg1"/>
                        </a:solidFill>
                        <a:latin typeface="Cambria Math" panose="02040503050406030204" pitchFamily="18" charset="0"/>
                      </a:rPr>
                      <m:t>𝝈</m:t>
                    </m:r>
                  </m:oMath>
                </a14:m>
                <a:r>
                  <a:rPr lang="fr-FR">
                    <a:solidFill>
                      <a:schemeClr val="bg1"/>
                    </a:solidFill>
                  </a:rPr>
                  <a:t>) vs log(N) </a:t>
                </a:r>
                <a:r>
                  <a:rPr lang="fr-FR" err="1">
                    <a:solidFill>
                      <a:schemeClr val="bg1"/>
                    </a:solidFill>
                  </a:rPr>
                  <a:t>is</a:t>
                </a:r>
                <a:r>
                  <a:rPr lang="fr-FR">
                    <a:solidFill>
                      <a:schemeClr val="bg1"/>
                    </a:solidFill>
                  </a:rPr>
                  <a:t> </a:t>
                </a:r>
                <a:r>
                  <a:rPr lang="fr-FR" err="1">
                    <a:solidFill>
                      <a:schemeClr val="bg1"/>
                    </a:solidFill>
                  </a:rPr>
                  <a:t>always</a:t>
                </a:r>
                <a:r>
                  <a:rPr lang="fr-FR">
                    <a:solidFill>
                      <a:schemeClr val="bg1"/>
                    </a:solidFill>
                  </a:rPr>
                  <a:t> </a:t>
                </a:r>
                <a:r>
                  <a:rPr lang="fr-FR" err="1">
                    <a:solidFill>
                      <a:schemeClr val="bg1"/>
                    </a:solidFill>
                  </a:rPr>
                  <a:t>negative</a:t>
                </a:r>
                <a:r>
                  <a:rPr lang="fr-FR">
                    <a:solidFill>
                      <a:schemeClr val="bg1"/>
                    </a:solidFill>
                  </a:rPr>
                  <a:t>)</a:t>
                </a:r>
              </a:p>
              <a:p>
                <a:pPr algn="l"/>
                <a:endParaRPr lang="fr-FR">
                  <a:solidFill>
                    <a:schemeClr val="bg1"/>
                  </a:solidFill>
                </a:endParaRPr>
              </a:p>
              <a:p>
                <a:pPr algn="l"/>
                <a:r>
                  <a:rPr lang="fr-FR">
                    <a:solidFill>
                      <a:schemeClr val="bg1"/>
                    </a:solidFill>
                  </a:rPr>
                  <a:t>If </a:t>
                </a:r>
                <a:r>
                  <a:rPr lang="fr-FR" err="1">
                    <a:solidFill>
                      <a:schemeClr val="bg1"/>
                    </a:solidFill>
                  </a:rPr>
                  <a:t>we</a:t>
                </a:r>
                <a:r>
                  <a:rPr lang="fr-FR">
                    <a:solidFill>
                      <a:schemeClr val="bg1"/>
                    </a:solidFill>
                  </a:rPr>
                  <a:t> </a:t>
                </a:r>
                <a:r>
                  <a:rPr lang="fr-FR" err="1">
                    <a:solidFill>
                      <a:schemeClr val="bg1"/>
                    </a:solidFill>
                  </a:rPr>
                  <a:t>keep</a:t>
                </a:r>
                <a:r>
                  <a:rPr lang="fr-FR">
                    <a:solidFill>
                      <a:schemeClr val="bg1"/>
                    </a:solidFill>
                  </a:rPr>
                  <a:t> </a:t>
                </a:r>
                <a:r>
                  <a:rPr lang="fr-FR" err="1">
                    <a:solidFill>
                      <a:schemeClr val="bg1"/>
                    </a:solidFill>
                  </a:rPr>
                  <a:t>this</a:t>
                </a:r>
                <a:r>
                  <a:rPr lang="fr-FR">
                    <a:solidFill>
                      <a:schemeClr val="bg1"/>
                    </a:solidFill>
                  </a:rPr>
                  <a:t> formula, </a:t>
                </a:r>
                <a:r>
                  <a:rPr lang="fr-FR" err="1">
                    <a:solidFill>
                      <a:schemeClr val="bg1"/>
                    </a:solidFill>
                  </a:rPr>
                  <a:t>then</a:t>
                </a:r>
                <a:r>
                  <a:rPr lang="fr-FR">
                    <a:solidFill>
                      <a:schemeClr val="bg1"/>
                    </a:solidFill>
                  </a:rPr>
                  <a:t> b has to </a:t>
                </a:r>
                <a:r>
                  <a:rPr lang="fr-FR" err="1">
                    <a:solidFill>
                      <a:schemeClr val="bg1"/>
                    </a:solidFill>
                  </a:rPr>
                  <a:t>be</a:t>
                </a:r>
                <a:r>
                  <a:rPr lang="fr-FR">
                    <a:solidFill>
                      <a:schemeClr val="bg1"/>
                    </a:solidFill>
                  </a:rPr>
                  <a:t> &lt;0</a:t>
                </a:r>
              </a:p>
              <a:p>
                <a:endParaRPr lang="en-CH"/>
              </a:p>
            </p:txBody>
          </p:sp>
        </mc:Choice>
        <mc:Fallback xmlns="">
          <p:sp>
            <p:nvSpPr>
              <p:cNvPr id="3" name="Notes Placeholder 2"/>
              <p:cNvSpPr>
                <a:spLocks noGrp="1"/>
              </p:cNvSpPr>
              <p:nvPr>
                <p:ph type="body" idx="1"/>
              </p:nvPr>
            </p:nvSpPr>
            <p:spPr/>
            <p:txBody>
              <a:bodyPr/>
              <a:lstStyle/>
              <a:p>
                <a:pPr algn="l"/>
                <a:r>
                  <a:rPr lang="fr-FR"/>
                  <a:t>Note: </a:t>
                </a:r>
                <a:r>
                  <a:rPr lang="fr-FR" err="1"/>
                  <a:t>Mistake</a:t>
                </a:r>
                <a:r>
                  <a:rPr lang="fr-FR"/>
                  <a:t> in </a:t>
                </a:r>
                <a:r>
                  <a:rPr lang="fr-FR" err="1"/>
                  <a:t>Markus’s</a:t>
                </a:r>
                <a:r>
                  <a:rPr lang="fr-FR"/>
                  <a:t> slides ?</a:t>
                </a:r>
              </a:p>
              <a:p>
                <a:pPr algn="l"/>
                <a:endParaRPr lang="fr-FR"/>
              </a:p>
              <a:p>
                <a:pPr algn="l"/>
                <a:r>
                  <a:rPr lang="fr-FR"/>
                  <a:t>Basquin </a:t>
                </a:r>
                <a:r>
                  <a:rPr lang="fr-FR" err="1"/>
                  <a:t>is</a:t>
                </a:r>
                <a:r>
                  <a:rPr lang="fr-FR"/>
                  <a:t> </a:t>
                </a:r>
                <a:r>
                  <a:rPr lang="en-US" b="1" i="0" dirty="0">
                    <a:solidFill>
                      <a:schemeClr val="bg1"/>
                    </a:solidFill>
                    <a:latin typeface="Cambria Math" panose="02040503050406030204" pitchFamily="18" charset="0"/>
                  </a:rPr>
                  <a:t>𝝈_𝒂</a:t>
                </a:r>
                <a:r>
                  <a:rPr lang="de-CH" b="1" i="0" dirty="0">
                    <a:solidFill>
                      <a:schemeClr val="bg1"/>
                    </a:solidFill>
                    <a:latin typeface="Cambria Math" panose="02040503050406030204" pitchFamily="18" charset="0"/>
                  </a:rPr>
                  <a:t>=</a:t>
                </a:r>
                <a:r>
                  <a:rPr lang="en-US" b="1" i="0" dirty="0">
                    <a:solidFill>
                      <a:schemeClr val="bg1"/>
                    </a:solidFill>
                    <a:latin typeface="Cambria Math" panose="02040503050406030204" pitchFamily="18" charset="0"/>
                  </a:rPr>
                  <a:t>𝑪_𝟏 𝑵_𝑩^(</a:t>
                </a:r>
                <a:r>
                  <a:rPr lang="fr-FR" b="1" i="0" dirty="0">
                    <a:solidFill>
                      <a:schemeClr val="bg1"/>
                    </a:solidFill>
                    <a:latin typeface="Cambria Math" panose="02040503050406030204" pitchFamily="18" charset="0"/>
                  </a:rPr>
                  <a:t>−</a:t>
                </a:r>
                <a:r>
                  <a:rPr lang="en-US" b="1" i="0" dirty="0">
                    <a:solidFill>
                      <a:schemeClr val="bg1"/>
                    </a:solidFill>
                    <a:latin typeface="Cambria Math" panose="02040503050406030204" pitchFamily="18" charset="0"/>
                  </a:rPr>
                  <a:t>𝒃)</a:t>
                </a:r>
                <a:r>
                  <a:rPr lang="fr-FR" b="1"/>
                  <a:t> </a:t>
                </a:r>
                <a:r>
                  <a:rPr lang="fr-FR" err="1"/>
                  <a:t>with</a:t>
                </a:r>
                <a:r>
                  <a:rPr lang="fr-FR"/>
                  <a:t> b&gt;0</a:t>
                </a:r>
              </a:p>
              <a:p>
                <a:pPr algn="l"/>
                <a:r>
                  <a:rPr lang="fr-FR">
                    <a:solidFill>
                      <a:schemeClr val="bg1"/>
                    </a:solidFill>
                  </a:rPr>
                  <a:t>Or </a:t>
                </a:r>
                <a:r>
                  <a:rPr lang="en-US" b="1" i="0">
                    <a:solidFill>
                      <a:schemeClr val="bg1"/>
                    </a:solidFill>
                    <a:latin typeface="Cambria Math" panose="02040503050406030204" pitchFamily="18" charset="0"/>
                  </a:rPr>
                  <a:t>𝝈</a:t>
                </a:r>
                <a:r>
                  <a:rPr lang="fr-FR" b="1" i="0" baseline="-25000">
                    <a:solidFill>
                      <a:schemeClr val="bg1"/>
                    </a:solidFill>
                    <a:latin typeface="Cambria Math" panose="02040503050406030204" pitchFamily="18" charset="0"/>
                  </a:rPr>
                  <a:t>𝒂</a:t>
                </a:r>
                <a:r>
                  <a:rPr lang="en-US" b="1" i="0">
                    <a:solidFill>
                      <a:schemeClr val="bg1"/>
                    </a:solidFill>
                    <a:latin typeface="Cambria Math" panose="02040503050406030204" pitchFamily="18" charset="0"/>
                  </a:rPr>
                  <a:t>〖⋅</a:t>
                </a:r>
                <a:r>
                  <a:rPr lang="fr-FR" b="1" i="0">
                    <a:solidFill>
                      <a:schemeClr val="bg1"/>
                    </a:solidFill>
                    <a:latin typeface="Cambria Math" panose="02040503050406030204" pitchFamily="18" charset="0"/>
                  </a:rPr>
                  <a:t>𝑵</a:t>
                </a:r>
                <a:r>
                  <a:rPr lang="en-US" b="1" i="0">
                    <a:solidFill>
                      <a:schemeClr val="bg1"/>
                    </a:solidFill>
                    <a:latin typeface="Cambria Math" panose="02040503050406030204" pitchFamily="18" charset="0"/>
                  </a:rPr>
                  <a:t>〗_𝑩^</a:t>
                </a:r>
                <a:r>
                  <a:rPr lang="fr-FR" b="1" i="0">
                    <a:solidFill>
                      <a:schemeClr val="bg1"/>
                    </a:solidFill>
                    <a:latin typeface="Cambria Math" panose="02040503050406030204" pitchFamily="18" charset="0"/>
                  </a:rPr>
                  <a:t>𝒃</a:t>
                </a:r>
                <a:r>
                  <a:rPr lang="de-CH" b="1" i="0">
                    <a:solidFill>
                      <a:schemeClr val="bg1"/>
                    </a:solidFill>
                    <a:latin typeface="Cambria Math" panose="02040503050406030204" pitchFamily="18" charset="0"/>
                    <a:ea typeface="Cambria Math" panose="02040503050406030204" pitchFamily="18" charset="0"/>
                  </a:rPr>
                  <a:t>≤</a:t>
                </a:r>
                <a:r>
                  <a:rPr lang="en-US" b="1" i="0">
                    <a:solidFill>
                      <a:schemeClr val="bg1"/>
                    </a:solidFill>
                    <a:latin typeface="Cambria Math" panose="02040503050406030204" pitchFamily="18" charset="0"/>
                    <a:ea typeface="Cambria Math" panose="02040503050406030204" pitchFamily="18" charset="0"/>
                  </a:rPr>
                  <a:t>𝒄_𝒃</a:t>
                </a:r>
                <a:r>
                  <a:rPr lang="de-CH" b="1">
                    <a:solidFill>
                      <a:schemeClr val="bg1"/>
                    </a:solidFill>
                  </a:rPr>
                  <a:t> </a:t>
                </a:r>
                <a:r>
                  <a:rPr lang="fr-FR" err="1">
                    <a:solidFill>
                      <a:schemeClr val="bg1"/>
                    </a:solidFill>
                  </a:rPr>
                  <a:t>with</a:t>
                </a:r>
                <a:r>
                  <a:rPr lang="fr-FR">
                    <a:solidFill>
                      <a:schemeClr val="bg1"/>
                    </a:solidFill>
                  </a:rPr>
                  <a:t> b&gt;0</a:t>
                </a:r>
              </a:p>
              <a:p>
                <a:pPr algn="l"/>
                <a:r>
                  <a:rPr lang="fr-FR">
                    <a:solidFill>
                      <a:schemeClr val="bg1"/>
                    </a:solidFill>
                  </a:rPr>
                  <a:t>(the </a:t>
                </a:r>
                <a:r>
                  <a:rPr lang="fr-FR" err="1">
                    <a:solidFill>
                      <a:schemeClr val="bg1"/>
                    </a:solidFill>
                  </a:rPr>
                  <a:t>slope</a:t>
                </a:r>
                <a:r>
                  <a:rPr lang="fr-FR">
                    <a:solidFill>
                      <a:schemeClr val="bg1"/>
                    </a:solidFill>
                  </a:rPr>
                  <a:t> of log(</a:t>
                </a:r>
                <a:r>
                  <a:rPr lang="en-US" b="1" i="0">
                    <a:solidFill>
                      <a:schemeClr val="bg1"/>
                    </a:solidFill>
                    <a:latin typeface="Cambria Math" panose="02040503050406030204" pitchFamily="18" charset="0"/>
                  </a:rPr>
                  <a:t>𝝈</a:t>
                </a:r>
                <a:r>
                  <a:rPr lang="fr-FR">
                    <a:solidFill>
                      <a:schemeClr val="bg1"/>
                    </a:solidFill>
                  </a:rPr>
                  <a:t>) vs log(N) </a:t>
                </a:r>
                <a:r>
                  <a:rPr lang="fr-FR" err="1">
                    <a:solidFill>
                      <a:schemeClr val="bg1"/>
                    </a:solidFill>
                  </a:rPr>
                  <a:t>is</a:t>
                </a:r>
                <a:r>
                  <a:rPr lang="fr-FR">
                    <a:solidFill>
                      <a:schemeClr val="bg1"/>
                    </a:solidFill>
                  </a:rPr>
                  <a:t> </a:t>
                </a:r>
                <a:r>
                  <a:rPr lang="fr-FR" err="1">
                    <a:solidFill>
                      <a:schemeClr val="bg1"/>
                    </a:solidFill>
                  </a:rPr>
                  <a:t>always</a:t>
                </a:r>
                <a:r>
                  <a:rPr lang="fr-FR">
                    <a:solidFill>
                      <a:schemeClr val="bg1"/>
                    </a:solidFill>
                  </a:rPr>
                  <a:t> </a:t>
                </a:r>
                <a:r>
                  <a:rPr lang="fr-FR" err="1">
                    <a:solidFill>
                      <a:schemeClr val="bg1"/>
                    </a:solidFill>
                  </a:rPr>
                  <a:t>negative</a:t>
                </a:r>
                <a:r>
                  <a:rPr lang="fr-FR">
                    <a:solidFill>
                      <a:schemeClr val="bg1"/>
                    </a:solidFill>
                  </a:rPr>
                  <a:t>)</a:t>
                </a:r>
              </a:p>
              <a:p>
                <a:pPr algn="l"/>
                <a:endParaRPr lang="fr-FR">
                  <a:solidFill>
                    <a:schemeClr val="bg1"/>
                  </a:solidFill>
                </a:endParaRPr>
              </a:p>
              <a:p>
                <a:pPr algn="l"/>
                <a:r>
                  <a:rPr lang="fr-FR">
                    <a:solidFill>
                      <a:schemeClr val="bg1"/>
                    </a:solidFill>
                  </a:rPr>
                  <a:t>If </a:t>
                </a:r>
                <a:r>
                  <a:rPr lang="fr-FR" err="1">
                    <a:solidFill>
                      <a:schemeClr val="bg1"/>
                    </a:solidFill>
                  </a:rPr>
                  <a:t>we</a:t>
                </a:r>
                <a:r>
                  <a:rPr lang="fr-FR">
                    <a:solidFill>
                      <a:schemeClr val="bg1"/>
                    </a:solidFill>
                  </a:rPr>
                  <a:t> </a:t>
                </a:r>
                <a:r>
                  <a:rPr lang="fr-FR" err="1">
                    <a:solidFill>
                      <a:schemeClr val="bg1"/>
                    </a:solidFill>
                  </a:rPr>
                  <a:t>keep</a:t>
                </a:r>
                <a:r>
                  <a:rPr lang="fr-FR">
                    <a:solidFill>
                      <a:schemeClr val="bg1"/>
                    </a:solidFill>
                  </a:rPr>
                  <a:t> </a:t>
                </a:r>
                <a:r>
                  <a:rPr lang="fr-FR" err="1">
                    <a:solidFill>
                      <a:schemeClr val="bg1"/>
                    </a:solidFill>
                  </a:rPr>
                  <a:t>this</a:t>
                </a:r>
                <a:r>
                  <a:rPr lang="fr-FR">
                    <a:solidFill>
                      <a:schemeClr val="bg1"/>
                    </a:solidFill>
                  </a:rPr>
                  <a:t> formula, </a:t>
                </a:r>
                <a:r>
                  <a:rPr lang="fr-FR" err="1">
                    <a:solidFill>
                      <a:schemeClr val="bg1"/>
                    </a:solidFill>
                  </a:rPr>
                  <a:t>then</a:t>
                </a:r>
                <a:r>
                  <a:rPr lang="fr-FR">
                    <a:solidFill>
                      <a:schemeClr val="bg1"/>
                    </a:solidFill>
                  </a:rPr>
                  <a:t> b has to </a:t>
                </a:r>
                <a:r>
                  <a:rPr lang="fr-FR" err="1">
                    <a:solidFill>
                      <a:schemeClr val="bg1"/>
                    </a:solidFill>
                  </a:rPr>
                  <a:t>be</a:t>
                </a:r>
                <a:r>
                  <a:rPr lang="fr-FR">
                    <a:solidFill>
                      <a:schemeClr val="bg1"/>
                    </a:solidFill>
                  </a:rPr>
                  <a:t> &lt;0</a:t>
                </a:r>
              </a:p>
              <a:p>
                <a:endParaRPr lang="en-CH"/>
              </a:p>
            </p:txBody>
          </p:sp>
        </mc:Fallback>
      </mc:AlternateContent>
      <p:sp>
        <p:nvSpPr>
          <p:cNvPr id="4" name="Slide Number Placeholder 3"/>
          <p:cNvSpPr>
            <a:spLocks noGrp="1"/>
          </p:cNvSpPr>
          <p:nvPr>
            <p:ph type="sldNum" sz="quarter" idx="5"/>
          </p:nvPr>
        </p:nvSpPr>
        <p:spPr/>
        <p:txBody>
          <a:bodyPr/>
          <a:lstStyle/>
          <a:p>
            <a:fld id="{A51C0C35-A9A2-4EFD-9BAF-1E52E29E03D1}" type="slidenum">
              <a:rPr lang="de-CH" smtClean="0"/>
              <a:pPr/>
              <a:t>13</a:t>
            </a:fld>
            <a:endParaRPr lang="de-CH"/>
          </a:p>
        </p:txBody>
      </p:sp>
    </p:spTree>
    <p:extLst>
      <p:ext uri="{BB962C8B-B14F-4D97-AF65-F5344CB8AC3E}">
        <p14:creationId xmlns:p14="http://schemas.microsoft.com/office/powerpoint/2010/main" val="1469714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solidFill>
                  <a:srgbClr val="5F5F5F"/>
                </a:solidFill>
                <a:effectLst/>
                <a:latin typeface="Open Sans" panose="020B0606030504020204" pitchFamily="34" charset="0"/>
              </a:rPr>
              <a:t>Morrow Design Rule (Basquin-Coffin-Manson relation)</a:t>
            </a:r>
            <a:endParaRPr lang="de-CH"/>
          </a:p>
        </p:txBody>
      </p:sp>
      <p:sp>
        <p:nvSpPr>
          <p:cNvPr id="4" name="Slide Number Placeholder 3"/>
          <p:cNvSpPr>
            <a:spLocks noGrp="1"/>
          </p:cNvSpPr>
          <p:nvPr>
            <p:ph type="sldNum" sz="quarter" idx="5"/>
          </p:nvPr>
        </p:nvSpPr>
        <p:spPr/>
        <p:txBody>
          <a:bodyPr/>
          <a:lstStyle/>
          <a:p>
            <a:fld id="{6C84D375-CD40-48C7-88C9-D305715950EA}" type="slidenum">
              <a:rPr lang="de-CH" smtClean="0"/>
              <a:t>15</a:t>
            </a:fld>
            <a:endParaRPr lang="de-CH"/>
          </a:p>
        </p:txBody>
      </p:sp>
    </p:spTree>
    <p:extLst>
      <p:ext uri="{BB962C8B-B14F-4D97-AF65-F5344CB8AC3E}">
        <p14:creationId xmlns:p14="http://schemas.microsoft.com/office/powerpoint/2010/main" val="3910277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A51C0C35-A9A2-4EFD-9BAF-1E52E29E03D1}" type="slidenum">
              <a:rPr lang="de-CH" smtClean="0"/>
              <a:pPr/>
              <a:t>18</a:t>
            </a:fld>
            <a:endParaRPr lang="de-CH"/>
          </a:p>
        </p:txBody>
      </p:sp>
    </p:spTree>
    <p:extLst>
      <p:ext uri="{BB962C8B-B14F-4D97-AF65-F5344CB8AC3E}">
        <p14:creationId xmlns:p14="http://schemas.microsoft.com/office/powerpoint/2010/main" val="2656975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B2F5A-7BF5-4102-BC12-8E02142347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7D37CF28-C864-4F34-8BFD-85313C4EB0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4572FAA4-03B5-4463-BC35-A02B7A105E2D}"/>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5" name="Footer Placeholder 4">
            <a:extLst>
              <a:ext uri="{FF2B5EF4-FFF2-40B4-BE49-F238E27FC236}">
                <a16:creationId xmlns:a16="http://schemas.microsoft.com/office/drawing/2014/main" id="{56D0DD8B-5074-4340-AE1A-FF28AE81EB57}"/>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92854463-DA5B-4D5D-BB91-73FC4EF9BC69}"/>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3566582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9AB31-7AA8-49EB-95DC-2480308A2D95}"/>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DF64DED4-89D3-4725-AB16-B82732F022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9D0783FA-D6B9-41B8-8772-39F0A934A57B}"/>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5" name="Footer Placeholder 4">
            <a:extLst>
              <a:ext uri="{FF2B5EF4-FFF2-40B4-BE49-F238E27FC236}">
                <a16:creationId xmlns:a16="http://schemas.microsoft.com/office/drawing/2014/main" id="{D1248C56-37B5-436D-B07D-C43AA2396C8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1FAD9288-E385-400B-964F-9DBC96968A86}"/>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203787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F86E6-3770-4527-889C-E0F70B4DA0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0EB32EA8-ADF3-47F6-BE18-DFC9724DFC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985EFB-5796-425F-A7FD-91BBF11D91D0}"/>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5" name="Footer Placeholder 4">
            <a:extLst>
              <a:ext uri="{FF2B5EF4-FFF2-40B4-BE49-F238E27FC236}">
                <a16:creationId xmlns:a16="http://schemas.microsoft.com/office/drawing/2014/main" id="{BA07AF9A-7147-46B9-82E7-58AF23559777}"/>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0917128F-35AC-4E38-A7D0-BCB18BAE225D}"/>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1920149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8A45-EC0A-4B95-8B34-30031938332B}"/>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CC64D3DE-DA77-4FD0-96C0-1F85649D55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2E3266AB-7FFD-4121-919B-C17834CF19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7008B70-5A57-4B09-8ED0-21225415747C}"/>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6" name="Footer Placeholder 5">
            <a:extLst>
              <a:ext uri="{FF2B5EF4-FFF2-40B4-BE49-F238E27FC236}">
                <a16:creationId xmlns:a16="http://schemas.microsoft.com/office/drawing/2014/main" id="{EB4DC5E5-FBE2-468D-93CD-CA9314A63D27}"/>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BEFBE380-8925-4CD3-A390-C655A6CF6717}"/>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215411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50405-11A8-4B21-B4C6-FF72AB9C8EB9}"/>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72F1C52-017B-4D01-BB6E-DF3EFC2520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4CEE7-342E-4518-AC7B-92E4CF15D5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722EC9A3-3EBB-40C6-BBAD-76A2199EC4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887D9E-8257-4F4F-BD72-788105675C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3EDBCA1A-D7B8-4C6B-B8A1-223E9D3E7976}"/>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8" name="Footer Placeholder 7">
            <a:extLst>
              <a:ext uri="{FF2B5EF4-FFF2-40B4-BE49-F238E27FC236}">
                <a16:creationId xmlns:a16="http://schemas.microsoft.com/office/drawing/2014/main" id="{ECFE07E9-6334-4713-818F-72B1925DE0F7}"/>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5A29D530-7E53-4097-A581-D97171AA9BFF}"/>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2420924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F3F5-A550-4829-9687-629B85E0BFD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070FD1E7-8418-4107-9875-E401F43D656B}"/>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4" name="Footer Placeholder 3">
            <a:extLst>
              <a:ext uri="{FF2B5EF4-FFF2-40B4-BE49-F238E27FC236}">
                <a16:creationId xmlns:a16="http://schemas.microsoft.com/office/drawing/2014/main" id="{2EFEAD07-44C9-43B6-BDB7-5E56EE5C89F6}"/>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582E8D47-A49B-44E9-9E39-8EF9EEB48767}"/>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325350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F9531B-2938-45BF-AF32-553391F21CCF}"/>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3" name="Footer Placeholder 2">
            <a:extLst>
              <a:ext uri="{FF2B5EF4-FFF2-40B4-BE49-F238E27FC236}">
                <a16:creationId xmlns:a16="http://schemas.microsoft.com/office/drawing/2014/main" id="{A57E3B27-0266-4F41-A6B8-66E398690B84}"/>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D0C0B28C-9BB8-41A4-99C6-9BD0F757EFA6}"/>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610917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91D74-4646-44BE-B7D7-05E2F37F92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E62BCE87-8883-4B42-BAEF-64FE601B15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181D3604-D90F-4E50-B0AD-F217CFC8A0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FBFDE-D7DC-4C32-B3C5-4729EA0EC354}"/>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6" name="Footer Placeholder 5">
            <a:extLst>
              <a:ext uri="{FF2B5EF4-FFF2-40B4-BE49-F238E27FC236}">
                <a16:creationId xmlns:a16="http://schemas.microsoft.com/office/drawing/2014/main" id="{70A758CC-EF7C-4DFB-8CBA-21DC12445F19}"/>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3AB8A149-4E17-4B8B-9D45-59FFC786D799}"/>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3805411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B477-8AEF-4423-ACD5-18960D4E0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2B8FD1C7-E836-4138-9760-F03FBE3F1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024FD7A0-DBF3-4AF8-B1C1-316AF78432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4F4EA9-B700-427B-A96D-C94DE22E42CF}"/>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6" name="Footer Placeholder 5">
            <a:extLst>
              <a:ext uri="{FF2B5EF4-FFF2-40B4-BE49-F238E27FC236}">
                <a16:creationId xmlns:a16="http://schemas.microsoft.com/office/drawing/2014/main" id="{4B8A8088-394F-410C-8DDA-84708EC17ECF}"/>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456EFB93-D75E-422E-AE73-203D9C4DDDB5}"/>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3058917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8FA9-4E05-437A-BD83-3050430D67B2}"/>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469283BC-CC7A-476F-B9EA-845FE963D9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76EA813C-B93B-46CC-A8AD-23B21CA9301C}"/>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5" name="Footer Placeholder 4">
            <a:extLst>
              <a:ext uri="{FF2B5EF4-FFF2-40B4-BE49-F238E27FC236}">
                <a16:creationId xmlns:a16="http://schemas.microsoft.com/office/drawing/2014/main" id="{A1C53B40-F42A-4109-A733-C260C2B446CD}"/>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8DB40F0-D16D-4857-9E6B-88C9D5EC40C6}"/>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1185532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DBD60-57BC-45F4-896F-C3223D5B5B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B43FCD02-2CA4-49C6-B4F8-E158680759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A01AEC69-DF44-4E44-992B-F1B42BB0CE3C}"/>
              </a:ext>
            </a:extLst>
          </p:cNvPr>
          <p:cNvSpPr>
            <a:spLocks noGrp="1"/>
          </p:cNvSpPr>
          <p:nvPr>
            <p:ph type="dt" sz="half" idx="10"/>
          </p:nvPr>
        </p:nvSpPr>
        <p:spPr/>
        <p:txBody>
          <a:bodyPr/>
          <a:lstStyle/>
          <a:p>
            <a:fld id="{1FAF672B-7813-4EFF-AC7A-57E3940D72D6}" type="datetimeFigureOut">
              <a:rPr lang="de-CH" smtClean="0"/>
              <a:t>17.04.2025</a:t>
            </a:fld>
            <a:endParaRPr lang="de-CH"/>
          </a:p>
        </p:txBody>
      </p:sp>
      <p:sp>
        <p:nvSpPr>
          <p:cNvPr id="5" name="Footer Placeholder 4">
            <a:extLst>
              <a:ext uri="{FF2B5EF4-FFF2-40B4-BE49-F238E27FC236}">
                <a16:creationId xmlns:a16="http://schemas.microsoft.com/office/drawing/2014/main" id="{7F783775-AAC4-430C-BFC7-CFCA23CDF386}"/>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92A9A61C-3176-4AB7-85CC-139477E31902}"/>
              </a:ext>
            </a:extLst>
          </p:cNvPr>
          <p:cNvSpPr>
            <a:spLocks noGrp="1"/>
          </p:cNvSpPr>
          <p:nvPr>
            <p:ph type="sldNum" sz="quarter" idx="12"/>
          </p:nvPr>
        </p:nvSpPr>
        <p:spPr/>
        <p:txBody>
          <a:bodyPr/>
          <a:lstStyle/>
          <a:p>
            <a:fld id="{89390F2E-63BC-4CBB-8DD2-A62C86F4B334}" type="slidenum">
              <a:rPr lang="de-CH" smtClean="0"/>
              <a:t>‹#›</a:t>
            </a:fld>
            <a:endParaRPr lang="de-CH"/>
          </a:p>
        </p:txBody>
      </p:sp>
    </p:spTree>
    <p:extLst>
      <p:ext uri="{BB962C8B-B14F-4D97-AF65-F5344CB8AC3E}">
        <p14:creationId xmlns:p14="http://schemas.microsoft.com/office/powerpoint/2010/main" val="1203754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folie 01">
    <p:spTree>
      <p:nvGrpSpPr>
        <p:cNvPr id="1" name=""/>
        <p:cNvGrpSpPr/>
        <p:nvPr/>
      </p:nvGrpSpPr>
      <p:grpSpPr>
        <a:xfrm>
          <a:off x="0" y="0"/>
          <a:ext cx="0" cy="0"/>
          <a:chOff x="0" y="0"/>
          <a:chExt cx="0" cy="0"/>
        </a:xfrm>
      </p:grpSpPr>
      <p:pic>
        <p:nvPicPr>
          <p:cNvPr id="8" name="Bildplatzhalter 18" descr="Ein Bild, das Gebäude, Stadt, Schloss, Turm enthält.&#10;&#10;Automatisch generierte Beschreibung">
            <a:extLst>
              <a:ext uri="{FF2B5EF4-FFF2-40B4-BE49-F238E27FC236}">
                <a16:creationId xmlns:a16="http://schemas.microsoft.com/office/drawing/2014/main" id="{882FF669-564A-4497-A386-BA8B28F256B8}"/>
              </a:ext>
            </a:extLst>
          </p:cNvPr>
          <p:cNvPicPr>
            <a:picLocks noChangeAspect="1"/>
          </p:cNvPicPr>
          <p:nvPr/>
        </p:nvPicPr>
        <p:blipFill>
          <a:blip r:embed="rId2">
            <a:extLst>
              <a:ext uri="{28A0092B-C50C-407E-A947-70E740481C1C}">
                <a14:useLocalDpi xmlns:a14="http://schemas.microsoft.com/office/drawing/2010/main" val="0"/>
              </a:ext>
            </a:extLst>
          </a:blip>
          <a:srcRect t="461" b="461"/>
          <a:stretch>
            <a:fillRect/>
          </a:stretch>
        </p:blipFill>
        <p:spPr>
          <a:xfrm>
            <a:off x="732124" y="1016000"/>
            <a:ext cx="10732517" cy="5256000"/>
          </a:xfrm>
          <a:prstGeom prst="rect">
            <a:avLst/>
          </a:prstGeom>
        </p:spPr>
      </p:pic>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599">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1839"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593" indent="0">
              <a:lnSpc>
                <a:spcPct val="100000"/>
              </a:lnSpc>
              <a:spcBef>
                <a:spcPts val="0"/>
              </a:spcBef>
              <a:buNone/>
              <a:defRPr>
                <a:solidFill>
                  <a:schemeClr val="bg1"/>
                </a:solidFill>
              </a:defRPr>
            </a:lvl2pPr>
            <a:lvl3pPr marL="537948" indent="0">
              <a:lnSpc>
                <a:spcPct val="100000"/>
              </a:lnSpc>
              <a:spcBef>
                <a:spcPts val="0"/>
              </a:spcBef>
              <a:buNone/>
              <a:defRPr>
                <a:solidFill>
                  <a:schemeClr val="bg1"/>
                </a:solidFill>
              </a:defRPr>
            </a:lvl3pPr>
            <a:lvl4pPr marL="804540" indent="0">
              <a:lnSpc>
                <a:spcPct val="100000"/>
              </a:lnSpc>
              <a:spcBef>
                <a:spcPts val="0"/>
              </a:spcBef>
              <a:buNone/>
              <a:defRPr>
                <a:solidFill>
                  <a:schemeClr val="bg1"/>
                </a:solidFill>
              </a:defRPr>
            </a:lvl4pPr>
            <a:lvl5pPr marL="1075894" indent="0">
              <a:lnSpc>
                <a:spcPct val="100000"/>
              </a:lnSpc>
              <a:spcBef>
                <a:spcPts val="0"/>
              </a:spcBef>
              <a:buNone/>
              <a:defRPr>
                <a:solidFill>
                  <a:schemeClr val="bg1"/>
                </a:solidFill>
              </a:defRPr>
            </a:lvl5pPr>
          </a:lstStyle>
          <a:p>
            <a:pPr lvl="0"/>
            <a:r>
              <a:rPr lang="en-US" noProof="0"/>
              <a:t>Click to edit Master text styles</a:t>
            </a:r>
          </a:p>
        </p:txBody>
      </p:sp>
      <p:pic>
        <p:nvPicPr>
          <p:cNvPr id="6" name="Picture 5">
            <a:extLst>
              <a:ext uri="{FF2B5EF4-FFF2-40B4-BE49-F238E27FC236}">
                <a16:creationId xmlns:a16="http://schemas.microsoft.com/office/drawing/2014/main" id="{FBD44BAA-4FF4-7D34-31D3-EC5AFD75CD2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633284" y="293219"/>
            <a:ext cx="831358" cy="539050"/>
          </a:xfrm>
          <a:prstGeom prst="rect">
            <a:avLst/>
          </a:prstGeom>
        </p:spPr>
      </p:pic>
    </p:spTree>
    <p:extLst>
      <p:ext uri="{BB962C8B-B14F-4D97-AF65-F5344CB8AC3E}">
        <p14:creationId xmlns:p14="http://schemas.microsoft.com/office/powerpoint/2010/main" val="3610126309"/>
      </p:ext>
    </p:extLst>
  </p:cSld>
  <p:clrMapOvr>
    <a:masterClrMapping/>
  </p:clrMapOvr>
  <p:hf hdr="0"/>
  <p:extLst>
    <p:ext uri="{DCECCB84-F9BA-43D5-87BE-67443E8EF086}">
      <p15:sldGuideLst xmlns:p15="http://schemas.microsoft.com/office/powerpoint/2012/main">
        <p15:guide id="2" pos="3840">
          <p15:clr>
            <a:srgbClr val="FBAE40"/>
          </p15:clr>
        </p15:guide>
        <p15:guide id="3" orient="horz" pos="640">
          <p15:clr>
            <a:srgbClr val="FBAE40"/>
          </p15:clr>
        </p15:guide>
        <p15:guide id="4" orient="horz" pos="3952">
          <p15:clr>
            <a:srgbClr val="FBAE40"/>
          </p15:clr>
        </p15:guide>
        <p15:guide id="5" pos="61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A0D38E-3C62-453D-B9B9-57CA80840D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D4301D0C-82FC-472A-A0B1-C92C49B5C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79EFD04-4A05-494A-BD9B-FF8AC1576B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AF672B-7813-4EFF-AC7A-57E3940D72D6}" type="datetimeFigureOut">
              <a:rPr lang="de-CH" smtClean="0"/>
              <a:t>17.04.2025</a:t>
            </a:fld>
            <a:endParaRPr lang="de-CH"/>
          </a:p>
        </p:txBody>
      </p:sp>
      <p:sp>
        <p:nvSpPr>
          <p:cNvPr id="5" name="Footer Placeholder 4">
            <a:extLst>
              <a:ext uri="{FF2B5EF4-FFF2-40B4-BE49-F238E27FC236}">
                <a16:creationId xmlns:a16="http://schemas.microsoft.com/office/drawing/2014/main" id="{1C177007-FCEC-4F13-AFF8-096136329A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17142697-0E9A-40B2-8EFD-E273C7F04E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390F2E-63BC-4CBB-8DD2-A62C86F4B334}" type="slidenum">
              <a:rPr lang="de-CH" smtClean="0"/>
              <a:t>‹#›</a:t>
            </a:fld>
            <a:endParaRPr lang="de-CH"/>
          </a:p>
        </p:txBody>
      </p:sp>
    </p:spTree>
    <p:extLst>
      <p:ext uri="{BB962C8B-B14F-4D97-AF65-F5344CB8AC3E}">
        <p14:creationId xmlns:p14="http://schemas.microsoft.com/office/powerpoint/2010/main" val="4217859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346F-81EA-4055-810E-535B22988608}"/>
              </a:ext>
            </a:extLst>
          </p:cNvPr>
          <p:cNvSpPr>
            <a:spLocks noGrp="1"/>
          </p:cNvSpPr>
          <p:nvPr>
            <p:ph type="ctrTitle"/>
          </p:nvPr>
        </p:nvSpPr>
        <p:spPr/>
        <p:txBody>
          <a:bodyPr/>
          <a:lstStyle/>
          <a:p>
            <a:r>
              <a:rPr lang="de-CH" dirty="0" err="1"/>
              <a:t>WuF</a:t>
            </a:r>
            <a:r>
              <a:rPr lang="de-CH" dirty="0"/>
              <a:t> Übung ML F36</a:t>
            </a:r>
            <a:br>
              <a:rPr lang="de-CH" dirty="0"/>
            </a:br>
            <a:r>
              <a:rPr lang="de-CH" dirty="0"/>
              <a:t>Woche 9</a:t>
            </a:r>
          </a:p>
        </p:txBody>
      </p:sp>
      <p:sp>
        <p:nvSpPr>
          <p:cNvPr id="3" name="Subtitle 2">
            <a:extLst>
              <a:ext uri="{FF2B5EF4-FFF2-40B4-BE49-F238E27FC236}">
                <a16:creationId xmlns:a16="http://schemas.microsoft.com/office/drawing/2014/main" id="{B8B17B0D-8EDB-4B99-AC8A-74AA7EA90256}"/>
              </a:ext>
            </a:extLst>
          </p:cNvPr>
          <p:cNvSpPr>
            <a:spLocks noGrp="1"/>
          </p:cNvSpPr>
          <p:nvPr>
            <p:ph type="subTitle" idx="1"/>
          </p:nvPr>
        </p:nvSpPr>
        <p:spPr/>
        <p:txBody>
          <a:bodyPr/>
          <a:lstStyle/>
          <a:p>
            <a:r>
              <a:rPr lang="de-CH" dirty="0"/>
              <a:t>Welcome :)</a:t>
            </a:r>
          </a:p>
          <a:p>
            <a:endParaRPr lang="de-CH" dirty="0"/>
          </a:p>
          <a:p>
            <a:r>
              <a:rPr lang="de-CH" dirty="0"/>
              <a:t>Lorenzo Schenk</a:t>
            </a:r>
          </a:p>
        </p:txBody>
      </p:sp>
    </p:spTree>
    <p:extLst>
      <p:ext uri="{BB962C8B-B14F-4D97-AF65-F5344CB8AC3E}">
        <p14:creationId xmlns:p14="http://schemas.microsoft.com/office/powerpoint/2010/main" val="2360225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2731-0E5B-4493-87FD-8D728BCB74F2}"/>
              </a:ext>
            </a:extLst>
          </p:cNvPr>
          <p:cNvSpPr>
            <a:spLocks noGrp="1"/>
          </p:cNvSpPr>
          <p:nvPr>
            <p:ph type="title"/>
          </p:nvPr>
        </p:nvSpPr>
        <p:spPr/>
        <p:txBody>
          <a:bodyPr/>
          <a:lstStyle/>
          <a:p>
            <a:r>
              <a:rPr lang="de-CH" dirty="0"/>
              <a:t>Theorie Überblick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FDCC9B1-E5C1-4678-B845-37E9053DF21A}"/>
                  </a:ext>
                </a:extLst>
              </p:cNvPr>
              <p:cNvSpPr>
                <a:spLocks noGrp="1"/>
              </p:cNvSpPr>
              <p:nvPr>
                <p:ph idx="1"/>
              </p:nvPr>
            </p:nvSpPr>
            <p:spPr/>
            <p:txBody>
              <a:bodyPr>
                <a:normAutofit lnSpcReduction="10000"/>
              </a:bodyPr>
              <a:lstStyle/>
              <a:p>
                <a:r>
                  <a:rPr lang="de-CH" dirty="0"/>
                  <a:t>Kap. 6: Ermüdung (</a:t>
                </a:r>
                <a:r>
                  <a:rPr lang="de-CH" dirty="0" err="1"/>
                  <a:t>cont’d</a:t>
                </a:r>
                <a:r>
                  <a:rPr lang="de-CH" dirty="0"/>
                  <a:t>)</a:t>
                </a:r>
              </a:p>
              <a:p>
                <a:pPr lvl="1"/>
                <a:r>
                  <a:rPr lang="de-CH" dirty="0"/>
                  <a:t>Modell Paris-Gleichung</a:t>
                </a:r>
              </a:p>
              <a:p>
                <a:pPr lvl="1"/>
                <a:r>
                  <a:rPr lang="de-CH" dirty="0"/>
                  <a:t>Ermüdungsfestigkeit einstellen (5)</a:t>
                </a:r>
              </a:p>
              <a:p>
                <a:pPr lvl="1"/>
                <a:r>
                  <a:rPr lang="de-CH" dirty="0"/>
                  <a:t>Designmöglichkeiten (3)</a:t>
                </a:r>
              </a:p>
              <a:p>
                <a:pPr lvl="1"/>
                <a:r>
                  <a:rPr lang="de-CH" dirty="0"/>
                  <a:t>Miner-Regel</a:t>
                </a:r>
              </a:p>
              <a:p>
                <a:r>
                  <a:rPr lang="de-CH" dirty="0"/>
                  <a:t>Kap. 7: Thermische Eigenschaften (5 + 1)</a:t>
                </a:r>
              </a:p>
              <a:p>
                <a:pPr lvl="1"/>
                <a:r>
                  <a:rPr lang="de-CH" dirty="0"/>
                  <a:t>Schmelztemperatur  </a:t>
                </a:r>
                <a14:m>
                  <m:oMath xmlns:m="http://schemas.openxmlformats.org/officeDocument/2006/math">
                    <m:r>
                      <a:rPr lang="de-CH" b="0" i="1" smtClean="0">
                        <a:latin typeface="Cambria Math" panose="02040503050406030204" pitchFamily="18" charset="0"/>
                      </a:rPr>
                      <m:t>𝑇</m:t>
                    </m:r>
                    <m:r>
                      <a:rPr lang="de-CH" b="0" i="1" baseline="-25000" smtClean="0">
                        <a:latin typeface="Cambria Math" panose="02040503050406030204" pitchFamily="18" charset="0"/>
                      </a:rPr>
                      <m:t>𝑚</m:t>
                    </m:r>
                  </m:oMath>
                </a14:m>
                <a:endParaRPr lang="de-CH" baseline="-25000" dirty="0">
                  <a:highlight>
                    <a:srgbClr val="FFFF00"/>
                  </a:highlight>
                </a:endParaRPr>
              </a:p>
              <a:p>
                <a:pPr lvl="1"/>
                <a:r>
                  <a:rPr lang="de-CH" dirty="0"/>
                  <a:t>Wärmekapazität   </a:t>
                </a:r>
                <a14:m>
                  <m:oMath xmlns:m="http://schemas.openxmlformats.org/officeDocument/2006/math">
                    <m:r>
                      <a:rPr lang="de-CH" b="0" i="1" smtClean="0">
                        <a:latin typeface="Cambria Math" panose="02040503050406030204" pitchFamily="18" charset="0"/>
                      </a:rPr>
                      <m:t>𝐶</m:t>
                    </m:r>
                  </m:oMath>
                </a14:m>
                <a:r>
                  <a:rPr lang="de-CH" dirty="0"/>
                  <a:t>  	</a:t>
                </a:r>
              </a:p>
              <a:p>
                <a:pPr lvl="1"/>
                <a:r>
                  <a:rPr lang="de-CH" dirty="0" err="1"/>
                  <a:t>Wärmeleitfahigkeit</a:t>
                </a:r>
                <a14:m>
                  <m:oMath xmlns:m="http://schemas.openxmlformats.org/officeDocument/2006/math">
                    <m:r>
                      <a:rPr lang="de-CH" b="0" i="0" smtClean="0">
                        <a:latin typeface="Cambria Math" panose="02040503050406030204" pitchFamily="18" charset="0"/>
                        <a:ea typeface="Cambria Math" panose="02040503050406030204" pitchFamily="18" charset="0"/>
                      </a:rPr>
                      <m:t> </m:t>
                    </m:r>
                    <m:r>
                      <a:rPr lang="de-CH" b="0" i="1" smtClean="0">
                        <a:latin typeface="Cambria Math" panose="02040503050406030204" pitchFamily="18" charset="0"/>
                        <a:ea typeface="Cambria Math" panose="02040503050406030204" pitchFamily="18" charset="0"/>
                      </a:rPr>
                      <m:t> </m:t>
                    </m:r>
                    <m:r>
                      <a:rPr lang="de-CH" i="1" smtClean="0">
                        <a:latin typeface="Cambria Math" panose="02040503050406030204" pitchFamily="18" charset="0"/>
                        <a:ea typeface="Cambria Math" panose="02040503050406030204" pitchFamily="18" charset="0"/>
                      </a:rPr>
                      <m:t>𝜆</m:t>
                    </m:r>
                  </m:oMath>
                </a14:m>
                <a:r>
                  <a:rPr lang="de-CH" dirty="0"/>
                  <a:t> 	</a:t>
                </a:r>
              </a:p>
              <a:p>
                <a:pPr lvl="1"/>
                <a:r>
                  <a:rPr lang="de-CH" dirty="0"/>
                  <a:t>Wärmeausdehnung </a:t>
                </a:r>
                <a14:m>
                  <m:oMath xmlns:m="http://schemas.openxmlformats.org/officeDocument/2006/math">
                    <m:r>
                      <a:rPr lang="de-CH" i="1" smtClean="0">
                        <a:latin typeface="Cambria Math" panose="02040503050406030204" pitchFamily="18" charset="0"/>
                        <a:ea typeface="Cambria Math" panose="02040503050406030204" pitchFamily="18" charset="0"/>
                      </a:rPr>
                      <m:t>𝜀</m:t>
                    </m:r>
                  </m:oMath>
                </a14:m>
                <a:endParaRPr lang="de-CH" dirty="0"/>
              </a:p>
              <a:p>
                <a:pPr lvl="1"/>
                <a:r>
                  <a:rPr lang="de-CH" dirty="0"/>
                  <a:t>Thermoschockempfindlichkeit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Δ</m:t>
                    </m:r>
                  </m:oMath>
                </a14:m>
                <a:r>
                  <a:rPr lang="de-CH" dirty="0"/>
                  <a:t>T </a:t>
                </a:r>
              </a:p>
              <a:p>
                <a:pPr lvl="1"/>
                <a:endParaRPr lang="de-CH" dirty="0"/>
              </a:p>
              <a:p>
                <a:pPr lvl="1"/>
                <a:endParaRPr lang="de-CH" dirty="0"/>
              </a:p>
              <a:p>
                <a:pPr lvl="2"/>
                <a:endParaRPr lang="de-CH" dirty="0"/>
              </a:p>
            </p:txBody>
          </p:sp>
        </mc:Choice>
        <mc:Fallback>
          <p:sp>
            <p:nvSpPr>
              <p:cNvPr id="3" name="Content Placeholder 2">
                <a:extLst>
                  <a:ext uri="{FF2B5EF4-FFF2-40B4-BE49-F238E27FC236}">
                    <a16:creationId xmlns:a16="http://schemas.microsoft.com/office/drawing/2014/main" id="{0FDCC9B1-E5C1-4678-B845-37E9053DF21A}"/>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de-CH">
                    <a:noFill/>
                  </a:rPr>
                  <a:t> </a:t>
                </a:r>
              </a:p>
            </p:txBody>
          </p:sp>
        </mc:Fallback>
      </mc:AlternateContent>
      <p:sp>
        <p:nvSpPr>
          <p:cNvPr id="4" name="TextBox 3">
            <a:extLst>
              <a:ext uri="{FF2B5EF4-FFF2-40B4-BE49-F238E27FC236}">
                <a16:creationId xmlns:a16="http://schemas.microsoft.com/office/drawing/2014/main" id="{E7B2E7A6-0C0C-4511-BC2E-17D507AF1867}"/>
              </a:ext>
            </a:extLst>
          </p:cNvPr>
          <p:cNvSpPr txBox="1"/>
          <p:nvPr/>
        </p:nvSpPr>
        <p:spPr>
          <a:xfrm>
            <a:off x="4745736" y="4258425"/>
            <a:ext cx="914400" cy="923330"/>
          </a:xfrm>
          <a:prstGeom prst="rect">
            <a:avLst/>
          </a:prstGeom>
          <a:noFill/>
        </p:spPr>
        <p:txBody>
          <a:bodyPr wrap="square" rtlCol="0">
            <a:spAutoFit/>
          </a:bodyPr>
          <a:lstStyle/>
          <a:p>
            <a:r>
              <a:rPr lang="de-CH" sz="5400" dirty="0"/>
              <a:t>}</a:t>
            </a:r>
            <a:endParaRPr lang="de-CH" sz="2400"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55DB8D0-7A2C-43F8-AD9D-D62D8CF40E58}"/>
                  </a:ext>
                </a:extLst>
              </p:cNvPr>
              <p:cNvSpPr txBox="1"/>
              <p:nvPr/>
            </p:nvSpPr>
            <p:spPr>
              <a:xfrm>
                <a:off x="5202936" y="4562856"/>
                <a:ext cx="2907792" cy="369332"/>
              </a:xfrm>
              <a:prstGeom prst="rect">
                <a:avLst/>
              </a:prstGeom>
              <a:noFill/>
            </p:spPr>
            <p:txBody>
              <a:bodyPr wrap="square" rtlCol="0">
                <a:spAutoFit/>
              </a:bodyPr>
              <a:lstStyle/>
              <a:p>
                <a:r>
                  <a:rPr lang="de-CH" dirty="0"/>
                  <a:t>Temperaturleitfähigkeit </a:t>
                </a:r>
                <a14:m>
                  <m:oMath xmlns:m="http://schemas.openxmlformats.org/officeDocument/2006/math">
                    <m:r>
                      <a:rPr lang="de-CH" b="0" i="1" smtClean="0">
                        <a:latin typeface="Cambria Math" panose="02040503050406030204" pitchFamily="18" charset="0"/>
                      </a:rPr>
                      <m:t>𝑎</m:t>
                    </m:r>
                  </m:oMath>
                </a14:m>
                <a:endParaRPr lang="de-CH" dirty="0"/>
              </a:p>
            </p:txBody>
          </p:sp>
        </mc:Choice>
        <mc:Fallback>
          <p:sp>
            <p:nvSpPr>
              <p:cNvPr id="5" name="TextBox 4">
                <a:extLst>
                  <a:ext uri="{FF2B5EF4-FFF2-40B4-BE49-F238E27FC236}">
                    <a16:creationId xmlns:a16="http://schemas.microsoft.com/office/drawing/2014/main" id="{355DB8D0-7A2C-43F8-AD9D-D62D8CF40E58}"/>
                  </a:ext>
                </a:extLst>
              </p:cNvPr>
              <p:cNvSpPr txBox="1">
                <a:spLocks noRot="1" noChangeAspect="1" noMove="1" noResize="1" noEditPoints="1" noAdjustHandles="1" noChangeArrowheads="1" noChangeShapeType="1" noTextEdit="1"/>
              </p:cNvSpPr>
              <p:nvPr/>
            </p:nvSpPr>
            <p:spPr>
              <a:xfrm>
                <a:off x="5202936" y="4562856"/>
                <a:ext cx="2907792" cy="369332"/>
              </a:xfrm>
              <a:prstGeom prst="rect">
                <a:avLst/>
              </a:prstGeom>
              <a:blipFill>
                <a:blip r:embed="rId3"/>
                <a:stretch>
                  <a:fillRect l="-1887" t="-10000" b="-25000"/>
                </a:stretch>
              </a:blipFill>
            </p:spPr>
            <p:txBody>
              <a:bodyPr/>
              <a:lstStyle/>
              <a:p>
                <a:r>
                  <a:rPr lang="de-CH">
                    <a:noFill/>
                  </a:rPr>
                  <a:t> </a:t>
                </a:r>
              </a:p>
            </p:txBody>
          </p:sp>
        </mc:Fallback>
      </mc:AlternateContent>
    </p:spTree>
    <p:extLst>
      <p:ext uri="{BB962C8B-B14F-4D97-AF65-F5344CB8AC3E}">
        <p14:creationId xmlns:p14="http://schemas.microsoft.com/office/powerpoint/2010/main" val="3333356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FC087-0E38-4589-A8DF-440C36FC277E}"/>
              </a:ext>
            </a:extLst>
          </p:cNvPr>
          <p:cNvSpPr>
            <a:spLocks noGrp="1"/>
          </p:cNvSpPr>
          <p:nvPr>
            <p:ph type="title"/>
          </p:nvPr>
        </p:nvSpPr>
        <p:spPr/>
        <p:txBody>
          <a:bodyPr/>
          <a:lstStyle/>
          <a:p>
            <a:r>
              <a:rPr lang="de-CH" dirty="0"/>
              <a:t>Kap. 6 Ermüdung (</a:t>
            </a:r>
            <a:r>
              <a:rPr lang="de-CH" dirty="0" err="1"/>
              <a:t>cont’d</a:t>
            </a:r>
            <a:r>
              <a:rPr lang="de-CH" dirty="0"/>
              <a:t>)</a:t>
            </a:r>
          </a:p>
        </p:txBody>
      </p:sp>
      <p:sp>
        <p:nvSpPr>
          <p:cNvPr id="3" name="Content Placeholder 2">
            <a:extLst>
              <a:ext uri="{FF2B5EF4-FFF2-40B4-BE49-F238E27FC236}">
                <a16:creationId xmlns:a16="http://schemas.microsoft.com/office/drawing/2014/main" id="{9C5D66E8-DD01-4E43-A5AB-527257440AAB}"/>
              </a:ext>
            </a:extLst>
          </p:cNvPr>
          <p:cNvSpPr>
            <a:spLocks noGrp="1"/>
          </p:cNvSpPr>
          <p:nvPr>
            <p:ph idx="1"/>
          </p:nvPr>
        </p:nvSpPr>
        <p:spPr/>
        <p:txBody>
          <a:bodyPr>
            <a:normAutofit fontScale="92500" lnSpcReduction="20000"/>
          </a:bodyPr>
          <a:lstStyle/>
          <a:p>
            <a:r>
              <a:rPr lang="de-CH" dirty="0"/>
              <a:t>Paris-Gleichung: drei Phasen</a:t>
            </a:r>
          </a:p>
          <a:p>
            <a:r>
              <a:rPr lang="de-CH" dirty="0"/>
              <a:t>Ermüdungsfestigkeit einstellen (5)</a:t>
            </a:r>
          </a:p>
          <a:p>
            <a:pPr lvl="1"/>
            <a:r>
              <a:rPr lang="de-CH" dirty="0"/>
              <a:t>Oberflächenbeschaffenheit</a:t>
            </a:r>
          </a:p>
          <a:p>
            <a:pPr lvl="1"/>
            <a:r>
              <a:rPr lang="de-CH" dirty="0"/>
              <a:t>Bauteilgrösse</a:t>
            </a:r>
          </a:p>
          <a:p>
            <a:pPr lvl="1"/>
            <a:r>
              <a:rPr lang="de-CH" dirty="0"/>
              <a:t>Mittelspannung</a:t>
            </a:r>
          </a:p>
          <a:p>
            <a:pPr lvl="1"/>
            <a:r>
              <a:rPr lang="de-CH" dirty="0"/>
              <a:t>Kerbwirkung</a:t>
            </a:r>
          </a:p>
          <a:p>
            <a:pPr lvl="1"/>
            <a:r>
              <a:rPr lang="de-CH" dirty="0"/>
              <a:t>Umgebungsmedium/Korrosion</a:t>
            </a:r>
          </a:p>
          <a:p>
            <a:r>
              <a:rPr lang="de-CH" dirty="0"/>
              <a:t>Designmöglichkeiten (3)</a:t>
            </a:r>
          </a:p>
          <a:p>
            <a:pPr lvl="1"/>
            <a:r>
              <a:rPr lang="de-CH" dirty="0"/>
              <a:t>Safe-Life</a:t>
            </a:r>
          </a:p>
          <a:p>
            <a:pPr lvl="1"/>
            <a:r>
              <a:rPr lang="de-CH" dirty="0"/>
              <a:t>Fail-Safe</a:t>
            </a:r>
          </a:p>
          <a:p>
            <a:pPr lvl="1"/>
            <a:r>
              <a:rPr lang="de-CH" dirty="0"/>
              <a:t>Damage Tolerant</a:t>
            </a:r>
          </a:p>
          <a:p>
            <a:r>
              <a:rPr lang="de-CH" dirty="0"/>
              <a:t>Miner-Regel</a:t>
            </a:r>
          </a:p>
          <a:p>
            <a:pPr marL="457200" lvl="1" indent="0">
              <a:buNone/>
            </a:pPr>
            <a:endParaRPr lang="de-CH" dirty="0"/>
          </a:p>
        </p:txBody>
      </p:sp>
      <p:pic>
        <p:nvPicPr>
          <p:cNvPr id="5" name="Picture 4">
            <a:extLst>
              <a:ext uri="{FF2B5EF4-FFF2-40B4-BE49-F238E27FC236}">
                <a16:creationId xmlns:a16="http://schemas.microsoft.com/office/drawing/2014/main" id="{FFF08A2D-253F-4C73-9775-4664D0A87BFE}"/>
              </a:ext>
            </a:extLst>
          </p:cNvPr>
          <p:cNvPicPr>
            <a:picLocks noChangeAspect="1"/>
          </p:cNvPicPr>
          <p:nvPr/>
        </p:nvPicPr>
        <p:blipFill>
          <a:blip r:embed="rId2"/>
          <a:stretch>
            <a:fillRect/>
          </a:stretch>
        </p:blipFill>
        <p:spPr>
          <a:xfrm>
            <a:off x="8103373" y="312909"/>
            <a:ext cx="2953162" cy="2972215"/>
          </a:xfrm>
          <a:prstGeom prst="rect">
            <a:avLst/>
          </a:prstGeom>
        </p:spPr>
      </p:pic>
      <p:pic>
        <p:nvPicPr>
          <p:cNvPr id="9" name="Picture 8">
            <a:extLst>
              <a:ext uri="{FF2B5EF4-FFF2-40B4-BE49-F238E27FC236}">
                <a16:creationId xmlns:a16="http://schemas.microsoft.com/office/drawing/2014/main" id="{0F377BB9-EF3E-406B-A0F0-7767B2EAA38B}"/>
              </a:ext>
            </a:extLst>
          </p:cNvPr>
          <p:cNvPicPr>
            <a:picLocks noChangeAspect="1"/>
          </p:cNvPicPr>
          <p:nvPr/>
        </p:nvPicPr>
        <p:blipFill>
          <a:blip r:embed="rId3"/>
          <a:stretch>
            <a:fillRect/>
          </a:stretch>
        </p:blipFill>
        <p:spPr>
          <a:xfrm>
            <a:off x="7329276" y="3613737"/>
            <a:ext cx="3727259" cy="2563226"/>
          </a:xfrm>
          <a:prstGeom prst="rect">
            <a:avLst/>
          </a:prstGeom>
        </p:spPr>
      </p:pic>
    </p:spTree>
    <p:extLst>
      <p:ext uri="{BB962C8B-B14F-4D97-AF65-F5344CB8AC3E}">
        <p14:creationId xmlns:p14="http://schemas.microsoft.com/office/powerpoint/2010/main" val="423902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4B56-0121-4C67-9C19-A284B59919E2}"/>
              </a:ext>
            </a:extLst>
          </p:cNvPr>
          <p:cNvSpPr>
            <a:spLocks noGrp="1"/>
          </p:cNvSpPr>
          <p:nvPr>
            <p:ph type="title"/>
          </p:nvPr>
        </p:nvSpPr>
        <p:spPr/>
        <p:txBody>
          <a:bodyPr/>
          <a:lstStyle/>
          <a:p>
            <a:r>
              <a:rPr lang="de-CH" dirty="0"/>
              <a:t>Kap. 7: Thermische Eigenschaften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1CFB2A-EB16-4518-8E8F-ECEB48180025}"/>
                  </a:ext>
                </a:extLst>
              </p:cNvPr>
              <p:cNvSpPr>
                <a:spLocks noGrp="1"/>
              </p:cNvSpPr>
              <p:nvPr>
                <p:ph idx="1"/>
              </p:nvPr>
            </p:nvSpPr>
            <p:spPr/>
            <p:txBody>
              <a:bodyPr/>
              <a:lstStyle/>
              <a:p>
                <a:r>
                  <a:rPr lang="de-CH" dirty="0"/>
                  <a:t>Schmelztemperatur  </a:t>
                </a:r>
                <a14:m>
                  <m:oMath xmlns:m="http://schemas.openxmlformats.org/officeDocument/2006/math">
                    <m:r>
                      <a:rPr lang="de-CH" b="0" i="1" smtClean="0">
                        <a:latin typeface="Cambria Math" panose="02040503050406030204" pitchFamily="18" charset="0"/>
                      </a:rPr>
                      <m:t>𝑇</m:t>
                    </m:r>
                    <m:r>
                      <a:rPr lang="de-CH" b="0" i="1" baseline="-25000" smtClean="0">
                        <a:latin typeface="Cambria Math" panose="02040503050406030204" pitchFamily="18" charset="0"/>
                      </a:rPr>
                      <m:t>𝑚</m:t>
                    </m:r>
                  </m:oMath>
                </a14:m>
                <a:endParaRPr lang="de-CH" baseline="-25000" dirty="0">
                  <a:highlight>
                    <a:srgbClr val="FFFF00"/>
                  </a:highlight>
                </a:endParaRPr>
              </a:p>
              <a:p>
                <a:r>
                  <a:rPr lang="de-CH" dirty="0"/>
                  <a:t>Wärmekapazität   </a:t>
                </a:r>
                <a14:m>
                  <m:oMath xmlns:m="http://schemas.openxmlformats.org/officeDocument/2006/math">
                    <m:r>
                      <a:rPr lang="de-CH" b="0" i="1" smtClean="0">
                        <a:latin typeface="Cambria Math" panose="02040503050406030204" pitchFamily="18" charset="0"/>
                      </a:rPr>
                      <m:t>𝐶</m:t>
                    </m:r>
                  </m:oMath>
                </a14:m>
                <a:r>
                  <a:rPr lang="de-CH" dirty="0"/>
                  <a:t>  	</a:t>
                </a:r>
              </a:p>
              <a:p>
                <a:r>
                  <a:rPr lang="de-CH" dirty="0" err="1"/>
                  <a:t>Wärmeleitfahigkeit</a:t>
                </a:r>
                <a14:m>
                  <m:oMath xmlns:m="http://schemas.openxmlformats.org/officeDocument/2006/math">
                    <m:r>
                      <a:rPr lang="de-CH" b="0" i="0" smtClean="0">
                        <a:latin typeface="Cambria Math" panose="02040503050406030204" pitchFamily="18" charset="0"/>
                        <a:ea typeface="Cambria Math" panose="02040503050406030204" pitchFamily="18" charset="0"/>
                      </a:rPr>
                      <m:t> </m:t>
                    </m:r>
                    <m:r>
                      <a:rPr lang="de-CH" b="0" i="1" smtClean="0">
                        <a:latin typeface="Cambria Math" panose="02040503050406030204" pitchFamily="18" charset="0"/>
                        <a:ea typeface="Cambria Math" panose="02040503050406030204" pitchFamily="18" charset="0"/>
                      </a:rPr>
                      <m:t> </m:t>
                    </m:r>
                    <m:r>
                      <a:rPr lang="de-CH" i="1" smtClean="0">
                        <a:latin typeface="Cambria Math" panose="02040503050406030204" pitchFamily="18" charset="0"/>
                        <a:ea typeface="Cambria Math" panose="02040503050406030204" pitchFamily="18" charset="0"/>
                      </a:rPr>
                      <m:t>𝜆</m:t>
                    </m:r>
                  </m:oMath>
                </a14:m>
                <a:r>
                  <a:rPr lang="de-CH" dirty="0"/>
                  <a:t> 	</a:t>
                </a:r>
              </a:p>
              <a:p>
                <a:r>
                  <a:rPr lang="de-CH" dirty="0"/>
                  <a:t>Temperaturleitfähigkeit </a:t>
                </a:r>
                <a14:m>
                  <m:oMath xmlns:m="http://schemas.openxmlformats.org/officeDocument/2006/math">
                    <m:r>
                      <a:rPr lang="de-CH" b="0" i="1" smtClean="0">
                        <a:latin typeface="Cambria Math" panose="02040503050406030204" pitchFamily="18" charset="0"/>
                      </a:rPr>
                      <m:t>𝑎</m:t>
                    </m:r>
                  </m:oMath>
                </a14:m>
                <a:endParaRPr lang="de-CH" dirty="0"/>
              </a:p>
              <a:p>
                <a:r>
                  <a:rPr lang="de-CH" dirty="0"/>
                  <a:t>Wärmeausdehnung </a:t>
                </a:r>
                <a14:m>
                  <m:oMath xmlns:m="http://schemas.openxmlformats.org/officeDocument/2006/math">
                    <m:r>
                      <a:rPr lang="de-CH" i="1" smtClean="0">
                        <a:latin typeface="Cambria Math" panose="02040503050406030204" pitchFamily="18" charset="0"/>
                        <a:ea typeface="Cambria Math" panose="02040503050406030204" pitchFamily="18" charset="0"/>
                      </a:rPr>
                      <m:t>𝜀</m:t>
                    </m:r>
                  </m:oMath>
                </a14:m>
                <a:endParaRPr lang="de-CH" dirty="0"/>
              </a:p>
              <a:p>
                <a:r>
                  <a:rPr lang="de-CH" dirty="0"/>
                  <a:t>Thermoschockempfindlichkeit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Δ</m:t>
                    </m:r>
                  </m:oMath>
                </a14:m>
                <a:r>
                  <a:rPr lang="de-CH" dirty="0"/>
                  <a:t>T </a:t>
                </a:r>
              </a:p>
              <a:p>
                <a:endParaRPr lang="de-CH" dirty="0"/>
              </a:p>
              <a:p>
                <a:pPr marL="0" indent="0">
                  <a:buNone/>
                </a:pPr>
                <a:endParaRPr lang="de-CH" dirty="0"/>
              </a:p>
            </p:txBody>
          </p:sp>
        </mc:Choice>
        <mc:Fallback>
          <p:sp>
            <p:nvSpPr>
              <p:cNvPr id="3" name="Content Placeholder 2">
                <a:extLst>
                  <a:ext uri="{FF2B5EF4-FFF2-40B4-BE49-F238E27FC236}">
                    <a16:creationId xmlns:a16="http://schemas.microsoft.com/office/drawing/2014/main" id="{E51CFB2A-EB16-4518-8E8F-ECEB4818002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de-CH">
                    <a:noFill/>
                  </a:rPr>
                  <a:t> </a:t>
                </a:r>
              </a:p>
            </p:txBody>
          </p:sp>
        </mc:Fallback>
      </mc:AlternateContent>
      <p:pic>
        <p:nvPicPr>
          <p:cNvPr id="5" name="Picture 4">
            <a:extLst>
              <a:ext uri="{FF2B5EF4-FFF2-40B4-BE49-F238E27FC236}">
                <a16:creationId xmlns:a16="http://schemas.microsoft.com/office/drawing/2014/main" id="{DB45A4C9-8DCD-46B7-A792-9BAE13711710}"/>
              </a:ext>
            </a:extLst>
          </p:cNvPr>
          <p:cNvPicPr>
            <a:picLocks noChangeAspect="1"/>
          </p:cNvPicPr>
          <p:nvPr/>
        </p:nvPicPr>
        <p:blipFill>
          <a:blip r:embed="rId3"/>
          <a:stretch>
            <a:fillRect/>
          </a:stretch>
        </p:blipFill>
        <p:spPr>
          <a:xfrm>
            <a:off x="6400800" y="1825625"/>
            <a:ext cx="5515745" cy="3057952"/>
          </a:xfrm>
          <a:prstGeom prst="rect">
            <a:avLst/>
          </a:prstGeom>
        </p:spPr>
      </p:pic>
    </p:spTree>
    <p:extLst>
      <p:ext uri="{BB962C8B-B14F-4D97-AF65-F5344CB8AC3E}">
        <p14:creationId xmlns:p14="http://schemas.microsoft.com/office/powerpoint/2010/main" val="3165399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0A67-F087-9740-60F1-BAD830DC117D}"/>
              </a:ext>
            </a:extLst>
          </p:cNvPr>
          <p:cNvSpPr>
            <a:spLocks noGrp="1"/>
          </p:cNvSpPr>
          <p:nvPr>
            <p:ph type="ctrTitle"/>
          </p:nvPr>
        </p:nvSpPr>
        <p:spPr/>
        <p:txBody>
          <a:bodyPr/>
          <a:lstStyle/>
          <a:p>
            <a:r>
              <a:rPr lang="en-GB"/>
              <a:t>03-4: </a:t>
            </a:r>
            <a:r>
              <a:rPr lang="en-GB" err="1"/>
              <a:t>Ermüdung</a:t>
            </a:r>
            <a:endParaRPr lang="en-GB"/>
          </a:p>
        </p:txBody>
      </p:sp>
      <p:sp>
        <p:nvSpPr>
          <p:cNvPr id="3" name="Picture Placeholder 2">
            <a:extLst>
              <a:ext uri="{FF2B5EF4-FFF2-40B4-BE49-F238E27FC236}">
                <a16:creationId xmlns:a16="http://schemas.microsoft.com/office/drawing/2014/main" id="{BFA30C91-646C-3AB7-B415-EFEC884F4A20}"/>
              </a:ext>
            </a:extLst>
          </p:cNvPr>
          <p:cNvSpPr>
            <a:spLocks noGrp="1"/>
          </p:cNvSpPr>
          <p:nvPr>
            <p:ph type="pic" sz="quarter" idx="12"/>
          </p:nvPr>
        </p:nvSpPr>
        <p:spPr/>
        <p:txBody>
          <a:bodyPr>
            <a:normAutofit lnSpcReduction="10000"/>
          </a:bodyPr>
          <a:lstStyle/>
          <a:p>
            <a:endParaRPr lang="en-GB"/>
          </a:p>
        </p:txBody>
      </p:sp>
      <p:sp>
        <p:nvSpPr>
          <p:cNvPr id="4" name="Text Placeholder 3">
            <a:extLst>
              <a:ext uri="{FF2B5EF4-FFF2-40B4-BE49-F238E27FC236}">
                <a16:creationId xmlns:a16="http://schemas.microsoft.com/office/drawing/2014/main" id="{74A00EDF-FBCD-2923-5D7A-DF26126F2B76}"/>
              </a:ext>
            </a:extLst>
          </p:cNvPr>
          <p:cNvSpPr>
            <a:spLocks noGrp="1"/>
          </p:cNvSpPr>
          <p:nvPr>
            <p:ph type="body" sz="quarter" idx="13"/>
          </p:nvPr>
        </p:nvSpPr>
        <p:spPr/>
        <p:txBody>
          <a:bodyPr vert="horz" lIns="0" tIns="0" rIns="0" bIns="0" rtlCol="0" anchor="t">
            <a:noAutofit/>
          </a:bodyPr>
          <a:lstStyle/>
          <a:p>
            <a:r>
              <a:rPr lang="en-GB" sz="1750"/>
              <a:t>11.04.2024</a:t>
            </a:r>
            <a:endParaRPr lang="en-GB"/>
          </a:p>
        </p:txBody>
      </p:sp>
    </p:spTree>
    <p:extLst>
      <p:ext uri="{BB962C8B-B14F-4D97-AF65-F5344CB8AC3E}">
        <p14:creationId xmlns:p14="http://schemas.microsoft.com/office/powerpoint/2010/main" val="15937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342F-F72F-E26A-6C30-57003D3933C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8CD6DBE-4FD3-01C1-0E94-48EB52C65E32}"/>
              </a:ext>
            </a:extLst>
          </p:cNvPr>
          <p:cNvSpPr>
            <a:spLocks noGrp="1"/>
          </p:cNvSpPr>
          <p:nvPr>
            <p:ph type="title"/>
          </p:nvPr>
        </p:nvSpPr>
        <p:spPr/>
        <p:txBody>
          <a:bodyPr/>
          <a:lstStyle/>
          <a:p>
            <a:r>
              <a:rPr lang="en-GB" sz="2550" err="1"/>
              <a:t>Lernziele</a:t>
            </a:r>
            <a:r>
              <a:rPr lang="en-GB" sz="2550"/>
              <a:t>:</a:t>
            </a:r>
            <a:endParaRPr lang="en-GB"/>
          </a:p>
        </p:txBody>
      </p:sp>
      <p:grpSp>
        <p:nvGrpSpPr>
          <p:cNvPr id="2" name="Gliederungspunkt_1">
            <a:extLst>
              <a:ext uri="{FF2B5EF4-FFF2-40B4-BE49-F238E27FC236}">
                <a16:creationId xmlns:a16="http://schemas.microsoft.com/office/drawing/2014/main" id="{59E61F7B-36D9-D80A-04AC-D3D7D508CF3B}"/>
              </a:ext>
            </a:extLst>
          </p:cNvPr>
          <p:cNvGrpSpPr>
            <a:grpSpLocks/>
          </p:cNvGrpSpPr>
          <p:nvPr/>
        </p:nvGrpSpPr>
        <p:grpSpPr bwMode="auto">
          <a:xfrm>
            <a:off x="734218" y="932181"/>
            <a:ext cx="10191750" cy="647699"/>
            <a:chOff x="136" y="565"/>
            <a:chExt cx="6955" cy="408"/>
          </a:xfrm>
        </p:grpSpPr>
        <p:sp>
          <p:nvSpPr>
            <p:cNvPr id="3" name="Text 1">
              <a:extLst>
                <a:ext uri="{FF2B5EF4-FFF2-40B4-BE49-F238E27FC236}">
                  <a16:creationId xmlns:a16="http://schemas.microsoft.com/office/drawing/2014/main" id="{14E70E7C-0132-BC2A-FDA3-636C882663B1}"/>
                </a:ext>
              </a:extLst>
            </p:cNvPr>
            <p:cNvSpPr txBox="1">
              <a:spLocks noChangeArrowheads="1"/>
            </p:cNvSpPr>
            <p:nvPr/>
          </p:nvSpPr>
          <p:spPr bwMode="auto">
            <a:xfrm>
              <a:off x="136" y="565"/>
              <a:ext cx="6955" cy="408"/>
            </a:xfrm>
            <a:prstGeom prst="rect">
              <a:avLst/>
            </a:prstGeom>
            <a:noFill/>
            <a:ln>
              <a:noFill/>
            </a:ln>
            <a:extLst>
              <a:ext uri="{91240B29-F687-4F45-9708-019B960494DF}">
                <a14:hiddenLine xmlns:a14="http://schemas.microsoft.com/office/drawing/2010/main" w="10795">
                  <a:solidFill>
                    <a:srgbClr val="000000"/>
                  </a:solidFill>
                  <a:miter lim="800000"/>
                  <a:headEnd/>
                  <a:tailEnd/>
                </a14:hiddenLine>
              </a:ext>
            </a:extLst>
          </p:spPr>
          <p:txBody>
            <a:bodyPr wrap="square" lIns="635000" tIns="35983" rIns="0" bIns="45720" anchor="ctr"/>
            <a:lstStyle>
              <a:defPPr>
                <a:defRPr lang="de-DE"/>
              </a:defPPr>
              <a:lvl1pPr>
                <a:defRPr b="1">
                  <a:solidFill>
                    <a:srgbClr val="000000"/>
                  </a:solidFill>
                  <a:latin typeface="Arial" charset="0"/>
                </a:defRPr>
              </a:lvl1pPr>
              <a:lvl2pPr marL="742950" indent="-285750">
                <a:defRPr sz="2400">
                  <a:latin typeface="Arial" charset="0"/>
                </a:defRPr>
              </a:lvl2pPr>
              <a:lvl3pPr marL="1143000" indent="-228600">
                <a:defRPr sz="2400">
                  <a:latin typeface="Arial" charset="0"/>
                </a:defRPr>
              </a:lvl3pPr>
              <a:lvl4pPr marL="1600200" indent="-228600">
                <a:defRPr sz="2400">
                  <a:latin typeface="Arial" charset="0"/>
                </a:defRPr>
              </a:lvl4pPr>
              <a:lvl5pPr marL="2057400" indent="-228600">
                <a:defRPr sz="2400">
                  <a:latin typeface="Arial" charset="0"/>
                </a:defRPr>
              </a:lvl5pPr>
              <a:lvl6pPr marL="2514600" indent="-228600" eaLnBrk="0" fontAlgn="base" hangingPunct="0">
                <a:spcBef>
                  <a:spcPct val="50000"/>
                </a:spcBef>
                <a:spcAft>
                  <a:spcPct val="0"/>
                </a:spcAft>
                <a:defRPr sz="2400">
                  <a:latin typeface="Arial" charset="0"/>
                </a:defRPr>
              </a:lvl6pPr>
              <a:lvl7pPr marL="2971800" indent="-228600" eaLnBrk="0" fontAlgn="base" hangingPunct="0">
                <a:spcBef>
                  <a:spcPct val="50000"/>
                </a:spcBef>
                <a:spcAft>
                  <a:spcPct val="0"/>
                </a:spcAft>
                <a:defRPr sz="2400">
                  <a:latin typeface="Arial" charset="0"/>
                </a:defRPr>
              </a:lvl7pPr>
              <a:lvl8pPr marL="3429000" indent="-228600" eaLnBrk="0" fontAlgn="base" hangingPunct="0">
                <a:spcBef>
                  <a:spcPct val="50000"/>
                </a:spcBef>
                <a:spcAft>
                  <a:spcPct val="0"/>
                </a:spcAft>
                <a:defRPr sz="2400">
                  <a:latin typeface="Arial" charset="0"/>
                </a:defRPr>
              </a:lvl8pPr>
              <a:lvl9pPr marL="3886200" indent="-228600" eaLnBrk="0" fontAlgn="base" hangingPunct="0">
                <a:spcBef>
                  <a:spcPct val="50000"/>
                </a:spcBef>
                <a:spcAft>
                  <a:spcPct val="0"/>
                </a:spcAft>
                <a:defRPr sz="2400">
                  <a:latin typeface="Arial" charset="0"/>
                </a:defRPr>
              </a:lvl9pPr>
            </a:lstStyle>
            <a:p>
              <a:pPr marL="264795"/>
              <a:r>
                <a:rPr lang="de-CH">
                  <a:latin typeface="Arial" panose="020B0604020202020204" pitchFamily="34" charset="0"/>
                </a:rPr>
                <a:t>Ermüdung</a:t>
              </a:r>
              <a:endParaRPr lang="en">
                <a:cs typeface="Arial"/>
              </a:endParaRPr>
            </a:p>
            <a:p>
              <a:pPr marL="264795"/>
              <a:r>
                <a:rPr lang="en" sz="1600" b="0">
                  <a:cs typeface="Arial"/>
                </a:rPr>
                <a:t>Die Grundlagen von Ermüdung kennen, erstellen und anwenden der Wöhlerkurve (S-N Kurve)</a:t>
              </a:r>
              <a:endParaRPr lang="en-US" sz="1600"/>
            </a:p>
          </p:txBody>
        </p:sp>
        <p:sp>
          <p:nvSpPr>
            <p:cNvPr id="4" name="Punkt 1">
              <a:extLst>
                <a:ext uri="{FF2B5EF4-FFF2-40B4-BE49-F238E27FC236}">
                  <a16:creationId xmlns:a16="http://schemas.microsoft.com/office/drawing/2014/main" id="{AB5348C6-B4A7-B197-5ABC-0CFCE46BB717}"/>
                </a:ext>
              </a:extLst>
            </p:cNvPr>
            <p:cNvSpPr>
              <a:spLocks noChangeArrowheads="1"/>
            </p:cNvSpPr>
            <p:nvPr/>
          </p:nvSpPr>
          <p:spPr bwMode="auto">
            <a:xfrm>
              <a:off x="136" y="565"/>
              <a:ext cx="418" cy="408"/>
            </a:xfrm>
            <a:prstGeom prst="rect">
              <a:avLst/>
            </a:prstGeom>
            <a:solidFill>
              <a:srgbClr val="006DB6">
                <a:alpha val="50195"/>
              </a:srgbClr>
            </a:solidFill>
            <a:ln>
              <a:noFill/>
            </a:ln>
            <a:extLst>
              <a:ext uri="{91240B29-F687-4F45-9708-019B960494DF}">
                <a14:hiddenLine xmlns:a14="http://schemas.microsoft.com/office/drawing/2010/main" w="10795">
                  <a:solidFill>
                    <a:srgbClr val="000000"/>
                  </a:solidFill>
                  <a:miter lim="800000"/>
                  <a:headEnd/>
                  <a:tailEnd/>
                </a14:hiddenLine>
              </a:ext>
            </a:extLst>
          </p:spPr>
          <p:txBody>
            <a:bodyPr wrap="none" anchor="ctr">
              <a:noAutofit/>
            </a:bodyPr>
            <a:lstStyle/>
            <a:p>
              <a:pPr algn="ctr"/>
              <a:r>
                <a:rPr lang="de-DE" b="1">
                  <a:solidFill>
                    <a:srgbClr val="FFFFFF"/>
                  </a:solidFill>
                  <a:latin typeface="Arial" charset="0"/>
                </a:rPr>
                <a:t>L.1</a:t>
              </a:r>
            </a:p>
          </p:txBody>
        </p:sp>
      </p:grpSp>
      <p:grpSp>
        <p:nvGrpSpPr>
          <p:cNvPr id="16" name="Group 15">
            <a:extLst>
              <a:ext uri="{FF2B5EF4-FFF2-40B4-BE49-F238E27FC236}">
                <a16:creationId xmlns:a16="http://schemas.microsoft.com/office/drawing/2014/main" id="{BDB55247-232E-0196-DA49-143ABD41DE11}"/>
              </a:ext>
            </a:extLst>
          </p:cNvPr>
          <p:cNvGrpSpPr/>
          <p:nvPr/>
        </p:nvGrpSpPr>
        <p:grpSpPr>
          <a:xfrm>
            <a:off x="734218" y="3867948"/>
            <a:ext cx="10191750" cy="647699"/>
            <a:chOff x="731837" y="3658256"/>
            <a:chExt cx="10191750" cy="647699"/>
          </a:xfrm>
        </p:grpSpPr>
        <p:sp>
          <p:nvSpPr>
            <p:cNvPr id="9" name="Text 1">
              <a:extLst>
                <a:ext uri="{FF2B5EF4-FFF2-40B4-BE49-F238E27FC236}">
                  <a16:creationId xmlns:a16="http://schemas.microsoft.com/office/drawing/2014/main" id="{4991B9AE-F5CD-3595-BB38-D5DFEEB0D2BD}"/>
                </a:ext>
              </a:extLst>
            </p:cNvPr>
            <p:cNvSpPr txBox="1">
              <a:spLocks noChangeArrowheads="1"/>
            </p:cNvSpPr>
            <p:nvPr/>
          </p:nvSpPr>
          <p:spPr bwMode="auto">
            <a:xfrm>
              <a:off x="731837" y="3658256"/>
              <a:ext cx="10191750" cy="647699"/>
            </a:xfrm>
            <a:prstGeom prst="rect">
              <a:avLst/>
            </a:prstGeom>
            <a:solidFill>
              <a:schemeClr val="bg2"/>
            </a:solidFill>
            <a:ln>
              <a:noFill/>
            </a:ln>
          </p:spPr>
          <p:txBody>
            <a:bodyPr wrap="square" lIns="635000" tIns="35983" rIns="0" bIns="45720" anchor="ctr"/>
            <a:lstStyle>
              <a:defPPr>
                <a:defRPr lang="de-DE"/>
              </a:defPPr>
              <a:lvl1pPr>
                <a:defRPr b="1">
                  <a:solidFill>
                    <a:srgbClr val="000000"/>
                  </a:solidFill>
                  <a:latin typeface="Arial" charset="0"/>
                </a:defRPr>
              </a:lvl1pPr>
              <a:lvl2pPr marL="742950" indent="-285750">
                <a:defRPr sz="2400">
                  <a:latin typeface="Arial" charset="0"/>
                </a:defRPr>
              </a:lvl2pPr>
              <a:lvl3pPr marL="1143000" indent="-228600">
                <a:defRPr sz="2400">
                  <a:latin typeface="Arial" charset="0"/>
                </a:defRPr>
              </a:lvl3pPr>
              <a:lvl4pPr marL="1600200" indent="-228600">
                <a:defRPr sz="2400">
                  <a:latin typeface="Arial" charset="0"/>
                </a:defRPr>
              </a:lvl4pPr>
              <a:lvl5pPr marL="2057400" indent="-228600">
                <a:defRPr sz="2400">
                  <a:latin typeface="Arial" charset="0"/>
                </a:defRPr>
              </a:lvl5pPr>
              <a:lvl6pPr marL="2514600" indent="-228600" eaLnBrk="0" fontAlgn="base" hangingPunct="0">
                <a:spcBef>
                  <a:spcPct val="50000"/>
                </a:spcBef>
                <a:spcAft>
                  <a:spcPct val="0"/>
                </a:spcAft>
                <a:defRPr sz="2400">
                  <a:latin typeface="Arial" charset="0"/>
                </a:defRPr>
              </a:lvl6pPr>
              <a:lvl7pPr marL="2971800" indent="-228600" eaLnBrk="0" fontAlgn="base" hangingPunct="0">
                <a:spcBef>
                  <a:spcPct val="50000"/>
                </a:spcBef>
                <a:spcAft>
                  <a:spcPct val="0"/>
                </a:spcAft>
                <a:defRPr sz="2400">
                  <a:latin typeface="Arial" charset="0"/>
                </a:defRPr>
              </a:lvl7pPr>
              <a:lvl8pPr marL="3429000" indent="-228600" eaLnBrk="0" fontAlgn="base" hangingPunct="0">
                <a:spcBef>
                  <a:spcPct val="50000"/>
                </a:spcBef>
                <a:spcAft>
                  <a:spcPct val="0"/>
                </a:spcAft>
                <a:defRPr sz="2400">
                  <a:latin typeface="Arial" charset="0"/>
                </a:defRPr>
              </a:lvl8pPr>
              <a:lvl9pPr marL="3886200" indent="-228600" eaLnBrk="0" fontAlgn="base" hangingPunct="0">
                <a:spcBef>
                  <a:spcPct val="50000"/>
                </a:spcBef>
                <a:spcAft>
                  <a:spcPct val="0"/>
                </a:spcAft>
                <a:defRPr sz="2400">
                  <a:latin typeface="Arial" charset="0"/>
                </a:defRPr>
              </a:lvl9pPr>
            </a:lstStyle>
            <a:p>
              <a:pPr marL="264795"/>
              <a:r>
                <a:rPr lang="de-CH">
                  <a:cs typeface="Arial"/>
                </a:rPr>
                <a:t>Rissausbreitung und Bruchanalyse</a:t>
              </a:r>
            </a:p>
            <a:p>
              <a:pPr marL="264795"/>
              <a:r>
                <a:rPr lang="de-CH" sz="1600" b="0">
                  <a:cs typeface="Arial"/>
                </a:rPr>
                <a:t>Berechnung des Rissfortschritts und der kritischen Längen unter Verwendung des Paris Gesetz, Identifizierung von spröden/duktilen Brüchen</a:t>
              </a:r>
              <a:endParaRPr lang="en-US" sz="1600"/>
            </a:p>
          </p:txBody>
        </p:sp>
        <p:sp>
          <p:nvSpPr>
            <p:cNvPr id="10" name="Punkt 1">
              <a:extLst>
                <a:ext uri="{FF2B5EF4-FFF2-40B4-BE49-F238E27FC236}">
                  <a16:creationId xmlns:a16="http://schemas.microsoft.com/office/drawing/2014/main" id="{A4740631-1C03-675B-BA0B-5611F23EBC9F}"/>
                </a:ext>
              </a:extLst>
            </p:cNvPr>
            <p:cNvSpPr>
              <a:spLocks noChangeArrowheads="1"/>
            </p:cNvSpPr>
            <p:nvPr/>
          </p:nvSpPr>
          <p:spPr bwMode="auto">
            <a:xfrm>
              <a:off x="731837" y="3658256"/>
              <a:ext cx="612531" cy="647699"/>
            </a:xfrm>
            <a:prstGeom prst="rect">
              <a:avLst/>
            </a:prstGeom>
            <a:solidFill>
              <a:srgbClr val="006DB6">
                <a:alpha val="50195"/>
              </a:srgbClr>
            </a:solidFill>
            <a:ln>
              <a:noFill/>
            </a:ln>
            <a:extLst>
              <a:ext uri="{91240B29-F687-4F45-9708-019B960494DF}">
                <a14:hiddenLine xmlns:a14="http://schemas.microsoft.com/office/drawing/2010/main" w="10795">
                  <a:solidFill>
                    <a:srgbClr val="000000"/>
                  </a:solidFill>
                  <a:miter lim="800000"/>
                  <a:headEnd/>
                  <a:tailEnd/>
                </a14:hiddenLine>
              </a:ext>
            </a:extLst>
          </p:spPr>
          <p:txBody>
            <a:bodyPr wrap="none" anchor="ctr">
              <a:noAutofit/>
            </a:bodyPr>
            <a:lstStyle/>
            <a:p>
              <a:pPr algn="ctr"/>
              <a:r>
                <a:rPr lang="de-DE" b="1">
                  <a:solidFill>
                    <a:srgbClr val="FFFFFF"/>
                  </a:solidFill>
                  <a:latin typeface="Arial" charset="0"/>
                </a:rPr>
                <a:t>L.3</a:t>
              </a:r>
            </a:p>
          </p:txBody>
        </p:sp>
      </p:grpSp>
      <p:grpSp>
        <p:nvGrpSpPr>
          <p:cNvPr id="17" name="Group 16">
            <a:extLst>
              <a:ext uri="{FF2B5EF4-FFF2-40B4-BE49-F238E27FC236}">
                <a16:creationId xmlns:a16="http://schemas.microsoft.com/office/drawing/2014/main" id="{1F91F07B-2B0C-B8E9-C84D-B05974A2399E}"/>
              </a:ext>
            </a:extLst>
          </p:cNvPr>
          <p:cNvGrpSpPr/>
          <p:nvPr/>
        </p:nvGrpSpPr>
        <p:grpSpPr>
          <a:xfrm>
            <a:off x="733933" y="1712447"/>
            <a:ext cx="10191750" cy="647700"/>
            <a:chOff x="731552" y="2158614"/>
            <a:chExt cx="10191750" cy="647700"/>
          </a:xfrm>
        </p:grpSpPr>
        <p:sp>
          <p:nvSpPr>
            <p:cNvPr id="11" name="Text 1">
              <a:extLst>
                <a:ext uri="{FF2B5EF4-FFF2-40B4-BE49-F238E27FC236}">
                  <a16:creationId xmlns:a16="http://schemas.microsoft.com/office/drawing/2014/main" id="{CFAC8DB3-7BA0-C4BE-4153-ED08740A46B3}"/>
                </a:ext>
              </a:extLst>
            </p:cNvPr>
            <p:cNvSpPr txBox="1">
              <a:spLocks noChangeArrowheads="1"/>
            </p:cNvSpPr>
            <p:nvPr/>
          </p:nvSpPr>
          <p:spPr bwMode="auto">
            <a:xfrm>
              <a:off x="731552" y="2158614"/>
              <a:ext cx="10191750" cy="647699"/>
            </a:xfrm>
            <a:prstGeom prst="rect">
              <a:avLst/>
            </a:prstGeom>
            <a:solidFill>
              <a:schemeClr val="bg2"/>
            </a:solidFill>
            <a:ln>
              <a:noFill/>
            </a:ln>
          </p:spPr>
          <p:txBody>
            <a:bodyPr wrap="square" lIns="635000" tIns="35983" rIns="0" bIns="45720" anchor="ctr"/>
            <a:lstStyle>
              <a:defPPr>
                <a:defRPr lang="de-DE"/>
              </a:defPPr>
              <a:lvl1pPr>
                <a:defRPr b="1">
                  <a:solidFill>
                    <a:srgbClr val="000000"/>
                  </a:solidFill>
                  <a:latin typeface="Arial" charset="0"/>
                </a:defRPr>
              </a:lvl1pPr>
              <a:lvl2pPr marL="742950" indent="-285750">
                <a:defRPr sz="2400">
                  <a:latin typeface="Arial" charset="0"/>
                </a:defRPr>
              </a:lvl2pPr>
              <a:lvl3pPr marL="1143000" indent="-228600">
                <a:defRPr sz="2400">
                  <a:latin typeface="Arial" charset="0"/>
                </a:defRPr>
              </a:lvl3pPr>
              <a:lvl4pPr marL="1600200" indent="-228600">
                <a:defRPr sz="2400">
                  <a:latin typeface="Arial" charset="0"/>
                </a:defRPr>
              </a:lvl4pPr>
              <a:lvl5pPr marL="2057400" indent="-228600">
                <a:defRPr sz="2400">
                  <a:latin typeface="Arial" charset="0"/>
                </a:defRPr>
              </a:lvl5pPr>
              <a:lvl6pPr marL="2514600" indent="-228600" eaLnBrk="0" fontAlgn="base" hangingPunct="0">
                <a:spcBef>
                  <a:spcPct val="50000"/>
                </a:spcBef>
                <a:spcAft>
                  <a:spcPct val="0"/>
                </a:spcAft>
                <a:defRPr sz="2400">
                  <a:latin typeface="Arial" charset="0"/>
                </a:defRPr>
              </a:lvl6pPr>
              <a:lvl7pPr marL="2971800" indent="-228600" eaLnBrk="0" fontAlgn="base" hangingPunct="0">
                <a:spcBef>
                  <a:spcPct val="50000"/>
                </a:spcBef>
                <a:spcAft>
                  <a:spcPct val="0"/>
                </a:spcAft>
                <a:defRPr sz="2400">
                  <a:latin typeface="Arial" charset="0"/>
                </a:defRPr>
              </a:lvl7pPr>
              <a:lvl8pPr marL="3429000" indent="-228600" eaLnBrk="0" fontAlgn="base" hangingPunct="0">
                <a:spcBef>
                  <a:spcPct val="50000"/>
                </a:spcBef>
                <a:spcAft>
                  <a:spcPct val="0"/>
                </a:spcAft>
                <a:defRPr sz="2400">
                  <a:latin typeface="Arial" charset="0"/>
                </a:defRPr>
              </a:lvl8pPr>
              <a:lvl9pPr marL="3886200" indent="-228600" eaLnBrk="0" fontAlgn="base" hangingPunct="0">
                <a:spcBef>
                  <a:spcPct val="50000"/>
                </a:spcBef>
                <a:spcAft>
                  <a:spcPct val="0"/>
                </a:spcAft>
                <a:defRPr sz="2400">
                  <a:latin typeface="Arial" charset="0"/>
                </a:defRPr>
              </a:lvl9pPr>
            </a:lstStyle>
            <a:p>
              <a:pPr marL="264795"/>
              <a:r>
                <a:rPr lang="en" sz="1600">
                  <a:latin typeface="Arial"/>
                  <a:cs typeface="Arial"/>
                </a:rPr>
                <a:t>Kriterien für Ermüdungsversagen</a:t>
              </a:r>
            </a:p>
            <a:p>
              <a:pPr marL="264795"/>
              <a:r>
                <a:rPr lang="de-CH" sz="1600" b="0">
                  <a:latin typeface="Arial"/>
                  <a:cs typeface="Arial"/>
                </a:rPr>
                <a:t>Auswahl des richtigen Versagenskriteriums, lösen von Konstruktionsproblemen mit dem Weibull-Gesetz</a:t>
              </a:r>
              <a:endParaRPr lang="en-US" sz="1600"/>
            </a:p>
          </p:txBody>
        </p:sp>
        <p:sp>
          <p:nvSpPr>
            <p:cNvPr id="12" name="Punkt 1">
              <a:extLst>
                <a:ext uri="{FF2B5EF4-FFF2-40B4-BE49-F238E27FC236}">
                  <a16:creationId xmlns:a16="http://schemas.microsoft.com/office/drawing/2014/main" id="{DC13E32B-E8B2-C227-A357-FD1EB8803FCA}"/>
                </a:ext>
              </a:extLst>
            </p:cNvPr>
            <p:cNvSpPr>
              <a:spLocks noChangeArrowheads="1"/>
            </p:cNvSpPr>
            <p:nvPr/>
          </p:nvSpPr>
          <p:spPr bwMode="auto">
            <a:xfrm>
              <a:off x="731837" y="2158615"/>
              <a:ext cx="612531" cy="647699"/>
            </a:xfrm>
            <a:prstGeom prst="rect">
              <a:avLst/>
            </a:prstGeom>
            <a:solidFill>
              <a:srgbClr val="006DB6">
                <a:alpha val="50195"/>
              </a:srgbClr>
            </a:solidFill>
            <a:ln>
              <a:noFill/>
            </a:ln>
            <a:extLst>
              <a:ext uri="{91240B29-F687-4F45-9708-019B960494DF}">
                <a14:hiddenLine xmlns:a14="http://schemas.microsoft.com/office/drawing/2010/main" w="10795">
                  <a:solidFill>
                    <a:srgbClr val="000000"/>
                  </a:solidFill>
                  <a:miter lim="800000"/>
                  <a:headEnd/>
                  <a:tailEnd/>
                </a14:hiddenLine>
              </a:ext>
            </a:extLst>
          </p:spPr>
          <p:txBody>
            <a:bodyPr wrap="none" anchor="ctr">
              <a:noAutofit/>
            </a:bodyPr>
            <a:lstStyle/>
            <a:p>
              <a:pPr algn="ctr"/>
              <a:r>
                <a:rPr lang="de-DE" b="1">
                  <a:solidFill>
                    <a:srgbClr val="FFFFFF"/>
                  </a:solidFill>
                  <a:latin typeface="Arial" charset="0"/>
                </a:rPr>
                <a:t>L.2</a:t>
              </a:r>
            </a:p>
          </p:txBody>
        </p:sp>
      </p:grpSp>
      <p:grpSp>
        <p:nvGrpSpPr>
          <p:cNvPr id="14" name="Group 13">
            <a:extLst>
              <a:ext uri="{FF2B5EF4-FFF2-40B4-BE49-F238E27FC236}">
                <a16:creationId xmlns:a16="http://schemas.microsoft.com/office/drawing/2014/main" id="{5700812D-81C7-2E8F-B812-FB9A70710B9E}"/>
              </a:ext>
            </a:extLst>
          </p:cNvPr>
          <p:cNvGrpSpPr/>
          <p:nvPr/>
        </p:nvGrpSpPr>
        <p:grpSpPr>
          <a:xfrm>
            <a:off x="733933" y="4648216"/>
            <a:ext cx="10191750" cy="647699"/>
            <a:chOff x="731837" y="3658256"/>
            <a:chExt cx="10191750" cy="647699"/>
          </a:xfrm>
        </p:grpSpPr>
        <p:sp>
          <p:nvSpPr>
            <p:cNvPr id="18" name="Text 1">
              <a:extLst>
                <a:ext uri="{FF2B5EF4-FFF2-40B4-BE49-F238E27FC236}">
                  <a16:creationId xmlns:a16="http://schemas.microsoft.com/office/drawing/2014/main" id="{C337EE54-E727-C0C7-04D3-326923BA1C5A}"/>
                </a:ext>
              </a:extLst>
            </p:cNvPr>
            <p:cNvSpPr txBox="1">
              <a:spLocks noChangeArrowheads="1"/>
            </p:cNvSpPr>
            <p:nvPr/>
          </p:nvSpPr>
          <p:spPr bwMode="auto">
            <a:xfrm>
              <a:off x="731837" y="3658256"/>
              <a:ext cx="10191750" cy="647699"/>
            </a:xfrm>
            <a:prstGeom prst="rect">
              <a:avLst/>
            </a:prstGeom>
            <a:solidFill>
              <a:schemeClr val="bg2"/>
            </a:solidFill>
            <a:ln>
              <a:noFill/>
            </a:ln>
          </p:spPr>
          <p:txBody>
            <a:bodyPr wrap="square" lIns="635000" tIns="35983" rIns="0" bIns="45720" anchor="ctr"/>
            <a:lstStyle>
              <a:defPPr>
                <a:defRPr lang="de-DE"/>
              </a:defPPr>
              <a:lvl1pPr>
                <a:defRPr b="1">
                  <a:solidFill>
                    <a:srgbClr val="000000"/>
                  </a:solidFill>
                  <a:latin typeface="Arial" charset="0"/>
                </a:defRPr>
              </a:lvl1pPr>
              <a:lvl2pPr marL="742950" indent="-285750">
                <a:defRPr sz="2400">
                  <a:latin typeface="Arial" charset="0"/>
                </a:defRPr>
              </a:lvl2pPr>
              <a:lvl3pPr marL="1143000" indent="-228600">
                <a:defRPr sz="2400">
                  <a:latin typeface="Arial" charset="0"/>
                </a:defRPr>
              </a:lvl3pPr>
              <a:lvl4pPr marL="1600200" indent="-228600">
                <a:defRPr sz="2400">
                  <a:latin typeface="Arial" charset="0"/>
                </a:defRPr>
              </a:lvl4pPr>
              <a:lvl5pPr marL="2057400" indent="-228600">
                <a:defRPr sz="2400">
                  <a:latin typeface="Arial" charset="0"/>
                </a:defRPr>
              </a:lvl5pPr>
              <a:lvl6pPr marL="2514600" indent="-228600" eaLnBrk="0" fontAlgn="base" hangingPunct="0">
                <a:spcBef>
                  <a:spcPct val="50000"/>
                </a:spcBef>
                <a:spcAft>
                  <a:spcPct val="0"/>
                </a:spcAft>
                <a:defRPr sz="2400">
                  <a:latin typeface="Arial" charset="0"/>
                </a:defRPr>
              </a:lvl6pPr>
              <a:lvl7pPr marL="2971800" indent="-228600" eaLnBrk="0" fontAlgn="base" hangingPunct="0">
                <a:spcBef>
                  <a:spcPct val="50000"/>
                </a:spcBef>
                <a:spcAft>
                  <a:spcPct val="0"/>
                </a:spcAft>
                <a:defRPr sz="2400">
                  <a:latin typeface="Arial" charset="0"/>
                </a:defRPr>
              </a:lvl7pPr>
              <a:lvl8pPr marL="3429000" indent="-228600" eaLnBrk="0" fontAlgn="base" hangingPunct="0">
                <a:spcBef>
                  <a:spcPct val="50000"/>
                </a:spcBef>
                <a:spcAft>
                  <a:spcPct val="0"/>
                </a:spcAft>
                <a:defRPr sz="2400">
                  <a:latin typeface="Arial" charset="0"/>
                </a:defRPr>
              </a:lvl8pPr>
              <a:lvl9pPr marL="3886200" indent="-228600" eaLnBrk="0" fontAlgn="base" hangingPunct="0">
                <a:spcBef>
                  <a:spcPct val="50000"/>
                </a:spcBef>
                <a:spcAft>
                  <a:spcPct val="0"/>
                </a:spcAft>
                <a:defRPr sz="2400">
                  <a:latin typeface="Arial" charset="0"/>
                </a:defRPr>
              </a:lvl9pPr>
            </a:lstStyle>
            <a:p>
              <a:pPr marL="264795"/>
              <a:r>
                <a:rPr lang="en-US" err="1"/>
                <a:t>Aushärtungs</a:t>
              </a:r>
              <a:r>
                <a:rPr lang="en-US"/>
                <a:t>- und </a:t>
              </a:r>
              <a:r>
                <a:rPr lang="en-US" err="1"/>
                <a:t>Schadensakkumulationsmodelle</a:t>
              </a:r>
              <a:endParaRPr lang="en-US"/>
            </a:p>
            <a:p>
              <a:pPr marL="264795"/>
              <a:r>
                <a:rPr lang="de-CH" sz="1600" b="0"/>
                <a:t>Analyse einer LCF-Hysterese, Anwendung von Schadensakkumulationsregeln (Miner Gesetz)</a:t>
              </a:r>
              <a:endParaRPr lang="en-US" sz="1600" b="0"/>
            </a:p>
          </p:txBody>
        </p:sp>
        <p:sp>
          <p:nvSpPr>
            <p:cNvPr id="19" name="Punkt 1">
              <a:extLst>
                <a:ext uri="{FF2B5EF4-FFF2-40B4-BE49-F238E27FC236}">
                  <a16:creationId xmlns:a16="http://schemas.microsoft.com/office/drawing/2014/main" id="{4AD8E348-87EE-89DD-541B-CE5218E8AFC5}"/>
                </a:ext>
              </a:extLst>
            </p:cNvPr>
            <p:cNvSpPr>
              <a:spLocks noChangeArrowheads="1"/>
            </p:cNvSpPr>
            <p:nvPr/>
          </p:nvSpPr>
          <p:spPr bwMode="auto">
            <a:xfrm>
              <a:off x="731837" y="3658256"/>
              <a:ext cx="612531" cy="647699"/>
            </a:xfrm>
            <a:prstGeom prst="rect">
              <a:avLst/>
            </a:prstGeom>
            <a:solidFill>
              <a:srgbClr val="006DB6">
                <a:alpha val="50195"/>
              </a:srgbClr>
            </a:solidFill>
            <a:ln>
              <a:noFill/>
            </a:ln>
            <a:extLst>
              <a:ext uri="{91240B29-F687-4F45-9708-019B960494DF}">
                <a14:hiddenLine xmlns:a14="http://schemas.microsoft.com/office/drawing/2010/main" w="10795">
                  <a:solidFill>
                    <a:srgbClr val="000000"/>
                  </a:solidFill>
                  <a:miter lim="800000"/>
                  <a:headEnd/>
                  <a:tailEnd/>
                </a14:hiddenLine>
              </a:ext>
            </a:extLst>
          </p:spPr>
          <p:txBody>
            <a:bodyPr wrap="none" anchor="ctr">
              <a:noAutofit/>
            </a:bodyPr>
            <a:lstStyle/>
            <a:p>
              <a:pPr algn="ctr"/>
              <a:r>
                <a:rPr lang="de-DE" b="1">
                  <a:solidFill>
                    <a:srgbClr val="FFFFFF"/>
                  </a:solidFill>
                  <a:latin typeface="Arial" charset="0"/>
                </a:rPr>
                <a:t>L.4</a:t>
              </a:r>
            </a:p>
          </p:txBody>
        </p:sp>
      </p:grpSp>
    </p:spTree>
    <p:extLst>
      <p:ext uri="{BB962C8B-B14F-4D97-AF65-F5344CB8AC3E}">
        <p14:creationId xmlns:p14="http://schemas.microsoft.com/office/powerpoint/2010/main" val="3851954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4C7C543-1ED9-FBD7-455F-4B72ECD6528A}"/>
              </a:ext>
            </a:extLst>
          </p:cNvPr>
          <p:cNvSpPr>
            <a:spLocks noGrp="1"/>
          </p:cNvSpPr>
          <p:nvPr>
            <p:ph type="dt" sz="half" idx="10"/>
          </p:nvPr>
        </p:nvSpPr>
        <p:spPr/>
        <p:txBody>
          <a:bodyPr/>
          <a:lstStyle/>
          <a:p>
            <a:fld id="{D3025AE2-B6E6-4CA4-9602-9443BE64C74D}" type="datetime1">
              <a:rPr lang="de-DE" smtClean="0"/>
              <a:t>17.04.2025</a:t>
            </a:fld>
            <a:endParaRPr lang="en-GB"/>
          </a:p>
        </p:txBody>
      </p:sp>
      <p:sp>
        <p:nvSpPr>
          <p:cNvPr id="5" name="Slide Number Placeholder 4">
            <a:extLst>
              <a:ext uri="{FF2B5EF4-FFF2-40B4-BE49-F238E27FC236}">
                <a16:creationId xmlns:a16="http://schemas.microsoft.com/office/drawing/2014/main" id="{00376D8F-17A8-CA88-FF0E-47872342877C}"/>
              </a:ext>
            </a:extLst>
          </p:cNvPr>
          <p:cNvSpPr>
            <a:spLocks noGrp="1"/>
          </p:cNvSpPr>
          <p:nvPr>
            <p:ph type="sldNum" sz="quarter" idx="12"/>
          </p:nvPr>
        </p:nvSpPr>
        <p:spPr/>
        <p:txBody>
          <a:bodyPr/>
          <a:lstStyle/>
          <a:p>
            <a:fld id="{6C6AE60A-B69C-4790-82F7-3882EDF23186}" type="slidenum">
              <a:rPr lang="en-GB" smtClean="0"/>
              <a:pPr/>
              <a:t>7</a:t>
            </a:fld>
            <a:endParaRPr lang="en-GB"/>
          </a:p>
        </p:txBody>
      </p:sp>
      <p:grpSp>
        <p:nvGrpSpPr>
          <p:cNvPr id="27" name="Group 26">
            <a:extLst>
              <a:ext uri="{FF2B5EF4-FFF2-40B4-BE49-F238E27FC236}">
                <a16:creationId xmlns:a16="http://schemas.microsoft.com/office/drawing/2014/main" id="{53D2ABB6-DB3E-1A82-D978-DD78B8DA1256}"/>
              </a:ext>
            </a:extLst>
          </p:cNvPr>
          <p:cNvGrpSpPr/>
          <p:nvPr/>
        </p:nvGrpSpPr>
        <p:grpSpPr>
          <a:xfrm>
            <a:off x="601249" y="966427"/>
            <a:ext cx="5669266" cy="4320353"/>
            <a:chOff x="1732207" y="328921"/>
            <a:chExt cx="7556517" cy="5758562"/>
          </a:xfrm>
        </p:grpSpPr>
        <p:grpSp>
          <p:nvGrpSpPr>
            <p:cNvPr id="24" name="Group 23">
              <a:extLst>
                <a:ext uri="{FF2B5EF4-FFF2-40B4-BE49-F238E27FC236}">
                  <a16:creationId xmlns:a16="http://schemas.microsoft.com/office/drawing/2014/main" id="{994B1322-E8FF-8B54-974B-9BAB46E7128A}"/>
                </a:ext>
              </a:extLst>
            </p:cNvPr>
            <p:cNvGrpSpPr/>
            <p:nvPr/>
          </p:nvGrpSpPr>
          <p:grpSpPr>
            <a:xfrm>
              <a:off x="1732207" y="328921"/>
              <a:ext cx="7556517" cy="5733051"/>
              <a:chOff x="1732207" y="328921"/>
              <a:chExt cx="7556517" cy="5733051"/>
            </a:xfrm>
          </p:grpSpPr>
          <p:pic>
            <p:nvPicPr>
              <p:cNvPr id="10" name="Picture 9">
                <a:extLst>
                  <a:ext uri="{FF2B5EF4-FFF2-40B4-BE49-F238E27FC236}">
                    <a16:creationId xmlns:a16="http://schemas.microsoft.com/office/drawing/2014/main" id="{1DABFFBB-D2D5-EE7A-7112-DC77F85EAEFA}"/>
                  </a:ext>
                </a:extLst>
              </p:cNvPr>
              <p:cNvPicPr>
                <a:picLocks noChangeAspect="1"/>
              </p:cNvPicPr>
              <p:nvPr/>
            </p:nvPicPr>
            <p:blipFill rotWithShape="1">
              <a:blip r:embed="rId2"/>
              <a:srcRect l="9456"/>
              <a:stretch/>
            </p:blipFill>
            <p:spPr>
              <a:xfrm>
                <a:off x="1732207" y="328921"/>
                <a:ext cx="7556517" cy="5733051"/>
              </a:xfrm>
              <a:prstGeom prst="rect">
                <a:avLst/>
              </a:prstGeom>
            </p:spPr>
          </p:pic>
          <p:sp>
            <p:nvSpPr>
              <p:cNvPr id="11" name="Rectangle 10">
                <a:extLst>
                  <a:ext uri="{FF2B5EF4-FFF2-40B4-BE49-F238E27FC236}">
                    <a16:creationId xmlns:a16="http://schemas.microsoft.com/office/drawing/2014/main" id="{3E6B2FD4-F2D9-C0FF-7712-C2A1FD9CD316}"/>
                  </a:ext>
                </a:extLst>
              </p:cNvPr>
              <p:cNvSpPr/>
              <p:nvPr/>
            </p:nvSpPr>
            <p:spPr>
              <a:xfrm>
                <a:off x="2898513" y="1222701"/>
                <a:ext cx="1154375" cy="586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23" name="Group 22">
              <a:extLst>
                <a:ext uri="{FF2B5EF4-FFF2-40B4-BE49-F238E27FC236}">
                  <a16:creationId xmlns:a16="http://schemas.microsoft.com/office/drawing/2014/main" id="{E1CD37A5-3853-80A2-0EA1-F0AB260870B6}"/>
                </a:ext>
              </a:extLst>
            </p:cNvPr>
            <p:cNvGrpSpPr/>
            <p:nvPr/>
          </p:nvGrpSpPr>
          <p:grpSpPr>
            <a:xfrm>
              <a:off x="1787732" y="476249"/>
              <a:ext cx="7118143" cy="4686300"/>
              <a:chOff x="1787732" y="476249"/>
              <a:chExt cx="7118143" cy="4686300"/>
            </a:xfrm>
          </p:grpSpPr>
          <p:sp>
            <p:nvSpPr>
              <p:cNvPr id="12" name="Rectangle 11">
                <a:extLst>
                  <a:ext uri="{FF2B5EF4-FFF2-40B4-BE49-F238E27FC236}">
                    <a16:creationId xmlns:a16="http://schemas.microsoft.com/office/drawing/2014/main" id="{1C8D00FD-F136-D5CA-FD2C-B9DD73B2F728}"/>
                  </a:ext>
                </a:extLst>
              </p:cNvPr>
              <p:cNvSpPr/>
              <p:nvPr/>
            </p:nvSpPr>
            <p:spPr>
              <a:xfrm>
                <a:off x="6179876" y="1254918"/>
                <a:ext cx="2468824" cy="586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3" name="Rectangle 12">
                <a:extLst>
                  <a:ext uri="{FF2B5EF4-FFF2-40B4-BE49-F238E27FC236}">
                    <a16:creationId xmlns:a16="http://schemas.microsoft.com/office/drawing/2014/main" id="{CED5D320-F03A-00E1-D045-C0E9C63E7BA7}"/>
                  </a:ext>
                </a:extLst>
              </p:cNvPr>
              <p:cNvSpPr/>
              <p:nvPr/>
            </p:nvSpPr>
            <p:spPr>
              <a:xfrm>
                <a:off x="6179876" y="2059780"/>
                <a:ext cx="2468824" cy="586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4" name="Rectangle 13">
                <a:extLst>
                  <a:ext uri="{FF2B5EF4-FFF2-40B4-BE49-F238E27FC236}">
                    <a16:creationId xmlns:a16="http://schemas.microsoft.com/office/drawing/2014/main" id="{190A4C00-0538-353B-ECCE-F4DA69BD09F1}"/>
                  </a:ext>
                </a:extLst>
              </p:cNvPr>
              <p:cNvSpPr/>
              <p:nvPr/>
            </p:nvSpPr>
            <p:spPr>
              <a:xfrm>
                <a:off x="6862763" y="2842420"/>
                <a:ext cx="2043112" cy="5341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5" name="Rectangle 14">
                <a:extLst>
                  <a:ext uri="{FF2B5EF4-FFF2-40B4-BE49-F238E27FC236}">
                    <a16:creationId xmlns:a16="http://schemas.microsoft.com/office/drawing/2014/main" id="{F420138F-F181-3FE1-84AF-0A711A1B214D}"/>
                  </a:ext>
                </a:extLst>
              </p:cNvPr>
              <p:cNvSpPr/>
              <p:nvPr/>
            </p:nvSpPr>
            <p:spPr>
              <a:xfrm rot="2599882">
                <a:off x="5447132" y="2239454"/>
                <a:ext cx="879834" cy="3651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 name="Rectangle 15">
                <a:extLst>
                  <a:ext uri="{FF2B5EF4-FFF2-40B4-BE49-F238E27FC236}">
                    <a16:creationId xmlns:a16="http://schemas.microsoft.com/office/drawing/2014/main" id="{34F78682-414B-AE90-5D04-AAEE99A41413}"/>
                  </a:ext>
                </a:extLst>
              </p:cNvPr>
              <p:cNvSpPr/>
              <p:nvPr/>
            </p:nvSpPr>
            <p:spPr>
              <a:xfrm rot="519710">
                <a:off x="7590257" y="3844418"/>
                <a:ext cx="879834" cy="3651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7" name="Rectangle 16">
                <a:extLst>
                  <a:ext uri="{FF2B5EF4-FFF2-40B4-BE49-F238E27FC236}">
                    <a16:creationId xmlns:a16="http://schemas.microsoft.com/office/drawing/2014/main" id="{C6731463-365C-C38D-11B0-D2A19EC2F24B}"/>
                  </a:ext>
                </a:extLst>
              </p:cNvPr>
              <p:cNvSpPr/>
              <p:nvPr/>
            </p:nvSpPr>
            <p:spPr>
              <a:xfrm>
                <a:off x="5609236" y="3512832"/>
                <a:ext cx="555626" cy="3651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8" name="Rectangle 17">
                <a:extLst>
                  <a:ext uri="{FF2B5EF4-FFF2-40B4-BE49-F238E27FC236}">
                    <a16:creationId xmlns:a16="http://schemas.microsoft.com/office/drawing/2014/main" id="{9CE1E4ED-03E0-183B-D8EC-EB8EC784DA7D}"/>
                  </a:ext>
                </a:extLst>
              </p:cNvPr>
              <p:cNvSpPr/>
              <p:nvPr/>
            </p:nvSpPr>
            <p:spPr>
              <a:xfrm>
                <a:off x="2847584" y="2588907"/>
                <a:ext cx="1643453" cy="3651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9" name="Rectangle 18">
                <a:extLst>
                  <a:ext uri="{FF2B5EF4-FFF2-40B4-BE49-F238E27FC236}">
                    <a16:creationId xmlns:a16="http://schemas.microsoft.com/office/drawing/2014/main" id="{84B083D3-537E-1F30-5B14-55A23FB4CC90}"/>
                  </a:ext>
                </a:extLst>
              </p:cNvPr>
              <p:cNvSpPr/>
              <p:nvPr/>
            </p:nvSpPr>
            <p:spPr>
              <a:xfrm>
                <a:off x="2785672" y="4027013"/>
                <a:ext cx="2043504" cy="3651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0" name="Rectangle 19">
                <a:extLst>
                  <a:ext uri="{FF2B5EF4-FFF2-40B4-BE49-F238E27FC236}">
                    <a16:creationId xmlns:a16="http://schemas.microsoft.com/office/drawing/2014/main" id="{EDD85027-D2D7-5626-29F1-370B9DE6AAE2}"/>
                  </a:ext>
                </a:extLst>
              </p:cNvPr>
              <p:cNvSpPr/>
              <p:nvPr/>
            </p:nvSpPr>
            <p:spPr>
              <a:xfrm>
                <a:off x="1787732" y="476249"/>
                <a:ext cx="924798" cy="4686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grpSp>
        <p:pic>
          <p:nvPicPr>
            <p:cNvPr id="25" name="Picture 24">
              <a:extLst>
                <a:ext uri="{FF2B5EF4-FFF2-40B4-BE49-F238E27FC236}">
                  <a16:creationId xmlns:a16="http://schemas.microsoft.com/office/drawing/2014/main" id="{2F42057B-FEF4-7D12-DF0A-E7862533A303}"/>
                </a:ext>
              </a:extLst>
            </p:cNvPr>
            <p:cNvPicPr>
              <a:picLocks noChangeAspect="1"/>
            </p:cNvPicPr>
            <p:nvPr/>
          </p:nvPicPr>
          <p:blipFill rotWithShape="1">
            <a:blip r:embed="rId2"/>
            <a:srcRect r="90397"/>
            <a:stretch/>
          </p:blipFill>
          <p:spPr>
            <a:xfrm>
              <a:off x="1796812" y="354431"/>
              <a:ext cx="801456" cy="5733052"/>
            </a:xfrm>
            <a:prstGeom prst="rect">
              <a:avLst/>
            </a:prstGeom>
          </p:spPr>
        </p:pic>
      </p:grpSp>
      <p:sp>
        <p:nvSpPr>
          <p:cNvPr id="28" name="TextBox 27">
            <a:extLst>
              <a:ext uri="{FF2B5EF4-FFF2-40B4-BE49-F238E27FC236}">
                <a16:creationId xmlns:a16="http://schemas.microsoft.com/office/drawing/2014/main" id="{8BC09C98-1A81-33E7-C9BA-67C9D178B1CB}"/>
              </a:ext>
            </a:extLst>
          </p:cNvPr>
          <p:cNvSpPr txBox="1"/>
          <p:nvPr/>
        </p:nvSpPr>
        <p:spPr>
          <a:xfrm>
            <a:off x="6410048" y="2077066"/>
            <a:ext cx="4468852" cy="646331"/>
          </a:xfrm>
          <a:prstGeom prst="rect">
            <a:avLst/>
          </a:prstGeom>
          <a:noFill/>
        </p:spPr>
        <p:txBody>
          <a:bodyPr wrap="none" rtlCol="0">
            <a:spAutoFit/>
          </a:bodyPr>
          <a:lstStyle/>
          <a:p>
            <a:r>
              <a:rPr lang="en-US"/>
              <a:t>K = </a:t>
            </a:r>
            <a:r>
              <a:rPr lang="en-US" err="1"/>
              <a:t>Kurzzeitfestigkeit</a:t>
            </a:r>
            <a:r>
              <a:rPr lang="en-US"/>
              <a:t> = low cycle fatigue (LCF) </a:t>
            </a:r>
          </a:p>
          <a:p>
            <a:r>
              <a:rPr lang="en-US"/>
              <a:t>       </a:t>
            </a:r>
            <a:r>
              <a:rPr lang="en-US" err="1"/>
              <a:t>mit</a:t>
            </a:r>
            <a:r>
              <a:rPr lang="de-DE" altLang="de-DE"/>
              <a:t> N &lt; 10</a:t>
            </a:r>
            <a:r>
              <a:rPr lang="de-DE" altLang="de-DE" baseline="30000"/>
              <a:t>3</a:t>
            </a:r>
            <a:r>
              <a:rPr lang="en-US"/>
              <a:t> </a:t>
            </a:r>
            <a:endParaRPr lang="de-CH"/>
          </a:p>
        </p:txBody>
      </p:sp>
      <p:sp>
        <p:nvSpPr>
          <p:cNvPr id="29" name="TextBox 28">
            <a:extLst>
              <a:ext uri="{FF2B5EF4-FFF2-40B4-BE49-F238E27FC236}">
                <a16:creationId xmlns:a16="http://schemas.microsoft.com/office/drawing/2014/main" id="{F678262F-D343-7333-D303-76D4870C250A}"/>
              </a:ext>
            </a:extLst>
          </p:cNvPr>
          <p:cNvSpPr txBox="1"/>
          <p:nvPr/>
        </p:nvSpPr>
        <p:spPr>
          <a:xfrm>
            <a:off x="6410048" y="2748137"/>
            <a:ext cx="4126514" cy="646331"/>
          </a:xfrm>
          <a:prstGeom prst="rect">
            <a:avLst/>
          </a:prstGeom>
          <a:noFill/>
        </p:spPr>
        <p:txBody>
          <a:bodyPr wrap="none" rtlCol="0">
            <a:spAutoFit/>
          </a:bodyPr>
          <a:lstStyle/>
          <a:p>
            <a:r>
              <a:rPr lang="en-US"/>
              <a:t>Z = </a:t>
            </a:r>
            <a:r>
              <a:rPr lang="en-US" err="1"/>
              <a:t>Zeitfestigkeit</a:t>
            </a:r>
            <a:r>
              <a:rPr lang="en-US"/>
              <a:t> = high cycle fatigue (HCF)</a:t>
            </a:r>
          </a:p>
          <a:p>
            <a:r>
              <a:rPr lang="en-US"/>
              <a:t>      </a:t>
            </a:r>
            <a:r>
              <a:rPr lang="en-US" err="1"/>
              <a:t>mit</a:t>
            </a:r>
            <a:r>
              <a:rPr lang="de-DE" altLang="de-DE"/>
              <a:t> N: 10</a:t>
            </a:r>
            <a:r>
              <a:rPr lang="de-DE" altLang="de-DE" baseline="30000"/>
              <a:t>3 </a:t>
            </a:r>
            <a:r>
              <a:rPr lang="de-DE" altLang="de-DE"/>
              <a:t>- 10</a:t>
            </a:r>
            <a:r>
              <a:rPr lang="de-DE" altLang="de-DE" baseline="30000"/>
              <a:t>6</a:t>
            </a:r>
            <a:endParaRPr lang="de-CH"/>
          </a:p>
        </p:txBody>
      </p:sp>
      <p:sp>
        <p:nvSpPr>
          <p:cNvPr id="30" name="TextBox 29">
            <a:extLst>
              <a:ext uri="{FF2B5EF4-FFF2-40B4-BE49-F238E27FC236}">
                <a16:creationId xmlns:a16="http://schemas.microsoft.com/office/drawing/2014/main" id="{1E828D7F-FBE5-3584-D770-6234EA2AEB55}"/>
              </a:ext>
            </a:extLst>
          </p:cNvPr>
          <p:cNvSpPr txBox="1"/>
          <p:nvPr/>
        </p:nvSpPr>
        <p:spPr>
          <a:xfrm>
            <a:off x="6410049" y="3419208"/>
            <a:ext cx="5902197" cy="1200329"/>
          </a:xfrm>
          <a:prstGeom prst="rect">
            <a:avLst/>
          </a:prstGeom>
          <a:noFill/>
        </p:spPr>
        <p:txBody>
          <a:bodyPr wrap="square" rtlCol="0">
            <a:spAutoFit/>
          </a:bodyPr>
          <a:lstStyle/>
          <a:p>
            <a:r>
              <a:rPr lang="en-US"/>
              <a:t>L = </a:t>
            </a:r>
            <a:r>
              <a:rPr lang="en-US" err="1"/>
              <a:t>Langzeitfestigkeit</a:t>
            </a:r>
            <a:r>
              <a:rPr lang="en-US"/>
              <a:t>:</a:t>
            </a:r>
          </a:p>
          <a:p>
            <a:r>
              <a:rPr lang="en-US"/>
              <a:t>      </a:t>
            </a:r>
            <a:r>
              <a:rPr lang="en-US" err="1"/>
              <a:t>mit</a:t>
            </a:r>
            <a:r>
              <a:rPr lang="en-US"/>
              <a:t> N &gt;</a:t>
            </a:r>
            <a:r>
              <a:rPr lang="de-DE" altLang="de-DE"/>
              <a:t> 10</a:t>
            </a:r>
            <a:r>
              <a:rPr lang="de-DE" altLang="de-DE" baseline="30000"/>
              <a:t>6</a:t>
            </a:r>
            <a:r>
              <a:rPr lang="en-US"/>
              <a:t> -</a:t>
            </a:r>
            <a:r>
              <a:rPr lang="de-DE" altLang="de-DE"/>
              <a:t> 10</a:t>
            </a:r>
            <a:r>
              <a:rPr lang="de-DE" altLang="de-DE" baseline="30000"/>
              <a:t>7</a:t>
            </a:r>
            <a:endParaRPr lang="en-US"/>
          </a:p>
          <a:p>
            <a:pPr marL="742950" lvl="1" indent="-285750">
              <a:buFont typeface="Arial" panose="020B0604020202020204" pitchFamily="34" charset="0"/>
              <a:buChar char="•"/>
            </a:pPr>
            <a:r>
              <a:rPr lang="en-US"/>
              <a:t>W = </a:t>
            </a:r>
            <a:r>
              <a:rPr lang="en-US" err="1"/>
              <a:t>Wechselfestigkeit</a:t>
            </a:r>
            <a:r>
              <a:rPr lang="en-US"/>
              <a:t> (</a:t>
            </a:r>
            <a:r>
              <a:rPr lang="el-GR"/>
              <a:t>σ</a:t>
            </a:r>
            <a:r>
              <a:rPr lang="fr-FR" baseline="-25000"/>
              <a:t>m</a:t>
            </a:r>
            <a:r>
              <a:rPr lang="fr-FR"/>
              <a:t>=0)</a:t>
            </a:r>
            <a:endParaRPr lang="en-US"/>
          </a:p>
          <a:p>
            <a:pPr marL="742950" lvl="1" indent="-285750">
              <a:buFont typeface="Arial" panose="020B0604020202020204" pitchFamily="34" charset="0"/>
              <a:buChar char="•"/>
            </a:pPr>
            <a:r>
              <a:rPr lang="en-US"/>
              <a:t>D = </a:t>
            </a:r>
            <a:r>
              <a:rPr lang="en-US" err="1"/>
              <a:t>Dauerfestigkeit</a:t>
            </a:r>
            <a:r>
              <a:rPr lang="en-US"/>
              <a:t> (</a:t>
            </a:r>
            <a:r>
              <a:rPr lang="el-GR"/>
              <a:t>σ</a:t>
            </a:r>
            <a:r>
              <a:rPr lang="fr-FR" baseline="-25000"/>
              <a:t>m</a:t>
            </a:r>
            <a:r>
              <a:rPr lang="fr-FR"/>
              <a:t>≠0)</a:t>
            </a:r>
            <a:r>
              <a:rPr lang="en-US"/>
              <a:t> </a:t>
            </a:r>
          </a:p>
        </p:txBody>
      </p:sp>
      <p:sp>
        <p:nvSpPr>
          <p:cNvPr id="31" name="TextBox 30">
            <a:extLst>
              <a:ext uri="{FF2B5EF4-FFF2-40B4-BE49-F238E27FC236}">
                <a16:creationId xmlns:a16="http://schemas.microsoft.com/office/drawing/2014/main" id="{757A32F7-7A7B-EB53-D452-ABB17AB49DE6}"/>
              </a:ext>
            </a:extLst>
          </p:cNvPr>
          <p:cNvSpPr txBox="1"/>
          <p:nvPr/>
        </p:nvSpPr>
        <p:spPr>
          <a:xfrm>
            <a:off x="6410048" y="4644276"/>
            <a:ext cx="2133276" cy="369332"/>
          </a:xfrm>
          <a:prstGeom prst="rect">
            <a:avLst/>
          </a:prstGeom>
          <a:noFill/>
        </p:spPr>
        <p:txBody>
          <a:bodyPr wrap="none" rtlCol="0">
            <a:spAutoFit/>
          </a:bodyPr>
          <a:lstStyle/>
          <a:p>
            <a:r>
              <a:rPr lang="en-US"/>
              <a:t>N = </a:t>
            </a:r>
            <a:r>
              <a:rPr lang="en-US" err="1"/>
              <a:t>Schwingspielzahl</a:t>
            </a:r>
            <a:endParaRPr lang="en-US"/>
          </a:p>
        </p:txBody>
      </p:sp>
      <p:sp>
        <p:nvSpPr>
          <p:cNvPr id="34" name="Title 1">
            <a:extLst>
              <a:ext uri="{FF2B5EF4-FFF2-40B4-BE49-F238E27FC236}">
                <a16:creationId xmlns:a16="http://schemas.microsoft.com/office/drawing/2014/main" id="{DE6B1576-EC0C-66CB-EC57-19589DACC27B}"/>
              </a:ext>
            </a:extLst>
          </p:cNvPr>
          <p:cNvSpPr>
            <a:spLocks noGrp="1"/>
          </p:cNvSpPr>
          <p:nvPr>
            <p:ph type="title"/>
          </p:nvPr>
        </p:nvSpPr>
        <p:spPr>
          <a:xfrm>
            <a:off x="730518" y="399227"/>
            <a:ext cx="10724135" cy="652844"/>
          </a:xfrm>
        </p:spPr>
        <p:txBody>
          <a:bodyPr>
            <a:normAutofit fontScale="90000"/>
          </a:bodyPr>
          <a:lstStyle/>
          <a:p>
            <a:r>
              <a:rPr lang="en-US" err="1"/>
              <a:t>Ermüdung</a:t>
            </a:r>
            <a:r>
              <a:rPr lang="en-US"/>
              <a:t> - </a:t>
            </a:r>
            <a:r>
              <a:rPr lang="en-US" err="1"/>
              <a:t>Nomenklatur</a:t>
            </a:r>
            <a:r>
              <a:rPr lang="en-US"/>
              <a:t> für </a:t>
            </a:r>
            <a:r>
              <a:rPr lang="en-US" err="1"/>
              <a:t>WuF</a:t>
            </a:r>
            <a:endParaRPr lang="de-CH"/>
          </a:p>
        </p:txBody>
      </p:sp>
      <p:sp>
        <p:nvSpPr>
          <p:cNvPr id="35" name="TextBox 34">
            <a:extLst>
              <a:ext uri="{FF2B5EF4-FFF2-40B4-BE49-F238E27FC236}">
                <a16:creationId xmlns:a16="http://schemas.microsoft.com/office/drawing/2014/main" id="{1F48C030-B6BB-89AF-5CD9-DA4883156502}"/>
              </a:ext>
            </a:extLst>
          </p:cNvPr>
          <p:cNvSpPr txBox="1"/>
          <p:nvPr/>
        </p:nvSpPr>
        <p:spPr>
          <a:xfrm>
            <a:off x="989821" y="5610541"/>
            <a:ext cx="10328562" cy="646331"/>
          </a:xfrm>
          <a:prstGeom prst="rect">
            <a:avLst/>
          </a:prstGeom>
          <a:noFill/>
        </p:spPr>
        <p:txBody>
          <a:bodyPr wrap="square">
            <a:spAutoFit/>
          </a:bodyPr>
          <a:lstStyle/>
          <a:p>
            <a:r>
              <a:rPr lang="en-US" err="1"/>
              <a:t>Hinweis</a:t>
            </a:r>
            <a:r>
              <a:rPr lang="en-US"/>
              <a:t>: Es </a:t>
            </a:r>
            <a:r>
              <a:rPr lang="en-US" err="1"/>
              <a:t>gibt</a:t>
            </a:r>
            <a:r>
              <a:rPr lang="en-US"/>
              <a:t> </a:t>
            </a:r>
            <a:r>
              <a:rPr lang="en-US" err="1"/>
              <a:t>verschiedene</a:t>
            </a:r>
            <a:r>
              <a:rPr lang="en-US"/>
              <a:t> </a:t>
            </a:r>
            <a:r>
              <a:rPr lang="en-US" err="1"/>
              <a:t>Definitionen</a:t>
            </a:r>
            <a:r>
              <a:rPr lang="en-US"/>
              <a:t>, um es für </a:t>
            </a:r>
            <a:r>
              <a:rPr lang="en-US" err="1"/>
              <a:t>euch</a:t>
            </a:r>
            <a:r>
              <a:rPr lang="en-US"/>
              <a:t> </a:t>
            </a:r>
            <a:r>
              <a:rPr lang="en-US" err="1"/>
              <a:t>einfach</a:t>
            </a:r>
            <a:r>
              <a:rPr lang="en-US"/>
              <a:t> </a:t>
            </a:r>
            <a:r>
              <a:rPr lang="en-US" err="1"/>
              <a:t>zu</a:t>
            </a:r>
            <a:r>
              <a:rPr lang="en-US"/>
              <a:t> </a:t>
            </a:r>
            <a:r>
              <a:rPr lang="en-US" err="1"/>
              <a:t>machen</a:t>
            </a:r>
            <a:r>
              <a:rPr lang="en-US"/>
              <a:t>, </a:t>
            </a:r>
            <a:r>
              <a:rPr lang="en-US" err="1"/>
              <a:t>verwenden</a:t>
            </a:r>
            <a:r>
              <a:rPr lang="en-US"/>
              <a:t> </a:t>
            </a:r>
            <a:r>
              <a:rPr lang="en-US" err="1"/>
              <a:t>wir</a:t>
            </a:r>
            <a:r>
              <a:rPr lang="en-US"/>
              <a:t> in den </a:t>
            </a:r>
            <a:r>
              <a:rPr lang="en-US" err="1"/>
              <a:t>Übungen</a:t>
            </a:r>
            <a:r>
              <a:rPr lang="en-US"/>
              <a:t> von nun an </a:t>
            </a:r>
            <a:r>
              <a:rPr lang="en-US" err="1"/>
              <a:t>diese</a:t>
            </a:r>
            <a:r>
              <a:rPr lang="en-US"/>
              <a:t> </a:t>
            </a:r>
            <a:r>
              <a:rPr lang="en-US" err="1"/>
              <a:t>hier</a:t>
            </a:r>
            <a:r>
              <a:rPr lang="en-US"/>
              <a:t>.</a:t>
            </a:r>
            <a:endParaRPr lang="de-CH"/>
          </a:p>
        </p:txBody>
      </p:sp>
      <p:pic>
        <p:nvPicPr>
          <p:cNvPr id="38" name="Picture 37">
            <a:extLst>
              <a:ext uri="{FF2B5EF4-FFF2-40B4-BE49-F238E27FC236}">
                <a16:creationId xmlns:a16="http://schemas.microsoft.com/office/drawing/2014/main" id="{0497C940-4F0B-6253-44BB-5B2C2CB1A3C3}"/>
              </a:ext>
            </a:extLst>
          </p:cNvPr>
          <p:cNvPicPr>
            <a:picLocks noChangeAspect="1"/>
          </p:cNvPicPr>
          <p:nvPr/>
        </p:nvPicPr>
        <p:blipFill>
          <a:blip r:embed="rId3"/>
          <a:stretch>
            <a:fillRect/>
          </a:stretch>
        </p:blipFill>
        <p:spPr>
          <a:xfrm>
            <a:off x="6688521" y="134247"/>
            <a:ext cx="5345248" cy="1272051"/>
          </a:xfrm>
          <a:prstGeom prst="rect">
            <a:avLst/>
          </a:prstGeom>
        </p:spPr>
      </p:pic>
    </p:spTree>
    <p:extLst>
      <p:ext uri="{BB962C8B-B14F-4D97-AF65-F5344CB8AC3E}">
        <p14:creationId xmlns:p14="http://schemas.microsoft.com/office/powerpoint/2010/main" val="371608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824BE-E497-C88D-67BD-1F9DC6B9B02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746C43A-608C-FDB3-1752-7ABAE17A66CC}"/>
              </a:ext>
            </a:extLst>
          </p:cNvPr>
          <p:cNvSpPr>
            <a:spLocks noGrp="1"/>
          </p:cNvSpPr>
          <p:nvPr>
            <p:ph type="dt" sz="half" idx="10"/>
          </p:nvPr>
        </p:nvSpPr>
        <p:spPr/>
        <p:txBody>
          <a:bodyPr/>
          <a:lstStyle/>
          <a:p>
            <a:fld id="{D3025AE2-B6E6-4CA4-9602-9443BE64C74D}" type="datetime1">
              <a:rPr lang="de-DE" smtClean="0"/>
              <a:t>17.04.2025</a:t>
            </a:fld>
            <a:endParaRPr lang="en-GB"/>
          </a:p>
        </p:txBody>
      </p:sp>
      <p:sp>
        <p:nvSpPr>
          <p:cNvPr id="5" name="Slide Number Placeholder 4">
            <a:extLst>
              <a:ext uri="{FF2B5EF4-FFF2-40B4-BE49-F238E27FC236}">
                <a16:creationId xmlns:a16="http://schemas.microsoft.com/office/drawing/2014/main" id="{8F6F84C6-428F-9339-DC89-F1CAFE8E745E}"/>
              </a:ext>
            </a:extLst>
          </p:cNvPr>
          <p:cNvSpPr>
            <a:spLocks noGrp="1"/>
          </p:cNvSpPr>
          <p:nvPr>
            <p:ph type="sldNum" sz="quarter" idx="12"/>
          </p:nvPr>
        </p:nvSpPr>
        <p:spPr/>
        <p:txBody>
          <a:bodyPr/>
          <a:lstStyle/>
          <a:p>
            <a:fld id="{6C6AE60A-B69C-4790-82F7-3882EDF23186}" type="slidenum">
              <a:rPr lang="en-GB" smtClean="0"/>
              <a:pPr/>
              <a:t>8</a:t>
            </a:fld>
            <a:endParaRPr lang="en-GB"/>
          </a:p>
        </p:txBody>
      </p:sp>
      <p:sp>
        <p:nvSpPr>
          <p:cNvPr id="34" name="Title 1">
            <a:extLst>
              <a:ext uri="{FF2B5EF4-FFF2-40B4-BE49-F238E27FC236}">
                <a16:creationId xmlns:a16="http://schemas.microsoft.com/office/drawing/2014/main" id="{804BA7C8-1E9D-E812-C946-5FD2BCA645AF}"/>
              </a:ext>
            </a:extLst>
          </p:cNvPr>
          <p:cNvSpPr>
            <a:spLocks noGrp="1"/>
          </p:cNvSpPr>
          <p:nvPr>
            <p:ph type="title"/>
          </p:nvPr>
        </p:nvSpPr>
        <p:spPr>
          <a:xfrm>
            <a:off x="730518" y="399227"/>
            <a:ext cx="10724135" cy="652844"/>
          </a:xfrm>
        </p:spPr>
        <p:txBody>
          <a:bodyPr>
            <a:normAutofit fontScale="90000"/>
          </a:bodyPr>
          <a:lstStyle/>
          <a:p>
            <a:r>
              <a:rPr lang="en-US" err="1"/>
              <a:t>Nomenklatur</a:t>
            </a:r>
            <a:r>
              <a:rPr lang="en-US"/>
              <a:t> </a:t>
            </a:r>
            <a:r>
              <a:rPr lang="en-US" err="1"/>
              <a:t>Spannungen</a:t>
            </a:r>
            <a:endParaRPr lang="de-CH"/>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B973E824-AFE2-EF39-703F-FF9B21AD8775}"/>
                  </a:ext>
                </a:extLst>
              </p:cNvPr>
              <p:cNvGraphicFramePr>
                <a:graphicFrameLocks noGrp="1"/>
              </p:cNvGraphicFramePr>
              <p:nvPr/>
            </p:nvGraphicFramePr>
            <p:xfrm>
              <a:off x="76771" y="813984"/>
              <a:ext cx="12023122" cy="5725754"/>
            </p:xfrm>
            <a:graphic>
              <a:graphicData uri="http://schemas.openxmlformats.org/drawingml/2006/table">
                <a:tbl>
                  <a:tblPr firstRow="1" bandRow="1">
                    <a:tableStyleId>{5C22544A-7EE6-4342-B048-85BDC9FD1C3A}</a:tableStyleId>
                  </a:tblPr>
                  <a:tblGrid>
                    <a:gridCol w="3153442">
                      <a:extLst>
                        <a:ext uri="{9D8B030D-6E8A-4147-A177-3AD203B41FA5}">
                          <a16:colId xmlns:a16="http://schemas.microsoft.com/office/drawing/2014/main" val="1023299728"/>
                        </a:ext>
                      </a:extLst>
                    </a:gridCol>
                    <a:gridCol w="1444752">
                      <a:extLst>
                        <a:ext uri="{9D8B030D-6E8A-4147-A177-3AD203B41FA5}">
                          <a16:colId xmlns:a16="http://schemas.microsoft.com/office/drawing/2014/main" val="3780934004"/>
                        </a:ext>
                      </a:extLst>
                    </a:gridCol>
                    <a:gridCol w="1645920">
                      <a:extLst>
                        <a:ext uri="{9D8B030D-6E8A-4147-A177-3AD203B41FA5}">
                          <a16:colId xmlns:a16="http://schemas.microsoft.com/office/drawing/2014/main" val="586810632"/>
                        </a:ext>
                      </a:extLst>
                    </a:gridCol>
                    <a:gridCol w="1645920">
                      <a:extLst>
                        <a:ext uri="{9D8B030D-6E8A-4147-A177-3AD203B41FA5}">
                          <a16:colId xmlns:a16="http://schemas.microsoft.com/office/drawing/2014/main" val="1411294365"/>
                        </a:ext>
                      </a:extLst>
                    </a:gridCol>
                    <a:gridCol w="4133088">
                      <a:extLst>
                        <a:ext uri="{9D8B030D-6E8A-4147-A177-3AD203B41FA5}">
                          <a16:colId xmlns:a16="http://schemas.microsoft.com/office/drawing/2014/main" val="549475061"/>
                        </a:ext>
                      </a:extLst>
                    </a:gridCol>
                  </a:tblGrid>
                  <a:tr h="370840">
                    <a:tc>
                      <a:txBody>
                        <a:bodyPr/>
                        <a:lstStyle/>
                        <a:p>
                          <a:r>
                            <a:rPr lang="en-US" sz="1600"/>
                            <a:t>Name</a:t>
                          </a:r>
                          <a:endParaRPr lang="en-CH" sz="1600"/>
                        </a:p>
                      </a:txBody>
                      <a:tcPr/>
                    </a:tc>
                    <a:tc>
                      <a:txBody>
                        <a:bodyPr/>
                        <a:lstStyle/>
                        <a:p>
                          <a:r>
                            <a:rPr lang="en-US" sz="1600" err="1"/>
                            <a:t>Deutsches</a:t>
                          </a:r>
                          <a:r>
                            <a:rPr lang="en-US" sz="1600"/>
                            <a:t> Symbol</a:t>
                          </a:r>
                          <a:endParaRPr lang="en-CH" sz="1600"/>
                        </a:p>
                      </a:txBody>
                      <a:tcPr/>
                    </a:tc>
                    <a:tc>
                      <a:txBody>
                        <a:bodyPr/>
                        <a:lstStyle/>
                        <a:p>
                          <a:r>
                            <a:rPr lang="en-US" sz="1600" err="1"/>
                            <a:t>Internationales</a:t>
                          </a:r>
                          <a:r>
                            <a:rPr lang="en-US" sz="1600"/>
                            <a:t> Symbol</a:t>
                          </a:r>
                          <a:endParaRPr lang="en-CH" sz="1600"/>
                        </a:p>
                      </a:txBody>
                      <a:tcPr/>
                    </a:tc>
                    <a:tc>
                      <a:txBody>
                        <a:bodyPr/>
                        <a:lstStyle/>
                        <a:p>
                          <a:r>
                            <a:rPr lang="en-US" sz="1600" err="1"/>
                            <a:t>Berechnung</a:t>
                          </a:r>
                          <a:endParaRPr lang="en-CH" sz="1600"/>
                        </a:p>
                      </a:txBody>
                      <a:tcPr/>
                    </a:tc>
                    <a:tc>
                      <a:txBody>
                        <a:bodyPr/>
                        <a:lstStyle/>
                        <a:p>
                          <a:r>
                            <a:rPr lang="en-US" sz="1600" err="1"/>
                            <a:t>Kommentar</a:t>
                          </a:r>
                          <a:endParaRPr lang="en-CH" sz="1600"/>
                        </a:p>
                      </a:txBody>
                      <a:tcPr/>
                    </a:tc>
                    <a:extLst>
                      <a:ext uri="{0D108BD9-81ED-4DB2-BD59-A6C34878D82A}">
                        <a16:rowId xmlns:a16="http://schemas.microsoft.com/office/drawing/2014/main" val="4286053019"/>
                      </a:ext>
                    </a:extLst>
                  </a:tr>
                  <a:tr h="439442">
                    <a:tc>
                      <a:txBody>
                        <a:bodyPr/>
                        <a:lstStyle/>
                        <a:p>
                          <a:r>
                            <a:rPr lang="en-US" sz="1600" err="1"/>
                            <a:t>Spannung</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𝜎</m:t>
                                </m:r>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𝜎</m:t>
                                </m:r>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𝜎</m:t>
                                </m:r>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𝐹</m:t>
                                        </m:r>
                                      </m:num>
                                      <m:den>
                                        <m:r>
                                          <a:rPr lang="en-US" sz="1600" b="0" i="1" smtClean="0">
                                            <a:latin typeface="Cambria Math" panose="02040503050406030204" pitchFamily="18" charset="0"/>
                                          </a:rPr>
                                          <m:t>𝐴</m:t>
                                        </m:r>
                                      </m:den>
                                    </m:f>
                                  </m:e>
                                </m:box>
                              </m:oMath>
                            </m:oMathPara>
                          </a14:m>
                          <a:endParaRPr lang="en-CH" sz="1600"/>
                        </a:p>
                      </a:txBody>
                      <a:tcPr/>
                    </a:tc>
                    <a:tc>
                      <a:txBody>
                        <a:bodyPr/>
                        <a:lstStyle/>
                        <a:p>
                          <a:endParaRPr lang="en-CH" sz="1600"/>
                        </a:p>
                      </a:txBody>
                      <a:tcPr/>
                    </a:tc>
                    <a:extLst>
                      <a:ext uri="{0D108BD9-81ED-4DB2-BD59-A6C34878D82A}">
                        <a16:rowId xmlns:a16="http://schemas.microsoft.com/office/drawing/2014/main" val="3607785223"/>
                      </a:ext>
                    </a:extLst>
                  </a:tr>
                  <a:tr h="370840">
                    <a:tc>
                      <a:txBody>
                        <a:bodyPr/>
                        <a:lstStyle/>
                        <a:p>
                          <a:r>
                            <a:rPr lang="en-US" sz="1600" err="1"/>
                            <a:t>Oberspannung</a:t>
                          </a:r>
                          <a:r>
                            <a:rPr lang="en-US" sz="1600"/>
                            <a:t> / Max. </a:t>
                          </a:r>
                          <a:r>
                            <a:rPr lang="en-US" sz="1600" err="1"/>
                            <a:t>Spannung</a:t>
                          </a:r>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O</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max</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O</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𝑚</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𝑎</m:t>
                                    </m:r>
                                  </m:sub>
                                </m:sSub>
                              </m:oMath>
                            </m:oMathPara>
                          </a14:m>
                          <a:endParaRPr lang="en-CH" sz="1600"/>
                        </a:p>
                      </a:txBody>
                      <a:tcPr/>
                    </a:tc>
                    <a:tc>
                      <a:txBody>
                        <a:bodyPr/>
                        <a:lstStyle/>
                        <a:p>
                          <a:endParaRPr lang="en-CH" sz="1600"/>
                        </a:p>
                      </a:txBody>
                      <a:tcPr/>
                    </a:tc>
                    <a:extLst>
                      <a:ext uri="{0D108BD9-81ED-4DB2-BD59-A6C34878D82A}">
                        <a16:rowId xmlns:a16="http://schemas.microsoft.com/office/drawing/2014/main" val="3200396224"/>
                      </a:ext>
                    </a:extLst>
                  </a:tr>
                  <a:tr h="370840">
                    <a:tc>
                      <a:txBody>
                        <a:bodyPr/>
                        <a:lstStyle/>
                        <a:p>
                          <a:r>
                            <a:rPr lang="en-US" sz="1600" err="1"/>
                            <a:t>Unterspannung</a:t>
                          </a:r>
                          <a:r>
                            <a:rPr lang="en-US" sz="1600"/>
                            <a:t> / Min. </a:t>
                          </a:r>
                          <a:r>
                            <a:rPr lang="en-US" sz="1600" err="1"/>
                            <a:t>Spannung</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U</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min</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U</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𝑚</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𝑎</m:t>
                                    </m:r>
                                  </m:sub>
                                </m:sSub>
                              </m:oMath>
                            </m:oMathPara>
                          </a14:m>
                          <a:endParaRPr lang="en-CH" sz="1600"/>
                        </a:p>
                      </a:txBody>
                      <a:tcPr/>
                    </a:tc>
                    <a:tc>
                      <a:txBody>
                        <a:bodyPr/>
                        <a:lstStyle/>
                        <a:p>
                          <a:endParaRPr lang="en-CH" sz="1600"/>
                        </a:p>
                      </a:txBody>
                      <a:tcPr/>
                    </a:tc>
                    <a:extLst>
                      <a:ext uri="{0D108BD9-81ED-4DB2-BD59-A6C34878D82A}">
                        <a16:rowId xmlns:a16="http://schemas.microsoft.com/office/drawing/2014/main" val="3816600010"/>
                      </a:ext>
                    </a:extLst>
                  </a:tr>
                  <a:tr h="370840">
                    <a:tc>
                      <a:txBody>
                        <a:bodyPr/>
                        <a:lstStyle/>
                        <a:p>
                          <a:r>
                            <a:rPr lang="de-CH" sz="1600" b="0">
                              <a:solidFill>
                                <a:schemeClr val="tx1"/>
                              </a:solidFill>
                            </a:rPr>
                            <a:t>Spannungsbereich / max. Spannungsausschlag </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r>
                                  <m:rPr>
                                    <m:sty m:val="p"/>
                                  </m:rPr>
                                  <a:rPr lang="en-US" sz="1600" b="0" i="0" smtClean="0">
                                    <a:latin typeface="Cambria Math" panose="02040503050406030204" pitchFamily="18" charset="0"/>
                                  </a:rPr>
                                  <m:t>Δ</m:t>
                                </m:r>
                                <m:r>
                                  <a:rPr lang="en-US" sz="1600" b="0" i="1" smtClean="0">
                                    <a:latin typeface="Cambria Math" panose="02040503050406030204" pitchFamily="18" charset="0"/>
                                  </a:rPr>
                                  <m:t>𝜎</m:t>
                                </m:r>
                                <m:r>
                                  <a:rPr lang="en-US" sz="1600" b="0" i="1" smtClean="0">
                                    <a:latin typeface="Cambria Math" panose="02040503050406030204" pitchFamily="18" charset="0"/>
                                  </a:rPr>
                                  <m:t> </m:t>
                                </m:r>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range</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1600" b="0" i="0" smtClean="0">
                                    <a:latin typeface="Cambria Math" panose="02040503050406030204" pitchFamily="18" charset="0"/>
                                  </a:rPr>
                                  <m:t>Δ</m:t>
                                </m:r>
                                <m:r>
                                  <a:rPr lang="en-US" sz="1600" b="0" i="1" smtClean="0">
                                    <a:latin typeface="Cambria Math" panose="02040503050406030204" pitchFamily="18" charset="0"/>
                                  </a:rPr>
                                  <m:t>𝜎</m:t>
                                </m:r>
                                <m:r>
                                  <a:rPr lang="en-US" sz="1600" b="0" i="1" smtClean="0">
                                    <a:latin typeface="Cambria Math" panose="02040503050406030204" pitchFamily="18" charset="0"/>
                                  </a:rPr>
                                  <m:t>=</m:t>
                                </m:r>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r>
                                      <a:rPr lang="en-US" sz="1600" b="0" i="1" smtClean="0">
                                        <a:latin typeface="Cambria Math" panose="02040503050406030204" pitchFamily="18" charset="0"/>
                                      </a:rPr>
                                      <m:t>𝑂</m:t>
                                    </m:r>
                                  </m:sub>
                                </m:sSub>
                                <m:r>
                                  <a:rPr lang="en-US" sz="1600" i="1">
                                    <a:latin typeface="Cambria Math" panose="02040503050406030204" pitchFamily="18" charset="0"/>
                                  </a:rPr>
                                  <m:t>−</m:t>
                                </m:r>
                                <m:sSub>
                                  <m:sSubPr>
                                    <m:ctrlPr>
                                      <a:rPr lang="en-GB" sz="1600" i="1">
                                        <a:latin typeface="Cambria Math" panose="02040503050406030204" pitchFamily="18" charset="0"/>
                                      </a:rPr>
                                    </m:ctrlPr>
                                  </m:sSubPr>
                                  <m:e>
                                    <m:r>
                                      <m:rPr>
                                        <m:sty m:val="p"/>
                                      </m:rPr>
                                      <a:rPr lang="en-GB" sz="1600" i="1">
                                        <a:latin typeface="Cambria Math" panose="02040503050406030204" pitchFamily="18" charset="0"/>
                                      </a:rPr>
                                      <m:t>σ</m:t>
                                    </m:r>
                                  </m:e>
                                  <m:sub>
                                    <m:r>
                                      <a:rPr lang="en-US" sz="1600" b="0" i="1" smtClean="0">
                                        <a:latin typeface="Cambria Math" panose="02040503050406030204" pitchFamily="18" charset="0"/>
                                      </a:rPr>
                                      <m:t>𝑈</m:t>
                                    </m:r>
                                  </m:sub>
                                </m:sSub>
                              </m:oMath>
                            </m:oMathPara>
                          </a14:m>
                          <a:endParaRPr lang="en-CH" sz="1600"/>
                        </a:p>
                      </a:txBody>
                      <a:tcPr/>
                    </a:tc>
                    <a:tc>
                      <a:txBody>
                        <a:bodyPr/>
                        <a:lstStyle/>
                        <a:p>
                          <a:endParaRPr lang="en-CH" sz="1600"/>
                        </a:p>
                      </a:txBody>
                      <a:tcPr/>
                    </a:tc>
                    <a:extLst>
                      <a:ext uri="{0D108BD9-81ED-4DB2-BD59-A6C34878D82A}">
                        <a16:rowId xmlns:a16="http://schemas.microsoft.com/office/drawing/2014/main" val="1189448053"/>
                      </a:ext>
                    </a:extLst>
                  </a:tr>
                  <a:tr h="0">
                    <a:tc>
                      <a:txBody>
                        <a:bodyPr/>
                        <a:lstStyle/>
                        <a:p>
                          <a:r>
                            <a:rPr lang="en-US" sz="1600" err="1"/>
                            <a:t>Spannungsamplitude</a:t>
                          </a:r>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𝑎</m:t>
                                    </m:r>
                                  </m:sub>
                                </m:sSub>
                              </m:oMath>
                            </m:oMathPara>
                          </a14:m>
                          <a:endParaRPr lang="en-CH" sz="1600"/>
                        </a:p>
                      </a:txBody>
                      <a:tcPr/>
                    </a:tc>
                    <a:tc>
                      <a:txBody>
                        <a:bodyPr/>
                        <a:lstStyle/>
                        <a:p>
                          <a:pPr algn="ct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𝑎</m:t>
                                  </m:r>
                                </m:sub>
                              </m:sSub>
                            </m:oMath>
                          </a14:m>
                          <a:r>
                            <a:rPr lang="en-US" sz="1600"/>
                            <a:t> oder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𝑎𝑙𝑡</m:t>
                                  </m:r>
                                </m:sub>
                              </m:sSub>
                            </m:oMath>
                          </a14:m>
                          <a:endParaRPr lang="en-CH" sz="1600"/>
                        </a:p>
                      </a:txBody>
                      <a:tcPr/>
                    </a:tc>
                    <a:tc>
                      <a:txBody>
                        <a:bodyPr/>
                        <a:lstStyle/>
                        <a:p>
                          <a:pPr algn="ctr"/>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𝜎</m:t>
                                  </m:r>
                                </m:e>
                                <m:sub>
                                  <m:r>
                                    <a:rPr lang="en-US" sz="1600" i="1">
                                      <a:latin typeface="Cambria Math" panose="02040503050406030204" pitchFamily="18" charset="0"/>
                                    </a:rPr>
                                    <m:t>𝑎</m:t>
                                  </m:r>
                                </m:sub>
                              </m:sSub>
                              <m:r>
                                <a:rPr lang="en-US" sz="1600" i="1">
                                  <a:latin typeface="Cambria Math" panose="02040503050406030204" pitchFamily="18" charset="0"/>
                                </a:rPr>
                                <m:t>=</m:t>
                              </m:r>
                            </m:oMath>
                          </a14:m>
                          <a:r>
                            <a:rPr lang="en-GB" sz="1600"/>
                            <a:t> </a:t>
                          </a:r>
                          <a14:m>
                            <m:oMath xmlns:m="http://schemas.openxmlformats.org/officeDocument/2006/math">
                              <m:f>
                                <m:fPr>
                                  <m:ctrlPr>
                                    <a:rPr lang="en-US" sz="1600" i="1">
                                      <a:latin typeface="Cambria Math" panose="02040503050406030204" pitchFamily="18" charset="0"/>
                                    </a:rPr>
                                  </m:ctrlPr>
                                </m:fPr>
                                <m:num>
                                  <m:r>
                                    <m:rPr>
                                      <m:sty m:val="p"/>
                                    </m:rPr>
                                    <a:rPr lang="en-US" sz="1600" b="0" i="0" smtClean="0">
                                      <a:latin typeface="Cambria Math" panose="02040503050406030204" pitchFamily="18" charset="0"/>
                                    </a:rPr>
                                    <m:t>Δ</m:t>
                                  </m:r>
                                  <m:r>
                                    <a:rPr lang="en-US" sz="1600" b="0" i="1" smtClean="0">
                                      <a:latin typeface="Cambria Math" panose="02040503050406030204" pitchFamily="18" charset="0"/>
                                    </a:rPr>
                                    <m:t>𝜎</m:t>
                                  </m:r>
                                </m:num>
                                <m:den>
                                  <m:r>
                                    <a:rPr lang="en-US" sz="1600" i="1">
                                      <a:latin typeface="Cambria Math" panose="02040503050406030204" pitchFamily="18" charset="0"/>
                                    </a:rPr>
                                    <m:t>2</m:t>
                                  </m:r>
                                </m:den>
                              </m:f>
                              <m:r>
                                <a:rPr lang="en-US" sz="1600" b="0" i="1" smtClean="0">
                                  <a:latin typeface="Cambria Math" panose="02040503050406030204" pitchFamily="18" charset="0"/>
                                </a:rPr>
                                <m:t> </m:t>
                              </m:r>
                            </m:oMath>
                          </a14:m>
                          <a:endParaRPr lang="en-CH" sz="1600"/>
                        </a:p>
                      </a:txBody>
                      <a:tcPr/>
                    </a:tc>
                    <a:tc>
                      <a:txBody>
                        <a:bodyPr/>
                        <a:lstStyle/>
                        <a:p>
                          <a:endParaRPr lang="en-CH" sz="1600"/>
                        </a:p>
                      </a:txBody>
                      <a:tcPr/>
                    </a:tc>
                    <a:extLst>
                      <a:ext uri="{0D108BD9-81ED-4DB2-BD59-A6C34878D82A}">
                        <a16:rowId xmlns:a16="http://schemas.microsoft.com/office/drawing/2014/main" val="631225806"/>
                      </a:ext>
                    </a:extLst>
                  </a:tr>
                  <a:tr h="370840">
                    <a:tc>
                      <a:txBody>
                        <a:bodyPr/>
                        <a:lstStyle/>
                        <a:p>
                          <a:r>
                            <a:rPr lang="en-US" sz="1600" err="1"/>
                            <a:t>Mittelspannung</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𝑚</m:t>
                                    </m:r>
                                  </m:sub>
                                </m:sSub>
                              </m:oMath>
                            </m:oMathPara>
                          </a14:m>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m:rPr>
                                        <m:sty m:val="p"/>
                                      </m:rPr>
                                      <a:rPr lang="en-US" sz="1600" b="0" i="0" smtClean="0">
                                        <a:latin typeface="Cambria Math" panose="02040503050406030204" pitchFamily="18" charset="0"/>
                                      </a:rPr>
                                      <m:t>mean</m:t>
                                    </m:r>
                                  </m:sub>
                                </m:sSub>
                              </m:oMath>
                            </m:oMathPara>
                          </a14:m>
                          <a:endParaRPr lang="en-CH" sz="1600"/>
                        </a:p>
                      </a:txBody>
                      <a:tcPr/>
                    </a:tc>
                    <a:tc>
                      <a:txBody>
                        <a:bodyPr/>
                        <a:lstStyle/>
                        <a:p>
                          <a:pPr algn="ctr"/>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𝜎</m:t>
                                  </m:r>
                                </m:e>
                                <m:sub>
                                  <m:r>
                                    <a:rPr lang="en-US" sz="1600" i="1">
                                      <a:latin typeface="Cambria Math" panose="02040503050406030204" pitchFamily="18" charset="0"/>
                                    </a:rPr>
                                    <m:t>𝑚</m:t>
                                  </m:r>
                                </m:sub>
                              </m:sSub>
                              <m:r>
                                <a:rPr lang="en-US" sz="1600" i="1">
                                  <a:latin typeface="Cambria Math" panose="02040503050406030204" pitchFamily="18" charset="0"/>
                                </a:rPr>
                                <m:t>=</m:t>
                              </m:r>
                            </m:oMath>
                          </a14:m>
                          <a:r>
                            <a:rPr lang="en-GB" sz="1600"/>
                            <a:t> </a:t>
                          </a:r>
                          <a14:m>
                            <m:oMath xmlns:m="http://schemas.openxmlformats.org/officeDocument/2006/math">
                              <m:f>
                                <m:fPr>
                                  <m:ctrlPr>
                                    <a:rPr lang="en-US" sz="1600" i="1">
                                      <a:latin typeface="Cambria Math" panose="02040503050406030204" pitchFamily="18" charset="0"/>
                                    </a:rPr>
                                  </m:ctrlPr>
                                </m:fPr>
                                <m:num>
                                  <m:sSub>
                                    <m:sSubPr>
                                      <m:ctrlPr>
                                        <a:rPr lang="en-GB" sz="1600" i="1">
                                          <a:latin typeface="Cambria Math" panose="02040503050406030204" pitchFamily="18" charset="0"/>
                                        </a:rPr>
                                      </m:ctrlPr>
                                    </m:sSubPr>
                                    <m:e>
                                      <m:r>
                                        <m:rPr>
                                          <m:sty m:val="p"/>
                                        </m:rPr>
                                        <a:rPr lang="en-GB" sz="1600" i="1">
                                          <a:latin typeface="Cambria Math" panose="02040503050406030204" pitchFamily="18" charset="0"/>
                                        </a:rPr>
                                        <m:t>σ</m:t>
                                      </m:r>
                                    </m:e>
                                    <m:sub>
                                      <m:r>
                                        <a:rPr lang="en-US" sz="1600" b="0" i="1" smtClean="0">
                                          <a:latin typeface="Cambria Math" panose="02040503050406030204" pitchFamily="18" charset="0"/>
                                        </a:rPr>
                                        <m:t>𝑂</m:t>
                                      </m:r>
                                    </m:sub>
                                  </m:sSub>
                                  <m:r>
                                    <a:rPr lang="en-US" sz="1600" i="1">
                                      <a:latin typeface="Cambria Math" panose="02040503050406030204" pitchFamily="18" charset="0"/>
                                    </a:rPr>
                                    <m:t>+</m:t>
                                  </m:r>
                                  <m:sSub>
                                    <m:sSubPr>
                                      <m:ctrlPr>
                                        <a:rPr lang="en-GB" sz="1600" i="1">
                                          <a:latin typeface="Cambria Math" panose="02040503050406030204" pitchFamily="18" charset="0"/>
                                        </a:rPr>
                                      </m:ctrlPr>
                                    </m:sSubPr>
                                    <m:e>
                                      <m:r>
                                        <m:rPr>
                                          <m:sty m:val="p"/>
                                        </m:rPr>
                                        <a:rPr lang="en-GB" sz="1600" i="1">
                                          <a:latin typeface="Cambria Math" panose="02040503050406030204" pitchFamily="18" charset="0"/>
                                        </a:rPr>
                                        <m:t>σ</m:t>
                                      </m:r>
                                    </m:e>
                                    <m:sub>
                                      <m:r>
                                        <a:rPr lang="en-US" sz="1600" b="0" i="1" smtClean="0">
                                          <a:latin typeface="Cambria Math" panose="02040503050406030204" pitchFamily="18" charset="0"/>
                                        </a:rPr>
                                        <m:t>𝑈</m:t>
                                      </m:r>
                                    </m:sub>
                                  </m:sSub>
                                </m:num>
                                <m:den>
                                  <m:r>
                                    <a:rPr lang="en-US" sz="1600" i="1">
                                      <a:latin typeface="Cambria Math" panose="02040503050406030204" pitchFamily="18" charset="0"/>
                                    </a:rPr>
                                    <m:t>2</m:t>
                                  </m:r>
                                </m:den>
                              </m:f>
                            </m:oMath>
                          </a14:m>
                          <a:endParaRPr lang="en-CH" sz="1600"/>
                        </a:p>
                      </a:txBody>
                      <a:tcPr/>
                    </a:tc>
                    <a:tc>
                      <a:txBody>
                        <a:bodyPr/>
                        <a:lstStyle/>
                        <a:p>
                          <a:endParaRPr lang="en-CH" sz="1600"/>
                        </a:p>
                      </a:txBody>
                      <a:tcPr/>
                    </a:tc>
                    <a:extLst>
                      <a:ext uri="{0D108BD9-81ED-4DB2-BD59-A6C34878D82A}">
                        <a16:rowId xmlns:a16="http://schemas.microsoft.com/office/drawing/2014/main" val="1416283036"/>
                      </a:ext>
                    </a:extLst>
                  </a:tr>
                  <a:tr h="370840">
                    <a:tc>
                      <a:txBody>
                        <a:bodyPr/>
                        <a:lstStyle/>
                        <a:p>
                          <a:r>
                            <a:rPr lang="en-US" sz="1600" err="1"/>
                            <a:t>Wechselfestigkeit</a:t>
                          </a:r>
                          <a:r>
                            <a:rPr lang="en-US" sz="1600"/>
                            <a:t> / </a:t>
                          </a:r>
                          <a:r>
                            <a:rPr lang="en-US" sz="1600" err="1"/>
                            <a:t>Wechselbeanspruchung</a:t>
                          </a:r>
                          <a:endParaRPr lang="en-CH" sz="1600"/>
                        </a:p>
                      </a:txBody>
                      <a:tcPr/>
                    </a:tc>
                    <a:tc>
                      <a:txBody>
                        <a:bodyPr/>
                        <a:lstStyle/>
                        <a:p>
                          <a:pPr algn="ctr"/>
                          <a14:m>
                            <m:oMath xmlns:m="http://schemas.openxmlformats.org/officeDocument/2006/math">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r>
                                    <m:rPr>
                                      <m:sty m:val="p"/>
                                    </m:rPr>
                                    <a:rPr lang="en-US" sz="1600">
                                      <a:latin typeface="Cambria Math" panose="02040503050406030204" pitchFamily="18" charset="0"/>
                                    </a:rPr>
                                    <m:t>W</m:t>
                                  </m:r>
                                </m:sub>
                              </m:sSub>
                            </m:oMath>
                          </a14:m>
                          <a:r>
                            <a:rPr lang="en-US" sz="1600"/>
                            <a:t> </a:t>
                          </a:r>
                          <a:br>
                            <a:rPr lang="en-US" sz="1600"/>
                          </a:b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sz="1600" i="1" smtClean="0">
                                        <a:latin typeface="Cambria Math" panose="02040503050406030204" pitchFamily="18" charset="0"/>
                                      </a:rPr>
                                    </m:ctrlPr>
                                  </m:sSubSupPr>
                                  <m:e>
                                    <m:r>
                                      <m:rPr>
                                        <m:sty m:val="p"/>
                                      </m:rPr>
                                      <a:rPr lang="en-GB" sz="1600" i="1">
                                        <a:latin typeface="Cambria Math" panose="02040503050406030204" pitchFamily="18" charset="0"/>
                                      </a:rPr>
                                      <m:t>σ</m:t>
                                    </m:r>
                                  </m:e>
                                  <m:sub>
                                    <m:r>
                                      <a:rPr lang="en-GB" sz="1600" i="1">
                                        <a:latin typeface="Cambria Math" panose="02040503050406030204" pitchFamily="18" charset="0"/>
                                      </a:rPr>
                                      <m:t>𝑎</m:t>
                                    </m:r>
                                  </m:sub>
                                  <m:sup>
                                    <m:r>
                                      <a:rPr lang="en-US" sz="1600" i="1">
                                        <a:latin typeface="Cambria Math" panose="02040503050406030204" pitchFamily="18" charset="0"/>
                                      </a:rPr>
                                      <m:t>0</m:t>
                                    </m:r>
                                  </m:sup>
                                </m:sSubSup>
                              </m:oMath>
                            </m:oMathPara>
                          </a14:m>
                          <a:endParaRPr lang="en-CH" sz="1600"/>
                        </a:p>
                      </a:txBody>
                      <a:tcPr/>
                    </a:tc>
                    <a:tc>
                      <a:txBody>
                        <a:bodyPr/>
                        <a:lstStyle/>
                        <a:p>
                          <a:pPr algn="ctr"/>
                          <a:endParaRPr lang="en-CH" sz="1600"/>
                        </a:p>
                      </a:txBody>
                      <a:tcPr/>
                    </a:tc>
                    <a:tc>
                      <a:txBody>
                        <a:bodyPr/>
                        <a:lstStyle/>
                        <a:p>
                          <a14:m>
                            <m:oMath xmlns:m="http://schemas.openxmlformats.org/officeDocument/2006/math">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r>
                                    <a:rPr lang="en-GB" sz="1600" i="1">
                                      <a:latin typeface="Cambria Math" panose="02040503050406030204" pitchFamily="18" charset="0"/>
                                    </a:rPr>
                                    <m:t>𝑎</m:t>
                                  </m:r>
                                </m:sub>
                              </m:sSub>
                              <m:r>
                                <a:rPr lang="en-GB" sz="1600" i="1">
                                  <a:latin typeface="Cambria Math" panose="02040503050406030204" pitchFamily="18" charset="0"/>
                                </a:rPr>
                                <m:t> </m:t>
                              </m:r>
                            </m:oMath>
                          </a14:m>
                          <a:r>
                            <a:rPr lang="en-US" sz="1600"/>
                            <a:t>mit </a:t>
                          </a:r>
                          <a14:m>
                            <m:oMath xmlns:m="http://schemas.openxmlformats.org/officeDocument/2006/math">
                              <m:sSub>
                                <m:sSubPr>
                                  <m:ctrlPr>
                                    <a:rPr lang="en-GB" sz="1600" i="1">
                                      <a:latin typeface="Cambria Math" panose="02040503050406030204" pitchFamily="18" charset="0"/>
                                    </a:rPr>
                                  </m:ctrlPr>
                                </m:sSubPr>
                                <m:e>
                                  <m:r>
                                    <m:rPr>
                                      <m:sty m:val="p"/>
                                    </m:rPr>
                                    <a:rPr lang="en-GB" sz="1600" i="1">
                                      <a:latin typeface="Cambria Math" panose="02040503050406030204" pitchFamily="18" charset="0"/>
                                    </a:rPr>
                                    <m:t>σ</m:t>
                                  </m:r>
                                </m:e>
                                <m:sub>
                                  <m:r>
                                    <a:rPr lang="en-US" sz="1600" i="1">
                                      <a:latin typeface="Cambria Math" panose="02040503050406030204" pitchFamily="18" charset="0"/>
                                    </a:rPr>
                                    <m:t>𝑚</m:t>
                                  </m:r>
                                </m:sub>
                              </m:sSub>
                              <m:r>
                                <a:rPr lang="en-US" sz="1600" b="0" i="1" smtClean="0">
                                  <a:latin typeface="Cambria Math" panose="02040503050406030204" pitchFamily="18" charset="0"/>
                                </a:rPr>
                                <m:t>=</m:t>
                              </m:r>
                              <m:r>
                                <a:rPr lang="en-US" sz="1600" i="1">
                                  <a:latin typeface="Cambria Math" panose="02040503050406030204" pitchFamily="18" charset="0"/>
                                </a:rPr>
                                <m:t>0</m:t>
                              </m:r>
                            </m:oMath>
                          </a14:m>
                          <a:r>
                            <a:rPr lang="en-US" sz="1600"/>
                            <a:t>, max. </a:t>
                          </a:r>
                          <a:r>
                            <a:rPr lang="en-US" sz="1600" err="1"/>
                            <a:t>Spannungsamplitude</a:t>
                          </a:r>
                          <a:r>
                            <a:rPr lang="en-US" sz="1600"/>
                            <a:t> </a:t>
                          </a:r>
                          <a:r>
                            <a:rPr lang="en-US" sz="1600" err="1"/>
                            <a:t>im</a:t>
                          </a:r>
                          <a:r>
                            <a:rPr lang="en-US" sz="1600"/>
                            <a:t> </a:t>
                          </a:r>
                          <a:r>
                            <a:rPr lang="en-US" sz="1600" err="1"/>
                            <a:t>Langzeitfestigkeitsbereich</a:t>
                          </a:r>
                          <a:endParaRPr lang="en-CH" sz="1600"/>
                        </a:p>
                      </a:txBody>
                      <a:tcPr/>
                    </a:tc>
                    <a:extLst>
                      <a:ext uri="{0D108BD9-81ED-4DB2-BD59-A6C34878D82A}">
                        <a16:rowId xmlns:a16="http://schemas.microsoft.com/office/drawing/2014/main" val="2143071053"/>
                      </a:ext>
                    </a:extLst>
                  </a:tr>
                  <a:tr h="37084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sz="1600" err="1"/>
                            <a:t>Dauerschwingfestigkeit</a:t>
                          </a:r>
                          <a:r>
                            <a:rPr lang="en-US" sz="1600"/>
                            <a:t> / </a:t>
                          </a:r>
                          <a:r>
                            <a:rPr lang="en-US" sz="1600" err="1"/>
                            <a:t>Dauerfestigkeit</a:t>
                          </a:r>
                          <a:r>
                            <a:rPr lang="en-US" sz="1600"/>
                            <a:t> / </a:t>
                          </a:r>
                          <a:r>
                            <a:rPr lang="en-US" sz="1600" err="1"/>
                            <a:t>Schwellbeanspruchung</a:t>
                          </a:r>
                          <a:endParaRPr lang="en-US"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rPr>
                                    </m:ctrlPr>
                                  </m:sSubPr>
                                  <m:e>
                                    <m:r>
                                      <m:rPr>
                                        <m:sty m:val="p"/>
                                      </m:rPr>
                                      <a:rPr lang="en-GB" sz="1600" i="1">
                                        <a:latin typeface="Cambria Math" panose="02040503050406030204" pitchFamily="18" charset="0"/>
                                      </a:rPr>
                                      <m:t>σ</m:t>
                                    </m:r>
                                  </m:e>
                                  <m:sub>
                                    <m:r>
                                      <m:rPr>
                                        <m:sty m:val="p"/>
                                      </m:rPr>
                                      <a:rPr lang="en-US" sz="1600">
                                        <a:latin typeface="Cambria Math" panose="02040503050406030204" pitchFamily="18" charset="0"/>
                                      </a:rPr>
                                      <m:t>D</m:t>
                                    </m:r>
                                  </m:sub>
                                </m:sSub>
                              </m:oMath>
                            </m:oMathPara>
                          </a14:m>
                          <a:endParaRPr lang="en-CH" sz="1600"/>
                        </a:p>
                      </a:txBody>
                      <a:tcPr/>
                    </a:tc>
                    <a:tc>
                      <a:txBody>
                        <a:bodyPr/>
                        <a:lstStyle/>
                        <a:p>
                          <a:pPr algn="ctr"/>
                          <a:r>
                            <a:rPr lang="en-US" sz="1600"/>
                            <a:t>- (no extra symbol)</a:t>
                          </a:r>
                          <a:endParaRPr lang="en-CH" sz="1600"/>
                        </a:p>
                      </a:txBody>
                      <a:tcPr/>
                    </a:tc>
                    <a:tc>
                      <a:txBody>
                        <a:bodyPr/>
                        <a:lstStyle/>
                        <a:p>
                          <a:pPr algn="ctr"/>
                          <a:endParaRPr lang="en-CH" sz="1600"/>
                        </a:p>
                      </a:txBody>
                      <a:tcPr/>
                    </a:tc>
                    <a:tc>
                      <a:txBody>
                        <a:bodyPr/>
                        <a:lstStyle/>
                        <a:p>
                          <a14:m>
                            <m:oMath xmlns:m="http://schemas.openxmlformats.org/officeDocument/2006/math">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r>
                                    <a:rPr lang="en-GB" sz="1600" i="1">
                                      <a:latin typeface="Cambria Math" panose="02040503050406030204" pitchFamily="18" charset="0"/>
                                    </a:rPr>
                                    <m:t>𝑎</m:t>
                                  </m:r>
                                </m:sub>
                              </m:sSub>
                              <m:r>
                                <a:rPr lang="en-GB" sz="1600" i="1">
                                  <a:latin typeface="Cambria Math" panose="02040503050406030204" pitchFamily="18" charset="0"/>
                                </a:rPr>
                                <m:t> </m:t>
                              </m:r>
                            </m:oMath>
                          </a14:m>
                          <a:r>
                            <a:rPr lang="en-US" sz="1600"/>
                            <a:t>mit </a:t>
                          </a:r>
                          <a14:m>
                            <m:oMath xmlns:m="http://schemas.openxmlformats.org/officeDocument/2006/math">
                              <m:sSub>
                                <m:sSubPr>
                                  <m:ctrlPr>
                                    <a:rPr lang="en-GB" sz="1600" i="1">
                                      <a:latin typeface="Cambria Math" panose="02040503050406030204" pitchFamily="18" charset="0"/>
                                    </a:rPr>
                                  </m:ctrlPr>
                                </m:sSubPr>
                                <m:e>
                                  <m:r>
                                    <m:rPr>
                                      <m:sty m:val="p"/>
                                    </m:rPr>
                                    <a:rPr lang="en-GB" sz="1600" i="1">
                                      <a:latin typeface="Cambria Math" panose="02040503050406030204" pitchFamily="18" charset="0"/>
                                    </a:rPr>
                                    <m:t>σ</m:t>
                                  </m:r>
                                </m:e>
                                <m:sub>
                                  <m:r>
                                    <a:rPr lang="en-US" sz="1600" i="1">
                                      <a:latin typeface="Cambria Math" panose="02040503050406030204" pitchFamily="18" charset="0"/>
                                    </a:rPr>
                                    <m:t>𝑚</m:t>
                                  </m:r>
                                </m:sub>
                              </m:sSub>
                              <m:r>
                                <a:rPr lang="en-US" sz="1600" i="1">
                                  <a:latin typeface="Cambria Math" panose="02040503050406030204" pitchFamily="18" charset="0"/>
                                </a:rPr>
                                <m:t>≠0</m:t>
                              </m:r>
                            </m:oMath>
                          </a14:m>
                          <a:r>
                            <a:rPr lang="en-US" sz="1600"/>
                            <a:t>, max.</a:t>
                          </a:r>
                          <a:r>
                            <a:rPr lang="en-US" sz="1600" baseline="0"/>
                            <a:t> </a:t>
                          </a:r>
                          <a:r>
                            <a:rPr lang="en-US" sz="1600" err="1"/>
                            <a:t>Spannungsamplitude</a:t>
                          </a:r>
                          <a:r>
                            <a:rPr lang="en-US" sz="1600"/>
                            <a:t> </a:t>
                          </a:r>
                          <a:r>
                            <a:rPr lang="en-US" sz="1600" err="1"/>
                            <a:t>im</a:t>
                          </a:r>
                          <a:r>
                            <a:rPr lang="en-US" sz="1600"/>
                            <a:t> </a:t>
                          </a:r>
                          <a:r>
                            <a:rPr lang="en-US" sz="1600" err="1"/>
                            <a:t>Langzeitfestigkeitsbereich</a:t>
                          </a:r>
                          <a:endParaRPr lang="en-CH" sz="1600"/>
                        </a:p>
                      </a:txBody>
                      <a:tcPr/>
                    </a:tc>
                    <a:extLst>
                      <a:ext uri="{0D108BD9-81ED-4DB2-BD59-A6C34878D82A}">
                        <a16:rowId xmlns:a16="http://schemas.microsoft.com/office/drawing/2014/main" val="1690613114"/>
                      </a:ext>
                    </a:extLst>
                  </a:tr>
                  <a:tr h="370840">
                    <a:tc>
                      <a:txBody>
                        <a:bodyPr/>
                        <a:lstStyle/>
                        <a:p>
                          <a:r>
                            <a:rPr lang="de-CH" sz="1600">
                              <a:latin typeface="Arial" panose="020B0604020202020204" pitchFamily="34" charset="0"/>
                              <a:cs typeface="Arial" panose="020B0604020202020204" pitchFamily="34" charset="0"/>
                            </a:rPr>
                            <a:t>Grenzlastspielfestigkeit</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sSub>
                                      <m:sSubPr>
                                        <m:ctrlPr>
                                          <a:rPr lang="en-US" sz="1600" b="0" i="1" smtClean="0">
                                            <a:latin typeface="Cambria Math" panose="02040503050406030204" pitchFamily="18" charset="0"/>
                                          </a:rPr>
                                        </m:ctrlPr>
                                      </m:sSubPr>
                                      <m:e>
                                        <m:r>
                                          <m:rPr>
                                            <m:sty m:val="p"/>
                                          </m:rPr>
                                          <a:rPr lang="en-US" sz="1600" b="0" i="0" smtClean="0">
                                            <a:latin typeface="Cambria Math" panose="02040503050406030204" pitchFamily="18" charset="0"/>
                                          </a:rPr>
                                          <m:t>N</m:t>
                                        </m:r>
                                      </m:e>
                                      <m:sub>
                                        <m:r>
                                          <m:rPr>
                                            <m:sty m:val="p"/>
                                          </m:rPr>
                                          <a:rPr lang="en-US" sz="1600" b="0" i="0" smtClean="0">
                                            <a:latin typeface="Cambria Math" panose="02040503050406030204" pitchFamily="18" charset="0"/>
                                          </a:rPr>
                                          <m:t>G</m:t>
                                        </m:r>
                                      </m:sub>
                                    </m:sSub>
                                  </m:sub>
                                </m:sSub>
                              </m:oMath>
                            </m:oMathPara>
                          </a14:m>
                          <a:endParaRPr lang="en-CH" sz="1600"/>
                        </a:p>
                      </a:txBody>
                      <a:tcPr/>
                    </a:tc>
                    <a:tc>
                      <a:txBody>
                        <a:bodyPr/>
                        <a:lstStyle/>
                        <a:p>
                          <a:pPr algn="ctr"/>
                          <a:r>
                            <a:rPr lang="en-US" sz="1600"/>
                            <a:t>-</a:t>
                          </a:r>
                          <a:endParaRPr lang="en-CH" sz="1600"/>
                        </a:p>
                      </a:txBody>
                      <a:tcPr/>
                    </a:tc>
                    <a:tc>
                      <a:txBody>
                        <a:bodyPr/>
                        <a:lstStyle/>
                        <a:p>
                          <a:pPr algn="ctr"/>
                          <a:endParaRPr lang="en-CH" sz="1600"/>
                        </a:p>
                      </a:txBody>
                      <a:tcPr/>
                    </a:tc>
                    <a:tc>
                      <a:txBody>
                        <a:bodyPr/>
                        <a:lstStyle/>
                        <a:p>
                          <a:r>
                            <a:rPr lang="en-GB" sz="1600"/>
                            <a:t>Zusammenfassung von </a:t>
                          </a:r>
                          <a14:m>
                            <m:oMath xmlns:m="http://schemas.openxmlformats.org/officeDocument/2006/math">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r>
                                    <m:rPr>
                                      <m:sty m:val="p"/>
                                    </m:rPr>
                                    <a:rPr lang="en-US" sz="1600">
                                      <a:latin typeface="Cambria Math" panose="02040503050406030204" pitchFamily="18" charset="0"/>
                                    </a:rPr>
                                    <m:t>W</m:t>
                                  </m:r>
                                </m:sub>
                              </m:sSub>
                            </m:oMath>
                          </a14:m>
                          <a:r>
                            <a:rPr lang="en-US" sz="1600"/>
                            <a:t> und </a:t>
                          </a:r>
                          <a14:m>
                            <m:oMath xmlns:m="http://schemas.openxmlformats.org/officeDocument/2006/math">
                              <m:sSub>
                                <m:sSubPr>
                                  <m:ctrlPr>
                                    <a:rPr lang="en-GB" sz="1600" i="1" smtClean="0">
                                      <a:latin typeface="Cambria Math" panose="02040503050406030204" pitchFamily="18" charset="0"/>
                                    </a:rPr>
                                  </m:ctrlPr>
                                </m:sSubPr>
                                <m:e>
                                  <m:r>
                                    <m:rPr>
                                      <m:sty m:val="p"/>
                                    </m:rPr>
                                    <a:rPr lang="en-GB" sz="1600" i="1">
                                      <a:latin typeface="Cambria Math" panose="02040503050406030204" pitchFamily="18" charset="0"/>
                                    </a:rPr>
                                    <m:t>σ</m:t>
                                  </m:r>
                                </m:e>
                                <m:sub>
                                  <m:r>
                                    <m:rPr>
                                      <m:sty m:val="p"/>
                                    </m:rPr>
                                    <a:rPr lang="en-US" sz="1600" b="0" i="0" smtClean="0">
                                      <a:latin typeface="Cambria Math" panose="02040503050406030204" pitchFamily="18" charset="0"/>
                                    </a:rPr>
                                    <m:t>D</m:t>
                                  </m:r>
                                </m:sub>
                              </m:sSub>
                            </m:oMath>
                          </a14:m>
                          <a:r>
                            <a:rPr lang="en-US" sz="1600"/>
                            <a:t> </a:t>
                          </a:r>
                          <a:endParaRPr lang="en-CH" sz="1600"/>
                        </a:p>
                      </a:txBody>
                      <a:tcPr/>
                    </a:tc>
                    <a:extLst>
                      <a:ext uri="{0D108BD9-81ED-4DB2-BD59-A6C34878D82A}">
                        <a16:rowId xmlns:a16="http://schemas.microsoft.com/office/drawing/2014/main" val="3362378323"/>
                      </a:ext>
                    </a:extLst>
                  </a:tr>
                  <a:tr h="370840">
                    <a:tc>
                      <a:txBody>
                        <a:bodyPr/>
                        <a:lstStyle/>
                        <a:p>
                          <a:r>
                            <a:rPr lang="en-US" sz="1600" err="1"/>
                            <a:t>Zugfestigkeit</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𝑚</m:t>
                                    </m:r>
                                  </m:sub>
                                </m:sSub>
                              </m:oMath>
                            </m:oMathPara>
                          </a14:m>
                          <a:endParaRPr lang="en-CH" sz="1600"/>
                        </a:p>
                      </a:txBody>
                      <a:tcPr/>
                    </a:tc>
                    <a:tc>
                      <a:txBody>
                        <a:bodyPr/>
                        <a:lstStyle/>
                        <a:p>
                          <a:pPr algn="ct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𝑢𝑙𝑡</m:t>
                                  </m:r>
                                </m:sub>
                              </m:sSub>
                            </m:oMath>
                          </a14:m>
                          <a:r>
                            <a:rPr lang="en-US" sz="1600"/>
                            <a:t> oder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𝑈𝑇𝑆</m:t>
                                  </m:r>
                                </m:sub>
                              </m:sSub>
                            </m:oMath>
                          </a14:m>
                          <a:endParaRPr lang="en-CH" sz="1600"/>
                        </a:p>
                      </a:txBody>
                      <a:tcPr/>
                    </a:tc>
                    <a:tc>
                      <a:txBody>
                        <a:bodyPr/>
                        <a:lstStyle/>
                        <a:p>
                          <a:pPr algn="ctr"/>
                          <a:endParaRPr lang="en-CH" sz="1600"/>
                        </a:p>
                      </a:txBody>
                      <a:tcPr/>
                    </a:tc>
                    <a:tc>
                      <a:txBody>
                        <a:bodyPr/>
                        <a:lstStyle/>
                        <a:p>
                          <a:endParaRPr lang="en-CH" sz="1600"/>
                        </a:p>
                      </a:txBody>
                      <a:tcPr/>
                    </a:tc>
                    <a:extLst>
                      <a:ext uri="{0D108BD9-81ED-4DB2-BD59-A6C34878D82A}">
                        <a16:rowId xmlns:a16="http://schemas.microsoft.com/office/drawing/2014/main" val="82136029"/>
                      </a:ext>
                    </a:extLst>
                  </a:tr>
                  <a:tr h="370840">
                    <a:tc>
                      <a:txBody>
                        <a:bodyPr/>
                        <a:lstStyle/>
                        <a:p>
                          <a:r>
                            <a:rPr lang="en-US" sz="1600" err="1"/>
                            <a:t>Streckgrenze</a:t>
                          </a:r>
                          <a:endParaRPr lang="en-CH" sz="1600"/>
                        </a:p>
                      </a:txBody>
                      <a:tcPr/>
                    </a:tc>
                    <a:tc>
                      <a:txBody>
                        <a:bodyPr/>
                        <a:lstStyle/>
                        <a:p>
                          <a:pPr algn="ctr"/>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𝑅</m:t>
                                  </m:r>
                                </m:e>
                                <m:sub>
                                  <m:r>
                                    <m:rPr>
                                      <m:sty m:val="p"/>
                                    </m:rPr>
                                    <a:rPr lang="en-US" sz="1600" b="0" i="0" smtClean="0">
                                      <a:latin typeface="Cambria Math" panose="02040503050406030204" pitchFamily="18" charset="0"/>
                                    </a:rPr>
                                    <m:t>p</m:t>
                                  </m:r>
                                  <m:r>
                                    <a:rPr lang="en-US" sz="1600" b="0" i="0" smtClean="0">
                                      <a:latin typeface="Cambria Math" panose="02040503050406030204" pitchFamily="18" charset="0"/>
                                    </a:rPr>
                                    <m:t>0,2</m:t>
                                  </m:r>
                                </m:sub>
                              </m:sSub>
                            </m:oMath>
                          </a14:m>
                          <a:r>
                            <a:rPr lang="en-US" sz="1600"/>
                            <a:t> oder </a:t>
                          </a:r>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𝑅</m:t>
                                  </m:r>
                                </m:e>
                                <m:sub>
                                  <m:r>
                                    <m:rPr>
                                      <m:sty m:val="p"/>
                                    </m:rPr>
                                    <a:rPr lang="en-US" sz="1600" b="0" i="0" smtClean="0">
                                      <a:latin typeface="Cambria Math" panose="02040503050406030204" pitchFamily="18" charset="0"/>
                                    </a:rPr>
                                    <m:t>p</m:t>
                                  </m:r>
                                </m:sub>
                              </m:sSub>
                            </m:oMath>
                          </a14:m>
                          <a:endParaRPr lang="en-CH" sz="1600"/>
                        </a:p>
                      </a:txBody>
                      <a:tcPr/>
                    </a:tc>
                    <a:tc>
                      <a:txBody>
                        <a:bodyPr/>
                        <a:lstStyle/>
                        <a:p>
                          <a:pPr algn="ct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𝑦𝑡𝑠</m:t>
                                  </m:r>
                                </m:sub>
                              </m:sSub>
                            </m:oMath>
                          </a14:m>
                          <a:r>
                            <a:rPr lang="en-US" sz="1600"/>
                            <a:t> oder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𝑌𝑇𝑆</m:t>
                                  </m:r>
                                </m:sub>
                              </m:sSub>
                            </m:oMath>
                          </a14:m>
                          <a:endParaRPr lang="en-CH" sz="1600"/>
                        </a:p>
                      </a:txBody>
                      <a:tcPr/>
                    </a:tc>
                    <a:tc>
                      <a:txBody>
                        <a:bodyPr/>
                        <a:lstStyle/>
                        <a:p>
                          <a:pPr algn="ctr"/>
                          <a:endParaRPr lang="en-CH" sz="1600"/>
                        </a:p>
                      </a:txBody>
                      <a:tcPr/>
                    </a:tc>
                    <a:tc>
                      <a:txBody>
                        <a:bodyPr/>
                        <a:lstStyle/>
                        <a:p>
                          <a:endParaRPr lang="en-CH" sz="1600"/>
                        </a:p>
                      </a:txBody>
                      <a:tcPr/>
                    </a:tc>
                    <a:extLst>
                      <a:ext uri="{0D108BD9-81ED-4DB2-BD59-A6C34878D82A}">
                        <a16:rowId xmlns:a16="http://schemas.microsoft.com/office/drawing/2014/main" val="2322801401"/>
                      </a:ext>
                    </a:extLst>
                  </a:tr>
                </a:tbl>
              </a:graphicData>
            </a:graphic>
          </p:graphicFrame>
        </mc:Choice>
        <mc:Fallback>
          <p:graphicFrame>
            <p:nvGraphicFramePr>
              <p:cNvPr id="2" name="Table 1">
                <a:extLst>
                  <a:ext uri="{FF2B5EF4-FFF2-40B4-BE49-F238E27FC236}">
                    <a16:creationId xmlns:a16="http://schemas.microsoft.com/office/drawing/2014/main" id="{B973E824-AFE2-EF39-703F-FF9B21AD8775}"/>
                  </a:ext>
                </a:extLst>
              </p:cNvPr>
              <p:cNvGraphicFramePr>
                <a:graphicFrameLocks noGrp="1"/>
              </p:cNvGraphicFramePr>
              <p:nvPr/>
            </p:nvGraphicFramePr>
            <p:xfrm>
              <a:off x="76771" y="813984"/>
              <a:ext cx="12023122" cy="5725754"/>
            </p:xfrm>
            <a:graphic>
              <a:graphicData uri="http://schemas.openxmlformats.org/drawingml/2006/table">
                <a:tbl>
                  <a:tblPr firstRow="1" bandRow="1">
                    <a:tableStyleId>{5C22544A-7EE6-4342-B048-85BDC9FD1C3A}</a:tableStyleId>
                  </a:tblPr>
                  <a:tblGrid>
                    <a:gridCol w="3153442">
                      <a:extLst>
                        <a:ext uri="{9D8B030D-6E8A-4147-A177-3AD203B41FA5}">
                          <a16:colId xmlns:a16="http://schemas.microsoft.com/office/drawing/2014/main" val="1023299728"/>
                        </a:ext>
                      </a:extLst>
                    </a:gridCol>
                    <a:gridCol w="1444752">
                      <a:extLst>
                        <a:ext uri="{9D8B030D-6E8A-4147-A177-3AD203B41FA5}">
                          <a16:colId xmlns:a16="http://schemas.microsoft.com/office/drawing/2014/main" val="3780934004"/>
                        </a:ext>
                      </a:extLst>
                    </a:gridCol>
                    <a:gridCol w="1645920">
                      <a:extLst>
                        <a:ext uri="{9D8B030D-6E8A-4147-A177-3AD203B41FA5}">
                          <a16:colId xmlns:a16="http://schemas.microsoft.com/office/drawing/2014/main" val="586810632"/>
                        </a:ext>
                      </a:extLst>
                    </a:gridCol>
                    <a:gridCol w="1645920">
                      <a:extLst>
                        <a:ext uri="{9D8B030D-6E8A-4147-A177-3AD203B41FA5}">
                          <a16:colId xmlns:a16="http://schemas.microsoft.com/office/drawing/2014/main" val="1411294365"/>
                        </a:ext>
                      </a:extLst>
                    </a:gridCol>
                    <a:gridCol w="4133088">
                      <a:extLst>
                        <a:ext uri="{9D8B030D-6E8A-4147-A177-3AD203B41FA5}">
                          <a16:colId xmlns:a16="http://schemas.microsoft.com/office/drawing/2014/main" val="549475061"/>
                        </a:ext>
                      </a:extLst>
                    </a:gridCol>
                  </a:tblGrid>
                  <a:tr h="579120">
                    <a:tc>
                      <a:txBody>
                        <a:bodyPr/>
                        <a:lstStyle/>
                        <a:p>
                          <a:r>
                            <a:rPr lang="en-US" sz="1600"/>
                            <a:t>Name</a:t>
                          </a:r>
                          <a:endParaRPr lang="en-CH" sz="1600"/>
                        </a:p>
                      </a:txBody>
                      <a:tcPr/>
                    </a:tc>
                    <a:tc>
                      <a:txBody>
                        <a:bodyPr/>
                        <a:lstStyle/>
                        <a:p>
                          <a:r>
                            <a:rPr lang="en-US" sz="1600" err="1"/>
                            <a:t>Deutsches</a:t>
                          </a:r>
                          <a:r>
                            <a:rPr lang="en-US" sz="1600"/>
                            <a:t> Symbol</a:t>
                          </a:r>
                          <a:endParaRPr lang="en-CH" sz="1600"/>
                        </a:p>
                      </a:txBody>
                      <a:tcPr/>
                    </a:tc>
                    <a:tc>
                      <a:txBody>
                        <a:bodyPr/>
                        <a:lstStyle/>
                        <a:p>
                          <a:r>
                            <a:rPr lang="en-US" sz="1600" err="1"/>
                            <a:t>Internationales</a:t>
                          </a:r>
                          <a:r>
                            <a:rPr lang="en-US" sz="1600"/>
                            <a:t> Symbol</a:t>
                          </a:r>
                          <a:endParaRPr lang="en-CH" sz="1600"/>
                        </a:p>
                      </a:txBody>
                      <a:tcPr/>
                    </a:tc>
                    <a:tc>
                      <a:txBody>
                        <a:bodyPr/>
                        <a:lstStyle/>
                        <a:p>
                          <a:r>
                            <a:rPr lang="en-US" sz="1600" err="1"/>
                            <a:t>Berechnung</a:t>
                          </a:r>
                          <a:endParaRPr lang="en-CH" sz="1600"/>
                        </a:p>
                      </a:txBody>
                      <a:tcPr/>
                    </a:tc>
                    <a:tc>
                      <a:txBody>
                        <a:bodyPr/>
                        <a:lstStyle/>
                        <a:p>
                          <a:r>
                            <a:rPr lang="en-US" sz="1600" err="1"/>
                            <a:t>Kommentar</a:t>
                          </a:r>
                          <a:endParaRPr lang="en-CH" sz="1600"/>
                        </a:p>
                      </a:txBody>
                      <a:tcPr/>
                    </a:tc>
                    <a:extLst>
                      <a:ext uri="{0D108BD9-81ED-4DB2-BD59-A6C34878D82A}">
                        <a16:rowId xmlns:a16="http://schemas.microsoft.com/office/drawing/2014/main" val="4286053019"/>
                      </a:ext>
                    </a:extLst>
                  </a:tr>
                  <a:tr h="439442">
                    <a:tc>
                      <a:txBody>
                        <a:bodyPr/>
                        <a:lstStyle/>
                        <a:p>
                          <a:r>
                            <a:rPr lang="en-US" sz="1600" err="1"/>
                            <a:t>Spannung</a:t>
                          </a:r>
                          <a:endParaRPr lang="en-CH" sz="1600"/>
                        </a:p>
                      </a:txBody>
                      <a:tcPr/>
                    </a:tc>
                    <a:tc>
                      <a:txBody>
                        <a:bodyPr/>
                        <a:lstStyle/>
                        <a:p>
                          <a:endParaRPr lang="de-DE"/>
                        </a:p>
                      </a:txBody>
                      <a:tcPr>
                        <a:blipFill>
                          <a:blip r:embed="rId2"/>
                          <a:stretch>
                            <a:fillRect l="-217647" t="-134722" r="-513866" b="-1084722"/>
                          </a:stretch>
                        </a:blipFill>
                      </a:tcPr>
                    </a:tc>
                    <a:tc>
                      <a:txBody>
                        <a:bodyPr/>
                        <a:lstStyle/>
                        <a:p>
                          <a:endParaRPr lang="de-DE"/>
                        </a:p>
                      </a:txBody>
                      <a:tcPr>
                        <a:blipFill>
                          <a:blip r:embed="rId2"/>
                          <a:stretch>
                            <a:fillRect l="-280000" t="-134722" r="-352963" b="-1084722"/>
                          </a:stretch>
                        </a:blipFill>
                      </a:tcPr>
                    </a:tc>
                    <a:tc>
                      <a:txBody>
                        <a:bodyPr/>
                        <a:lstStyle/>
                        <a:p>
                          <a:endParaRPr lang="de-DE"/>
                        </a:p>
                      </a:txBody>
                      <a:tcPr>
                        <a:blipFill>
                          <a:blip r:embed="rId2"/>
                          <a:stretch>
                            <a:fillRect l="-380000" t="-134722" r="-252963" b="-1084722"/>
                          </a:stretch>
                        </a:blipFill>
                      </a:tcPr>
                    </a:tc>
                    <a:tc>
                      <a:txBody>
                        <a:bodyPr/>
                        <a:lstStyle/>
                        <a:p>
                          <a:endParaRPr lang="en-CH" sz="1600"/>
                        </a:p>
                      </a:txBody>
                      <a:tcPr/>
                    </a:tc>
                    <a:extLst>
                      <a:ext uri="{0D108BD9-81ED-4DB2-BD59-A6C34878D82A}">
                        <a16:rowId xmlns:a16="http://schemas.microsoft.com/office/drawing/2014/main" val="3607785223"/>
                      </a:ext>
                    </a:extLst>
                  </a:tr>
                  <a:tr h="370840">
                    <a:tc>
                      <a:txBody>
                        <a:bodyPr/>
                        <a:lstStyle/>
                        <a:p>
                          <a:r>
                            <a:rPr lang="en-US" sz="1600" err="1"/>
                            <a:t>Oberspannung</a:t>
                          </a:r>
                          <a:r>
                            <a:rPr lang="en-US" sz="1600"/>
                            <a:t> / Max. </a:t>
                          </a:r>
                          <a:r>
                            <a:rPr lang="en-US" sz="1600" err="1"/>
                            <a:t>Spannung</a:t>
                          </a:r>
                          <a:endParaRPr lang="en-CH" sz="1600"/>
                        </a:p>
                      </a:txBody>
                      <a:tcPr/>
                    </a:tc>
                    <a:tc>
                      <a:txBody>
                        <a:bodyPr/>
                        <a:lstStyle/>
                        <a:p>
                          <a:endParaRPr lang="de-DE"/>
                        </a:p>
                      </a:txBody>
                      <a:tcPr>
                        <a:blipFill>
                          <a:blip r:embed="rId2"/>
                          <a:stretch>
                            <a:fillRect l="-217647" t="-277049" r="-513866" b="-1180328"/>
                          </a:stretch>
                        </a:blipFill>
                      </a:tcPr>
                    </a:tc>
                    <a:tc>
                      <a:txBody>
                        <a:bodyPr/>
                        <a:lstStyle/>
                        <a:p>
                          <a:endParaRPr lang="de-DE"/>
                        </a:p>
                      </a:txBody>
                      <a:tcPr>
                        <a:blipFill>
                          <a:blip r:embed="rId2"/>
                          <a:stretch>
                            <a:fillRect l="-280000" t="-277049" r="-352963" b="-1180328"/>
                          </a:stretch>
                        </a:blipFill>
                      </a:tcPr>
                    </a:tc>
                    <a:tc>
                      <a:txBody>
                        <a:bodyPr/>
                        <a:lstStyle/>
                        <a:p>
                          <a:endParaRPr lang="de-DE"/>
                        </a:p>
                      </a:txBody>
                      <a:tcPr>
                        <a:blipFill>
                          <a:blip r:embed="rId2"/>
                          <a:stretch>
                            <a:fillRect l="-380000" t="-277049" r="-252963" b="-1180328"/>
                          </a:stretch>
                        </a:blipFill>
                      </a:tcPr>
                    </a:tc>
                    <a:tc>
                      <a:txBody>
                        <a:bodyPr/>
                        <a:lstStyle/>
                        <a:p>
                          <a:endParaRPr lang="en-CH" sz="1600"/>
                        </a:p>
                      </a:txBody>
                      <a:tcPr/>
                    </a:tc>
                    <a:extLst>
                      <a:ext uri="{0D108BD9-81ED-4DB2-BD59-A6C34878D82A}">
                        <a16:rowId xmlns:a16="http://schemas.microsoft.com/office/drawing/2014/main" val="3200396224"/>
                      </a:ext>
                    </a:extLst>
                  </a:tr>
                  <a:tr h="370840">
                    <a:tc>
                      <a:txBody>
                        <a:bodyPr/>
                        <a:lstStyle/>
                        <a:p>
                          <a:r>
                            <a:rPr lang="en-US" sz="1600" err="1"/>
                            <a:t>Unterspannung</a:t>
                          </a:r>
                          <a:r>
                            <a:rPr lang="en-US" sz="1600"/>
                            <a:t> / Min. </a:t>
                          </a:r>
                          <a:r>
                            <a:rPr lang="en-US" sz="1600" err="1"/>
                            <a:t>Spannung</a:t>
                          </a:r>
                          <a:endParaRPr lang="en-CH" sz="1600"/>
                        </a:p>
                      </a:txBody>
                      <a:tcPr/>
                    </a:tc>
                    <a:tc>
                      <a:txBody>
                        <a:bodyPr/>
                        <a:lstStyle/>
                        <a:p>
                          <a:endParaRPr lang="de-DE"/>
                        </a:p>
                      </a:txBody>
                      <a:tcPr>
                        <a:blipFill>
                          <a:blip r:embed="rId2"/>
                          <a:stretch>
                            <a:fillRect l="-217647" t="-377049" r="-513866" b="-1080328"/>
                          </a:stretch>
                        </a:blipFill>
                      </a:tcPr>
                    </a:tc>
                    <a:tc>
                      <a:txBody>
                        <a:bodyPr/>
                        <a:lstStyle/>
                        <a:p>
                          <a:endParaRPr lang="de-DE"/>
                        </a:p>
                      </a:txBody>
                      <a:tcPr>
                        <a:blipFill>
                          <a:blip r:embed="rId2"/>
                          <a:stretch>
                            <a:fillRect l="-280000" t="-377049" r="-352963" b="-1080328"/>
                          </a:stretch>
                        </a:blipFill>
                      </a:tcPr>
                    </a:tc>
                    <a:tc>
                      <a:txBody>
                        <a:bodyPr/>
                        <a:lstStyle/>
                        <a:p>
                          <a:endParaRPr lang="de-DE"/>
                        </a:p>
                      </a:txBody>
                      <a:tcPr>
                        <a:blipFill>
                          <a:blip r:embed="rId2"/>
                          <a:stretch>
                            <a:fillRect l="-380000" t="-377049" r="-252963" b="-1080328"/>
                          </a:stretch>
                        </a:blipFill>
                      </a:tcPr>
                    </a:tc>
                    <a:tc>
                      <a:txBody>
                        <a:bodyPr/>
                        <a:lstStyle/>
                        <a:p>
                          <a:endParaRPr lang="en-CH" sz="1600"/>
                        </a:p>
                      </a:txBody>
                      <a:tcPr/>
                    </a:tc>
                    <a:extLst>
                      <a:ext uri="{0D108BD9-81ED-4DB2-BD59-A6C34878D82A}">
                        <a16:rowId xmlns:a16="http://schemas.microsoft.com/office/drawing/2014/main" val="3816600010"/>
                      </a:ext>
                    </a:extLst>
                  </a:tr>
                  <a:tr h="579120">
                    <a:tc>
                      <a:txBody>
                        <a:bodyPr/>
                        <a:lstStyle/>
                        <a:p>
                          <a:r>
                            <a:rPr lang="de-CH" sz="1600" b="0">
                              <a:solidFill>
                                <a:schemeClr val="tx1"/>
                              </a:solidFill>
                            </a:rPr>
                            <a:t>Spannungsbereich / max. Spannungsausschlag </a:t>
                          </a:r>
                          <a:endParaRPr lang="en-CH" sz="1600"/>
                        </a:p>
                      </a:txBody>
                      <a:tcPr/>
                    </a:tc>
                    <a:tc>
                      <a:txBody>
                        <a:bodyPr/>
                        <a:lstStyle/>
                        <a:p>
                          <a:endParaRPr lang="de-DE"/>
                        </a:p>
                      </a:txBody>
                      <a:tcPr>
                        <a:blipFill>
                          <a:blip r:embed="rId2"/>
                          <a:stretch>
                            <a:fillRect l="-217647" t="-306316" r="-513866" b="-593684"/>
                          </a:stretch>
                        </a:blipFill>
                      </a:tcPr>
                    </a:tc>
                    <a:tc>
                      <a:txBody>
                        <a:bodyPr/>
                        <a:lstStyle/>
                        <a:p>
                          <a:endParaRPr lang="de-DE"/>
                        </a:p>
                      </a:txBody>
                      <a:tcPr>
                        <a:blipFill>
                          <a:blip r:embed="rId2"/>
                          <a:stretch>
                            <a:fillRect l="-280000" t="-306316" r="-352963" b="-593684"/>
                          </a:stretch>
                        </a:blipFill>
                      </a:tcPr>
                    </a:tc>
                    <a:tc>
                      <a:txBody>
                        <a:bodyPr/>
                        <a:lstStyle/>
                        <a:p>
                          <a:endParaRPr lang="de-DE"/>
                        </a:p>
                      </a:txBody>
                      <a:tcPr>
                        <a:blipFill>
                          <a:blip r:embed="rId2"/>
                          <a:stretch>
                            <a:fillRect l="-380000" t="-306316" r="-252963" b="-593684"/>
                          </a:stretch>
                        </a:blipFill>
                      </a:tcPr>
                    </a:tc>
                    <a:tc>
                      <a:txBody>
                        <a:bodyPr/>
                        <a:lstStyle/>
                        <a:p>
                          <a:endParaRPr lang="en-CH" sz="1600"/>
                        </a:p>
                      </a:txBody>
                      <a:tcPr/>
                    </a:tc>
                    <a:extLst>
                      <a:ext uri="{0D108BD9-81ED-4DB2-BD59-A6C34878D82A}">
                        <a16:rowId xmlns:a16="http://schemas.microsoft.com/office/drawing/2014/main" val="1189448053"/>
                      </a:ext>
                    </a:extLst>
                  </a:tr>
                  <a:tr h="443294">
                    <a:tc>
                      <a:txBody>
                        <a:bodyPr/>
                        <a:lstStyle/>
                        <a:p>
                          <a:r>
                            <a:rPr lang="en-US" sz="1600" err="1"/>
                            <a:t>Spannungsamplitude</a:t>
                          </a:r>
                          <a:endParaRPr lang="en-CH" sz="1600"/>
                        </a:p>
                      </a:txBody>
                      <a:tcPr/>
                    </a:tc>
                    <a:tc>
                      <a:txBody>
                        <a:bodyPr/>
                        <a:lstStyle/>
                        <a:p>
                          <a:endParaRPr lang="de-DE"/>
                        </a:p>
                      </a:txBody>
                      <a:tcPr>
                        <a:blipFill>
                          <a:blip r:embed="rId2"/>
                          <a:stretch>
                            <a:fillRect l="-217647" t="-528767" r="-513866" b="-672603"/>
                          </a:stretch>
                        </a:blipFill>
                      </a:tcPr>
                    </a:tc>
                    <a:tc>
                      <a:txBody>
                        <a:bodyPr/>
                        <a:lstStyle/>
                        <a:p>
                          <a:endParaRPr lang="de-DE"/>
                        </a:p>
                      </a:txBody>
                      <a:tcPr>
                        <a:blipFill>
                          <a:blip r:embed="rId2"/>
                          <a:stretch>
                            <a:fillRect l="-280000" t="-528767" r="-352963" b="-672603"/>
                          </a:stretch>
                        </a:blipFill>
                      </a:tcPr>
                    </a:tc>
                    <a:tc>
                      <a:txBody>
                        <a:bodyPr/>
                        <a:lstStyle/>
                        <a:p>
                          <a:endParaRPr lang="de-DE"/>
                        </a:p>
                      </a:txBody>
                      <a:tcPr>
                        <a:blipFill>
                          <a:blip r:embed="rId2"/>
                          <a:stretch>
                            <a:fillRect l="-380000" t="-528767" r="-252963" b="-672603"/>
                          </a:stretch>
                        </a:blipFill>
                      </a:tcPr>
                    </a:tc>
                    <a:tc>
                      <a:txBody>
                        <a:bodyPr/>
                        <a:lstStyle/>
                        <a:p>
                          <a:endParaRPr lang="en-CH" sz="1600"/>
                        </a:p>
                      </a:txBody>
                      <a:tcPr/>
                    </a:tc>
                    <a:extLst>
                      <a:ext uri="{0D108BD9-81ED-4DB2-BD59-A6C34878D82A}">
                        <a16:rowId xmlns:a16="http://schemas.microsoft.com/office/drawing/2014/main" val="631225806"/>
                      </a:ext>
                    </a:extLst>
                  </a:tr>
                  <a:tr h="428498">
                    <a:tc>
                      <a:txBody>
                        <a:bodyPr/>
                        <a:lstStyle/>
                        <a:p>
                          <a:r>
                            <a:rPr lang="en-US" sz="1600" err="1"/>
                            <a:t>Mittelspannung</a:t>
                          </a:r>
                          <a:endParaRPr lang="en-CH" sz="1600"/>
                        </a:p>
                      </a:txBody>
                      <a:tcPr/>
                    </a:tc>
                    <a:tc>
                      <a:txBody>
                        <a:bodyPr/>
                        <a:lstStyle/>
                        <a:p>
                          <a:endParaRPr lang="de-DE"/>
                        </a:p>
                      </a:txBody>
                      <a:tcPr>
                        <a:blipFill>
                          <a:blip r:embed="rId2"/>
                          <a:stretch>
                            <a:fillRect l="-217647" t="-655714" r="-513866" b="-601429"/>
                          </a:stretch>
                        </a:blipFill>
                      </a:tcPr>
                    </a:tc>
                    <a:tc>
                      <a:txBody>
                        <a:bodyPr/>
                        <a:lstStyle/>
                        <a:p>
                          <a:endParaRPr lang="de-DE"/>
                        </a:p>
                      </a:txBody>
                      <a:tcPr>
                        <a:blipFill>
                          <a:blip r:embed="rId2"/>
                          <a:stretch>
                            <a:fillRect l="-280000" t="-655714" r="-352963" b="-601429"/>
                          </a:stretch>
                        </a:blipFill>
                      </a:tcPr>
                    </a:tc>
                    <a:tc>
                      <a:txBody>
                        <a:bodyPr/>
                        <a:lstStyle/>
                        <a:p>
                          <a:endParaRPr lang="de-DE"/>
                        </a:p>
                      </a:txBody>
                      <a:tcPr>
                        <a:blipFill>
                          <a:blip r:embed="rId2"/>
                          <a:stretch>
                            <a:fillRect l="-380000" t="-655714" r="-252963" b="-601429"/>
                          </a:stretch>
                        </a:blipFill>
                      </a:tcPr>
                    </a:tc>
                    <a:tc>
                      <a:txBody>
                        <a:bodyPr/>
                        <a:lstStyle/>
                        <a:p>
                          <a:endParaRPr lang="en-CH" sz="1600"/>
                        </a:p>
                      </a:txBody>
                      <a:tcPr/>
                    </a:tc>
                    <a:extLst>
                      <a:ext uri="{0D108BD9-81ED-4DB2-BD59-A6C34878D82A}">
                        <a16:rowId xmlns:a16="http://schemas.microsoft.com/office/drawing/2014/main" val="1416283036"/>
                      </a:ext>
                    </a:extLst>
                  </a:tr>
                  <a:tr h="579120">
                    <a:tc>
                      <a:txBody>
                        <a:bodyPr/>
                        <a:lstStyle/>
                        <a:p>
                          <a:r>
                            <a:rPr lang="en-US" sz="1600" err="1"/>
                            <a:t>Wechselfestigkeit</a:t>
                          </a:r>
                          <a:r>
                            <a:rPr lang="en-US" sz="1600"/>
                            <a:t> / </a:t>
                          </a:r>
                          <a:r>
                            <a:rPr lang="en-US" sz="1600" err="1"/>
                            <a:t>Wechselbeanspruchung</a:t>
                          </a:r>
                          <a:endParaRPr lang="en-CH" sz="1600"/>
                        </a:p>
                      </a:txBody>
                      <a:tcPr/>
                    </a:tc>
                    <a:tc>
                      <a:txBody>
                        <a:bodyPr/>
                        <a:lstStyle/>
                        <a:p>
                          <a:endParaRPr lang="de-DE"/>
                        </a:p>
                      </a:txBody>
                      <a:tcPr>
                        <a:blipFill>
                          <a:blip r:embed="rId2"/>
                          <a:stretch>
                            <a:fillRect l="-217647" t="-556842" r="-513866" b="-343158"/>
                          </a:stretch>
                        </a:blipFill>
                      </a:tcPr>
                    </a:tc>
                    <a:tc>
                      <a:txBody>
                        <a:bodyPr/>
                        <a:lstStyle/>
                        <a:p>
                          <a:endParaRPr lang="de-DE"/>
                        </a:p>
                      </a:txBody>
                      <a:tcPr>
                        <a:blipFill>
                          <a:blip r:embed="rId2"/>
                          <a:stretch>
                            <a:fillRect l="-280000" t="-556842" r="-352963" b="-343158"/>
                          </a:stretch>
                        </a:blipFill>
                      </a:tcPr>
                    </a:tc>
                    <a:tc>
                      <a:txBody>
                        <a:bodyPr/>
                        <a:lstStyle/>
                        <a:p>
                          <a:pPr algn="ctr"/>
                          <a:endParaRPr lang="en-CH" sz="1600"/>
                        </a:p>
                      </a:txBody>
                      <a:tcPr/>
                    </a:tc>
                    <a:tc>
                      <a:txBody>
                        <a:bodyPr/>
                        <a:lstStyle/>
                        <a:p>
                          <a:endParaRPr lang="de-DE"/>
                        </a:p>
                      </a:txBody>
                      <a:tcPr>
                        <a:blipFill>
                          <a:blip r:embed="rId2"/>
                          <a:stretch>
                            <a:fillRect l="-191150" t="-556842" r="-737" b="-343158"/>
                          </a:stretch>
                        </a:blipFill>
                      </a:tcPr>
                    </a:tc>
                    <a:extLst>
                      <a:ext uri="{0D108BD9-81ED-4DB2-BD59-A6C34878D82A}">
                        <a16:rowId xmlns:a16="http://schemas.microsoft.com/office/drawing/2014/main" val="2143071053"/>
                      </a:ext>
                    </a:extLst>
                  </a:tr>
                  <a:tr h="82296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sz="1600" err="1"/>
                            <a:t>Dauerschwingfestigkeit</a:t>
                          </a:r>
                          <a:r>
                            <a:rPr lang="en-US" sz="1600"/>
                            <a:t> / </a:t>
                          </a:r>
                          <a:r>
                            <a:rPr lang="en-US" sz="1600" err="1"/>
                            <a:t>Dauerfestigkeit</a:t>
                          </a:r>
                          <a:r>
                            <a:rPr lang="en-US" sz="1600"/>
                            <a:t> / </a:t>
                          </a:r>
                          <a:r>
                            <a:rPr lang="en-US" sz="1600" err="1"/>
                            <a:t>Schwellbeanspruchung</a:t>
                          </a:r>
                          <a:endParaRPr lang="en-US" sz="1600"/>
                        </a:p>
                      </a:txBody>
                      <a:tcPr/>
                    </a:tc>
                    <a:tc>
                      <a:txBody>
                        <a:bodyPr/>
                        <a:lstStyle/>
                        <a:p>
                          <a:endParaRPr lang="de-DE"/>
                        </a:p>
                      </a:txBody>
                      <a:tcPr>
                        <a:blipFill>
                          <a:blip r:embed="rId2"/>
                          <a:stretch>
                            <a:fillRect l="-217647" t="-462222" r="-513866" b="-141481"/>
                          </a:stretch>
                        </a:blipFill>
                      </a:tcPr>
                    </a:tc>
                    <a:tc>
                      <a:txBody>
                        <a:bodyPr/>
                        <a:lstStyle/>
                        <a:p>
                          <a:pPr algn="ctr"/>
                          <a:r>
                            <a:rPr lang="en-US" sz="1600"/>
                            <a:t>- (no extra symbol)</a:t>
                          </a:r>
                          <a:endParaRPr lang="en-CH" sz="1600"/>
                        </a:p>
                      </a:txBody>
                      <a:tcPr/>
                    </a:tc>
                    <a:tc>
                      <a:txBody>
                        <a:bodyPr/>
                        <a:lstStyle/>
                        <a:p>
                          <a:pPr algn="ctr"/>
                          <a:endParaRPr lang="en-CH" sz="1600"/>
                        </a:p>
                      </a:txBody>
                      <a:tcPr/>
                    </a:tc>
                    <a:tc>
                      <a:txBody>
                        <a:bodyPr/>
                        <a:lstStyle/>
                        <a:p>
                          <a:endParaRPr lang="de-DE"/>
                        </a:p>
                      </a:txBody>
                      <a:tcPr>
                        <a:blipFill>
                          <a:blip r:embed="rId2"/>
                          <a:stretch>
                            <a:fillRect l="-191150" t="-462222" r="-737" b="-141481"/>
                          </a:stretch>
                        </a:blipFill>
                      </a:tcPr>
                    </a:tc>
                    <a:extLst>
                      <a:ext uri="{0D108BD9-81ED-4DB2-BD59-A6C34878D82A}">
                        <a16:rowId xmlns:a16="http://schemas.microsoft.com/office/drawing/2014/main" val="1690613114"/>
                      </a:ext>
                    </a:extLst>
                  </a:tr>
                  <a:tr h="370840">
                    <a:tc>
                      <a:txBody>
                        <a:bodyPr/>
                        <a:lstStyle/>
                        <a:p>
                          <a:r>
                            <a:rPr lang="de-CH" sz="1600">
                              <a:latin typeface="Arial" panose="020B0604020202020204" pitchFamily="34" charset="0"/>
                              <a:cs typeface="Arial" panose="020B0604020202020204" pitchFamily="34" charset="0"/>
                            </a:rPr>
                            <a:t>Grenzlastspielfestigkeit</a:t>
                          </a:r>
                          <a:endParaRPr lang="en-CH" sz="1600"/>
                        </a:p>
                      </a:txBody>
                      <a:tcPr/>
                    </a:tc>
                    <a:tc>
                      <a:txBody>
                        <a:bodyPr/>
                        <a:lstStyle/>
                        <a:p>
                          <a:endParaRPr lang="de-DE"/>
                        </a:p>
                      </a:txBody>
                      <a:tcPr>
                        <a:blipFill>
                          <a:blip r:embed="rId2"/>
                          <a:stretch>
                            <a:fillRect l="-217647" t="-1244262" r="-513866" b="-213115"/>
                          </a:stretch>
                        </a:blipFill>
                      </a:tcPr>
                    </a:tc>
                    <a:tc>
                      <a:txBody>
                        <a:bodyPr/>
                        <a:lstStyle/>
                        <a:p>
                          <a:pPr algn="ctr"/>
                          <a:r>
                            <a:rPr lang="en-US" sz="1600"/>
                            <a:t>-</a:t>
                          </a:r>
                          <a:endParaRPr lang="en-CH" sz="1600"/>
                        </a:p>
                      </a:txBody>
                      <a:tcPr/>
                    </a:tc>
                    <a:tc>
                      <a:txBody>
                        <a:bodyPr/>
                        <a:lstStyle/>
                        <a:p>
                          <a:pPr algn="ctr"/>
                          <a:endParaRPr lang="en-CH" sz="1600"/>
                        </a:p>
                      </a:txBody>
                      <a:tcPr/>
                    </a:tc>
                    <a:tc>
                      <a:txBody>
                        <a:bodyPr/>
                        <a:lstStyle/>
                        <a:p>
                          <a:endParaRPr lang="de-DE"/>
                        </a:p>
                      </a:txBody>
                      <a:tcPr>
                        <a:blipFill>
                          <a:blip r:embed="rId2"/>
                          <a:stretch>
                            <a:fillRect l="-191150" t="-1244262" r="-737" b="-213115"/>
                          </a:stretch>
                        </a:blipFill>
                      </a:tcPr>
                    </a:tc>
                    <a:extLst>
                      <a:ext uri="{0D108BD9-81ED-4DB2-BD59-A6C34878D82A}">
                        <a16:rowId xmlns:a16="http://schemas.microsoft.com/office/drawing/2014/main" val="3362378323"/>
                      </a:ext>
                    </a:extLst>
                  </a:tr>
                  <a:tr h="370840">
                    <a:tc>
                      <a:txBody>
                        <a:bodyPr/>
                        <a:lstStyle/>
                        <a:p>
                          <a:r>
                            <a:rPr lang="en-US" sz="1600" err="1"/>
                            <a:t>Zugfestigkeit</a:t>
                          </a:r>
                          <a:endParaRPr lang="en-CH" sz="1600"/>
                        </a:p>
                      </a:txBody>
                      <a:tcPr/>
                    </a:tc>
                    <a:tc>
                      <a:txBody>
                        <a:bodyPr/>
                        <a:lstStyle/>
                        <a:p>
                          <a:endParaRPr lang="de-DE"/>
                        </a:p>
                      </a:txBody>
                      <a:tcPr>
                        <a:blipFill>
                          <a:blip r:embed="rId2"/>
                          <a:stretch>
                            <a:fillRect l="-217647" t="-1344262" r="-513866" b="-113115"/>
                          </a:stretch>
                        </a:blipFill>
                      </a:tcPr>
                    </a:tc>
                    <a:tc>
                      <a:txBody>
                        <a:bodyPr/>
                        <a:lstStyle/>
                        <a:p>
                          <a:endParaRPr lang="de-DE"/>
                        </a:p>
                      </a:txBody>
                      <a:tcPr>
                        <a:blipFill>
                          <a:blip r:embed="rId2"/>
                          <a:stretch>
                            <a:fillRect l="-280000" t="-1344262" r="-352963" b="-113115"/>
                          </a:stretch>
                        </a:blipFill>
                      </a:tcPr>
                    </a:tc>
                    <a:tc>
                      <a:txBody>
                        <a:bodyPr/>
                        <a:lstStyle/>
                        <a:p>
                          <a:pPr algn="ctr"/>
                          <a:endParaRPr lang="en-CH" sz="1600"/>
                        </a:p>
                      </a:txBody>
                      <a:tcPr/>
                    </a:tc>
                    <a:tc>
                      <a:txBody>
                        <a:bodyPr/>
                        <a:lstStyle/>
                        <a:p>
                          <a:endParaRPr lang="en-CH" sz="1600"/>
                        </a:p>
                      </a:txBody>
                      <a:tcPr/>
                    </a:tc>
                    <a:extLst>
                      <a:ext uri="{0D108BD9-81ED-4DB2-BD59-A6C34878D82A}">
                        <a16:rowId xmlns:a16="http://schemas.microsoft.com/office/drawing/2014/main" val="82136029"/>
                      </a:ext>
                    </a:extLst>
                  </a:tr>
                  <a:tr h="370840">
                    <a:tc>
                      <a:txBody>
                        <a:bodyPr/>
                        <a:lstStyle/>
                        <a:p>
                          <a:r>
                            <a:rPr lang="en-US" sz="1600" err="1"/>
                            <a:t>Streckgrenze</a:t>
                          </a:r>
                          <a:endParaRPr lang="en-CH" sz="1600"/>
                        </a:p>
                      </a:txBody>
                      <a:tcPr/>
                    </a:tc>
                    <a:tc>
                      <a:txBody>
                        <a:bodyPr/>
                        <a:lstStyle/>
                        <a:p>
                          <a:endParaRPr lang="de-DE"/>
                        </a:p>
                      </a:txBody>
                      <a:tcPr>
                        <a:blipFill>
                          <a:blip r:embed="rId2"/>
                          <a:stretch>
                            <a:fillRect l="-217647" t="-1444262" r="-513866" b="-13115"/>
                          </a:stretch>
                        </a:blipFill>
                      </a:tcPr>
                    </a:tc>
                    <a:tc>
                      <a:txBody>
                        <a:bodyPr/>
                        <a:lstStyle/>
                        <a:p>
                          <a:endParaRPr lang="de-DE"/>
                        </a:p>
                      </a:txBody>
                      <a:tcPr>
                        <a:blipFill>
                          <a:blip r:embed="rId2"/>
                          <a:stretch>
                            <a:fillRect l="-280000" t="-1444262" r="-352963" b="-13115"/>
                          </a:stretch>
                        </a:blipFill>
                      </a:tcPr>
                    </a:tc>
                    <a:tc>
                      <a:txBody>
                        <a:bodyPr/>
                        <a:lstStyle/>
                        <a:p>
                          <a:pPr algn="ctr"/>
                          <a:endParaRPr lang="en-CH" sz="1600"/>
                        </a:p>
                      </a:txBody>
                      <a:tcPr/>
                    </a:tc>
                    <a:tc>
                      <a:txBody>
                        <a:bodyPr/>
                        <a:lstStyle/>
                        <a:p>
                          <a:endParaRPr lang="en-CH" sz="1600"/>
                        </a:p>
                      </a:txBody>
                      <a:tcPr/>
                    </a:tc>
                    <a:extLst>
                      <a:ext uri="{0D108BD9-81ED-4DB2-BD59-A6C34878D82A}">
                        <a16:rowId xmlns:a16="http://schemas.microsoft.com/office/drawing/2014/main" val="2322801401"/>
                      </a:ext>
                    </a:extLst>
                  </a:tr>
                </a:tbl>
              </a:graphicData>
            </a:graphic>
          </p:graphicFrame>
        </mc:Fallback>
      </mc:AlternateContent>
    </p:spTree>
    <p:extLst>
      <p:ext uri="{BB962C8B-B14F-4D97-AF65-F5344CB8AC3E}">
        <p14:creationId xmlns:p14="http://schemas.microsoft.com/office/powerpoint/2010/main" val="3532603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38F08-1946-FB4A-E97C-CE31919F655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5D2B6DF-C57B-C166-E56D-8751854780D0}"/>
              </a:ext>
            </a:extLst>
          </p:cNvPr>
          <p:cNvSpPr>
            <a:spLocks noGrp="1"/>
          </p:cNvSpPr>
          <p:nvPr>
            <p:ph type="dt" sz="half" idx="10"/>
          </p:nvPr>
        </p:nvSpPr>
        <p:spPr/>
        <p:txBody>
          <a:bodyPr/>
          <a:lstStyle/>
          <a:p>
            <a:fld id="{D3025AE2-B6E6-4CA4-9602-9443BE64C74D}" type="datetime1">
              <a:rPr lang="de-DE" smtClean="0"/>
              <a:t>17.04.2025</a:t>
            </a:fld>
            <a:endParaRPr lang="en-GB"/>
          </a:p>
        </p:txBody>
      </p:sp>
      <p:sp>
        <p:nvSpPr>
          <p:cNvPr id="5" name="Slide Number Placeholder 4">
            <a:extLst>
              <a:ext uri="{FF2B5EF4-FFF2-40B4-BE49-F238E27FC236}">
                <a16:creationId xmlns:a16="http://schemas.microsoft.com/office/drawing/2014/main" id="{A6E42FB0-0566-D37D-5636-41DB081CE544}"/>
              </a:ext>
            </a:extLst>
          </p:cNvPr>
          <p:cNvSpPr>
            <a:spLocks noGrp="1"/>
          </p:cNvSpPr>
          <p:nvPr>
            <p:ph type="sldNum" sz="quarter" idx="12"/>
          </p:nvPr>
        </p:nvSpPr>
        <p:spPr/>
        <p:txBody>
          <a:bodyPr/>
          <a:lstStyle/>
          <a:p>
            <a:fld id="{6C6AE60A-B69C-4790-82F7-3882EDF23186}" type="slidenum">
              <a:rPr lang="en-GB" smtClean="0"/>
              <a:pPr/>
              <a:t>9</a:t>
            </a:fld>
            <a:endParaRPr lang="en-GB"/>
          </a:p>
        </p:txBody>
      </p:sp>
      <p:sp>
        <p:nvSpPr>
          <p:cNvPr id="34" name="Title 1">
            <a:extLst>
              <a:ext uri="{FF2B5EF4-FFF2-40B4-BE49-F238E27FC236}">
                <a16:creationId xmlns:a16="http://schemas.microsoft.com/office/drawing/2014/main" id="{7531885C-0500-C00C-F6EC-A7F7C7B7706B}"/>
              </a:ext>
            </a:extLst>
          </p:cNvPr>
          <p:cNvSpPr>
            <a:spLocks noGrp="1"/>
          </p:cNvSpPr>
          <p:nvPr>
            <p:ph type="title"/>
          </p:nvPr>
        </p:nvSpPr>
        <p:spPr>
          <a:xfrm>
            <a:off x="730518" y="399227"/>
            <a:ext cx="10724135" cy="652844"/>
          </a:xfrm>
        </p:spPr>
        <p:txBody>
          <a:bodyPr>
            <a:normAutofit fontScale="90000"/>
          </a:bodyPr>
          <a:lstStyle/>
          <a:p>
            <a:r>
              <a:rPr lang="en-US" err="1"/>
              <a:t>Nomenklatur</a:t>
            </a:r>
            <a:r>
              <a:rPr lang="en-US"/>
              <a:t> </a:t>
            </a:r>
            <a:r>
              <a:rPr lang="en-US" err="1"/>
              <a:t>Schwingspielzahl</a:t>
            </a:r>
            <a:endParaRPr lang="de-CH"/>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1D109DBF-5D3A-6A22-8141-B11A7B469FB1}"/>
                  </a:ext>
                </a:extLst>
              </p:cNvPr>
              <p:cNvGraphicFramePr>
                <a:graphicFrameLocks noGrp="1"/>
              </p:cNvGraphicFramePr>
              <p:nvPr/>
            </p:nvGraphicFramePr>
            <p:xfrm>
              <a:off x="903983" y="1737528"/>
              <a:ext cx="10377202" cy="3022644"/>
            </p:xfrm>
            <a:graphic>
              <a:graphicData uri="http://schemas.openxmlformats.org/drawingml/2006/table">
                <a:tbl>
                  <a:tblPr firstRow="1" bandRow="1">
                    <a:tableStyleId>{5C22544A-7EE6-4342-B048-85BDC9FD1C3A}</a:tableStyleId>
                  </a:tblPr>
                  <a:tblGrid>
                    <a:gridCol w="3153442">
                      <a:extLst>
                        <a:ext uri="{9D8B030D-6E8A-4147-A177-3AD203B41FA5}">
                          <a16:colId xmlns:a16="http://schemas.microsoft.com/office/drawing/2014/main" val="1023299728"/>
                        </a:ext>
                      </a:extLst>
                    </a:gridCol>
                    <a:gridCol w="1444752">
                      <a:extLst>
                        <a:ext uri="{9D8B030D-6E8A-4147-A177-3AD203B41FA5}">
                          <a16:colId xmlns:a16="http://schemas.microsoft.com/office/drawing/2014/main" val="3780934004"/>
                        </a:ext>
                      </a:extLst>
                    </a:gridCol>
                    <a:gridCol w="1645920">
                      <a:extLst>
                        <a:ext uri="{9D8B030D-6E8A-4147-A177-3AD203B41FA5}">
                          <a16:colId xmlns:a16="http://schemas.microsoft.com/office/drawing/2014/main" val="586810632"/>
                        </a:ext>
                      </a:extLst>
                    </a:gridCol>
                    <a:gridCol w="4133088">
                      <a:extLst>
                        <a:ext uri="{9D8B030D-6E8A-4147-A177-3AD203B41FA5}">
                          <a16:colId xmlns:a16="http://schemas.microsoft.com/office/drawing/2014/main" val="549475061"/>
                        </a:ext>
                      </a:extLst>
                    </a:gridCol>
                  </a:tblGrid>
                  <a:tr h="370840">
                    <a:tc>
                      <a:txBody>
                        <a:bodyPr/>
                        <a:lstStyle/>
                        <a:p>
                          <a:r>
                            <a:rPr lang="en-US" sz="1600"/>
                            <a:t>Name</a:t>
                          </a:r>
                          <a:endParaRPr lang="en-CH" sz="1600"/>
                        </a:p>
                      </a:txBody>
                      <a:tcPr/>
                    </a:tc>
                    <a:tc>
                      <a:txBody>
                        <a:bodyPr/>
                        <a:lstStyle/>
                        <a:p>
                          <a:r>
                            <a:rPr lang="en-US" sz="1600" err="1"/>
                            <a:t>Deutsches</a:t>
                          </a:r>
                          <a:r>
                            <a:rPr lang="en-US" sz="1600"/>
                            <a:t> Symbol</a:t>
                          </a:r>
                          <a:endParaRPr lang="en-CH" sz="1600"/>
                        </a:p>
                      </a:txBody>
                      <a:tcPr/>
                    </a:tc>
                    <a:tc>
                      <a:txBody>
                        <a:bodyPr/>
                        <a:lstStyle/>
                        <a:p>
                          <a:r>
                            <a:rPr lang="en-US" sz="1600" err="1"/>
                            <a:t>Internationales</a:t>
                          </a:r>
                          <a:r>
                            <a:rPr lang="en-US" sz="1600"/>
                            <a:t> Symbol</a:t>
                          </a:r>
                          <a:endParaRPr lang="en-CH" sz="1600"/>
                        </a:p>
                      </a:txBody>
                      <a:tcPr/>
                    </a:tc>
                    <a:tc>
                      <a:txBody>
                        <a:bodyPr/>
                        <a:lstStyle/>
                        <a:p>
                          <a:r>
                            <a:rPr lang="en-US" sz="1600" err="1"/>
                            <a:t>Kommentar</a:t>
                          </a:r>
                          <a:endParaRPr lang="en-CH" sz="1600"/>
                        </a:p>
                      </a:txBody>
                      <a:tcPr/>
                    </a:tc>
                    <a:extLst>
                      <a:ext uri="{0D108BD9-81ED-4DB2-BD59-A6C34878D82A}">
                        <a16:rowId xmlns:a16="http://schemas.microsoft.com/office/drawing/2014/main" val="4286053019"/>
                      </a:ext>
                    </a:extLst>
                  </a:tr>
                  <a:tr h="439442">
                    <a:tc>
                      <a:txBody>
                        <a:bodyPr/>
                        <a:lstStyle/>
                        <a:p>
                          <a:r>
                            <a:rPr lang="en-US" sz="1600" err="1"/>
                            <a:t>Schwingspielzahl</a:t>
                          </a:r>
                          <a:r>
                            <a:rPr lang="en-US" sz="1600"/>
                            <a:t> / </a:t>
                          </a:r>
                          <a:r>
                            <a:rPr lang="en-US" sz="1600" err="1"/>
                            <a:t>Lastzyklenzahl</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𝑁</m:t>
                                </m:r>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𝑁</m:t>
                                </m:r>
                              </m:oMath>
                            </m:oMathPara>
                          </a14:m>
                          <a:endParaRPr lang="en-CH" sz="1600"/>
                        </a:p>
                      </a:txBody>
                      <a:tcPr/>
                    </a:tc>
                    <a:tc>
                      <a:txBody>
                        <a:bodyPr/>
                        <a:lstStyle/>
                        <a:p>
                          <a:endParaRPr lang="en-CH" sz="1600"/>
                        </a:p>
                      </a:txBody>
                      <a:tcPr/>
                    </a:tc>
                    <a:extLst>
                      <a:ext uri="{0D108BD9-81ED-4DB2-BD59-A6C34878D82A}">
                        <a16:rowId xmlns:a16="http://schemas.microsoft.com/office/drawing/2014/main" val="3607785223"/>
                      </a:ext>
                    </a:extLst>
                  </a:tr>
                  <a:tr h="439442">
                    <a:tc>
                      <a:txBody>
                        <a:bodyPr/>
                        <a:lstStyle/>
                        <a:p>
                          <a:r>
                            <a:rPr lang="en-US" sz="1600" err="1"/>
                            <a:t>Einzelne</a:t>
                          </a:r>
                          <a:r>
                            <a:rPr lang="en-US" sz="1600"/>
                            <a:t> </a:t>
                          </a:r>
                          <a:r>
                            <a:rPr lang="en-US" sz="1600" err="1"/>
                            <a:t>Schwingspielzahl</a:t>
                          </a:r>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𝑛</m:t>
                                </m:r>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𝑛</m:t>
                                </m:r>
                              </m:oMath>
                            </m:oMathPara>
                          </a14:m>
                          <a:endParaRPr lang="en-CH" sz="1600"/>
                        </a:p>
                      </a:txBody>
                      <a:tcPr/>
                    </a:tc>
                    <a:tc>
                      <a:txBody>
                        <a:bodyPr/>
                        <a:lstStyle/>
                        <a:p>
                          <a:r>
                            <a:rPr lang="en-US" sz="1600" err="1"/>
                            <a:t>Ergebnis</a:t>
                          </a:r>
                          <a:r>
                            <a:rPr lang="en-US" sz="1600"/>
                            <a:t> </a:t>
                          </a:r>
                          <a:r>
                            <a:rPr lang="en-US" sz="1600" err="1"/>
                            <a:t>einer</a:t>
                          </a:r>
                          <a:r>
                            <a:rPr lang="en-US" sz="1600"/>
                            <a:t> Probe</a:t>
                          </a:r>
                          <a:endParaRPr lang="en-CH" sz="1600"/>
                        </a:p>
                      </a:txBody>
                      <a:tcPr/>
                    </a:tc>
                    <a:extLst>
                      <a:ext uri="{0D108BD9-81ED-4DB2-BD59-A6C34878D82A}">
                        <a16:rowId xmlns:a16="http://schemas.microsoft.com/office/drawing/2014/main" val="2553348394"/>
                      </a:ext>
                    </a:extLst>
                  </a:tr>
                  <a:tr h="37084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sz="1600"/>
                            <a:t>Bruchlastspielzahl oder Grenzlastspielzahl oder Ermüdungslebensdauer</a:t>
                          </a:r>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m:rPr>
                                      <m:sty m:val="p"/>
                                    </m:rPr>
                                    <a:rPr lang="en-US" sz="1600" b="0" i="0" smtClean="0">
                                      <a:latin typeface="Cambria Math" panose="02040503050406030204" pitchFamily="18" charset="0"/>
                                    </a:rPr>
                                    <m:t>B</m:t>
                                  </m:r>
                                </m:sub>
                              </m:sSub>
                            </m:oMath>
                          </a14:m>
                          <a:r>
                            <a:rPr lang="en-US" sz="1600"/>
                            <a:t> oder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a:rPr lang="en-US" sz="1600" b="0" i="1" smtClean="0">
                                      <a:latin typeface="Cambria Math" panose="02040503050406030204" pitchFamily="18" charset="0"/>
                                    </a:rPr>
                                    <m:t>𝐺</m:t>
                                  </m:r>
                                </m:sub>
                              </m:sSub>
                            </m:oMath>
                          </a14:m>
                          <a:r>
                            <a:rPr lang="en-US" sz="1600"/>
                            <a:t> </a:t>
                          </a:r>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m:rPr>
                                        <m:sty m:val="p"/>
                                      </m:rPr>
                                      <a:rPr lang="en-US" sz="1600" b="0" i="0" smtClean="0">
                                        <a:latin typeface="Cambria Math" panose="02040503050406030204" pitchFamily="18" charset="0"/>
                                      </a:rPr>
                                      <m:t>f</m:t>
                                    </m:r>
                                  </m:sub>
                                </m:sSub>
                              </m:oMath>
                            </m:oMathPara>
                          </a14:m>
                          <a:endParaRPr lang="en-CH" sz="1600"/>
                        </a:p>
                      </a:txBody>
                      <a:tcPr/>
                    </a:tc>
                    <a:tc>
                      <a:txBody>
                        <a:bodyPr/>
                        <a:lstStyle/>
                        <a:p>
                          <a:r>
                            <a:rPr lang="de-DE" altLang="de-DE" sz="1600"/>
                            <a:t>Anzahl der Zyklen bis zum Bruch</a:t>
                          </a:r>
                          <a:r>
                            <a:rPr lang="de-CH" sz="1600" b="0">
                              <a:solidFill>
                                <a:schemeClr val="tx1"/>
                              </a:solidFill>
                            </a:rPr>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m:rPr>
                                      <m:sty m:val="p"/>
                                    </m:rPr>
                                    <a:rPr lang="en-US" sz="1600" b="0" i="0" smtClean="0">
                                      <a:latin typeface="Cambria Math" panose="02040503050406030204" pitchFamily="18" charset="0"/>
                                    </a:rPr>
                                    <m:t>B</m:t>
                                  </m:r>
                                </m:sub>
                              </m:sSub>
                              <m:r>
                                <a:rPr lang="en-US" sz="1600" b="0" i="1" smtClean="0">
                                  <a:latin typeface="Cambria Math" panose="02040503050406030204" pitchFamily="18" charset="0"/>
                                </a:rPr>
                                <m:t>&gt;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10</m:t>
                                  </m:r>
                                </m:e>
                                <m:sup>
                                  <m:r>
                                    <a:rPr lang="en-US" sz="1600" b="0" i="1" smtClean="0">
                                      <a:latin typeface="Cambria Math" panose="02040503050406030204" pitchFamily="18" charset="0"/>
                                    </a:rPr>
                                    <m:t>6</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10</m:t>
                                  </m:r>
                                </m:e>
                                <m:sup>
                                  <m:r>
                                    <a:rPr lang="en-US" sz="1600" b="0" i="1" smtClean="0">
                                      <a:latin typeface="Cambria Math" panose="02040503050406030204" pitchFamily="18" charset="0"/>
                                    </a:rPr>
                                    <m:t>7</m:t>
                                  </m:r>
                                </m:sup>
                              </m:sSup>
                            </m:oMath>
                          </a14:m>
                          <a:endParaRPr lang="en-CH" sz="1600"/>
                        </a:p>
                      </a:txBody>
                      <a:tcPr/>
                    </a:tc>
                    <a:extLst>
                      <a:ext uri="{0D108BD9-81ED-4DB2-BD59-A6C34878D82A}">
                        <a16:rowId xmlns:a16="http://schemas.microsoft.com/office/drawing/2014/main" val="3200396224"/>
                      </a:ext>
                    </a:extLst>
                  </a:tr>
                  <a:tr h="370840">
                    <a:tc>
                      <a:txBody>
                        <a:bodyPr/>
                        <a:lstStyle/>
                        <a:p>
                          <a:r>
                            <a:rPr lang="en-US" sz="1600" err="1"/>
                            <a:t>Dauerfestigkeitsspielzahl</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m:rPr>
                                        <m:sty m:val="p"/>
                                      </m:rPr>
                                      <a:rPr lang="en-US" sz="1600" b="0" i="0" smtClean="0">
                                        <a:latin typeface="Cambria Math" panose="02040503050406030204" pitchFamily="18" charset="0"/>
                                      </a:rPr>
                                      <m:t>D</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sz="1600"/>
                            <a:t>-</a:t>
                          </a:r>
                          <a:endParaRPr lang="en-CH" sz="1600"/>
                        </a:p>
                      </a:txBody>
                      <a:tcPr/>
                    </a:tc>
                    <a:tc>
                      <a:txBody>
                        <a:bodyPr/>
                        <a:lstStyle/>
                        <a:p>
                          <a:r>
                            <a:rPr lang="de-DE" altLang="de-DE" sz="1600"/>
                            <a:t>Dauerfestigkeitsgebiet  (</a:t>
                          </a:r>
                          <a:r>
                            <a:rPr lang="de-DE" altLang="de-DE" sz="1600" err="1">
                              <a:latin typeface="Symbol" panose="05050102010706020507" pitchFamily="18" charset="2"/>
                            </a:rPr>
                            <a:t>s</a:t>
                          </a:r>
                          <a:r>
                            <a:rPr lang="de-DE" altLang="de-DE" sz="1600" baseline="-25000" err="1"/>
                            <a:t>m</a:t>
                          </a:r>
                          <a:r>
                            <a:rPr lang="de-DE" altLang="de-DE" sz="1600"/>
                            <a:t> </a:t>
                          </a:r>
                          <a:r>
                            <a:rPr lang="de-DE" altLang="de-DE" sz="1600">
                              <a:solidFill>
                                <a:srgbClr val="000000"/>
                              </a:solidFill>
                              <a:latin typeface="Symbol" panose="05050102010706020507" pitchFamily="18" charset="2"/>
                            </a:rPr>
                            <a:t>¹</a:t>
                          </a:r>
                          <a:r>
                            <a:rPr lang="de-DE" altLang="de-DE" sz="1600"/>
                            <a:t>  0) </a:t>
                          </a:r>
                          <a:endParaRPr lang="en-CH" sz="1600"/>
                        </a:p>
                      </a:txBody>
                      <a:tcPr/>
                    </a:tc>
                    <a:extLst>
                      <a:ext uri="{0D108BD9-81ED-4DB2-BD59-A6C34878D82A}">
                        <a16:rowId xmlns:a16="http://schemas.microsoft.com/office/drawing/2014/main" val="3816600010"/>
                      </a:ext>
                    </a:extLst>
                  </a:tr>
                  <a:tr h="370840">
                    <a:tc>
                      <a:txBody>
                        <a:bodyPr/>
                        <a:lstStyle/>
                        <a:p>
                          <a:r>
                            <a:rPr lang="de-CH" sz="1600" b="0">
                              <a:solidFill>
                                <a:schemeClr val="tx1"/>
                              </a:solidFill>
                            </a:rPr>
                            <a:t>max. Spannungsausschlag </a:t>
                          </a:r>
                          <a:endParaRPr lang="en-CH" sz="160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m:rPr>
                                        <m:sty m:val="p"/>
                                      </m:rPr>
                                      <a:rPr lang="en-US" sz="1600" b="0" i="0" smtClean="0">
                                        <a:latin typeface="Cambria Math" panose="02040503050406030204" pitchFamily="18" charset="0"/>
                                      </a:rPr>
                                      <m:t>i</m:t>
                                    </m:r>
                                  </m:sub>
                                </m:sSub>
                              </m:oMath>
                            </m:oMathPara>
                          </a14:m>
                          <a:endParaRPr lang="en-CH" sz="160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m:rPr>
                                        <m:sty m:val="p"/>
                                      </m:rPr>
                                      <a:rPr lang="en-US" sz="1600" b="0" i="0" smtClean="0">
                                        <a:latin typeface="Cambria Math" panose="02040503050406030204" pitchFamily="18" charset="0"/>
                                      </a:rPr>
                                      <m:t>i</m:t>
                                    </m:r>
                                  </m:sub>
                                </m:sSub>
                              </m:oMath>
                            </m:oMathPara>
                          </a14:m>
                          <a:endParaRPr lang="en-CH" sz="1600"/>
                        </a:p>
                      </a:txBody>
                      <a:tcPr/>
                    </a:tc>
                    <a:tc>
                      <a:txBody>
                        <a:bodyPr/>
                        <a:lstStyle/>
                        <a:p>
                          <a:r>
                            <a:rPr lang="en-US" sz="1600" err="1"/>
                            <a:t>Schwingspielzahl</a:t>
                          </a:r>
                          <a:r>
                            <a:rPr lang="en-US" sz="1600"/>
                            <a:t> </a:t>
                          </a:r>
                          <a:r>
                            <a:rPr lang="en-US" sz="1600" err="1"/>
                            <a:t>beim</a:t>
                          </a:r>
                          <a:r>
                            <a:rPr lang="en-US" sz="1600"/>
                            <a:t> i-ten Element</a:t>
                          </a:r>
                          <a:endParaRPr lang="en-CH" sz="1600"/>
                        </a:p>
                      </a:txBody>
                      <a:tcPr/>
                    </a:tc>
                    <a:extLst>
                      <a:ext uri="{0D108BD9-81ED-4DB2-BD59-A6C34878D82A}">
                        <a16:rowId xmlns:a16="http://schemas.microsoft.com/office/drawing/2014/main" val="1189448053"/>
                      </a:ext>
                    </a:extLst>
                  </a:tr>
                </a:tbl>
              </a:graphicData>
            </a:graphic>
          </p:graphicFrame>
        </mc:Choice>
        <mc:Fallback>
          <p:graphicFrame>
            <p:nvGraphicFramePr>
              <p:cNvPr id="2" name="Table 1">
                <a:extLst>
                  <a:ext uri="{FF2B5EF4-FFF2-40B4-BE49-F238E27FC236}">
                    <a16:creationId xmlns:a16="http://schemas.microsoft.com/office/drawing/2014/main" id="{1D109DBF-5D3A-6A22-8141-B11A7B469FB1}"/>
                  </a:ext>
                </a:extLst>
              </p:cNvPr>
              <p:cNvGraphicFramePr>
                <a:graphicFrameLocks noGrp="1"/>
              </p:cNvGraphicFramePr>
              <p:nvPr/>
            </p:nvGraphicFramePr>
            <p:xfrm>
              <a:off x="903983" y="1737528"/>
              <a:ext cx="10377202" cy="3022644"/>
            </p:xfrm>
            <a:graphic>
              <a:graphicData uri="http://schemas.openxmlformats.org/drawingml/2006/table">
                <a:tbl>
                  <a:tblPr firstRow="1" bandRow="1">
                    <a:tableStyleId>{5C22544A-7EE6-4342-B048-85BDC9FD1C3A}</a:tableStyleId>
                  </a:tblPr>
                  <a:tblGrid>
                    <a:gridCol w="3153442">
                      <a:extLst>
                        <a:ext uri="{9D8B030D-6E8A-4147-A177-3AD203B41FA5}">
                          <a16:colId xmlns:a16="http://schemas.microsoft.com/office/drawing/2014/main" val="1023299728"/>
                        </a:ext>
                      </a:extLst>
                    </a:gridCol>
                    <a:gridCol w="1444752">
                      <a:extLst>
                        <a:ext uri="{9D8B030D-6E8A-4147-A177-3AD203B41FA5}">
                          <a16:colId xmlns:a16="http://schemas.microsoft.com/office/drawing/2014/main" val="3780934004"/>
                        </a:ext>
                      </a:extLst>
                    </a:gridCol>
                    <a:gridCol w="1645920">
                      <a:extLst>
                        <a:ext uri="{9D8B030D-6E8A-4147-A177-3AD203B41FA5}">
                          <a16:colId xmlns:a16="http://schemas.microsoft.com/office/drawing/2014/main" val="586810632"/>
                        </a:ext>
                      </a:extLst>
                    </a:gridCol>
                    <a:gridCol w="4133088">
                      <a:extLst>
                        <a:ext uri="{9D8B030D-6E8A-4147-A177-3AD203B41FA5}">
                          <a16:colId xmlns:a16="http://schemas.microsoft.com/office/drawing/2014/main" val="549475061"/>
                        </a:ext>
                      </a:extLst>
                    </a:gridCol>
                  </a:tblGrid>
                  <a:tr h="579120">
                    <a:tc>
                      <a:txBody>
                        <a:bodyPr/>
                        <a:lstStyle/>
                        <a:p>
                          <a:r>
                            <a:rPr lang="en-US" sz="1600"/>
                            <a:t>Name</a:t>
                          </a:r>
                          <a:endParaRPr lang="en-CH" sz="1600"/>
                        </a:p>
                      </a:txBody>
                      <a:tcPr/>
                    </a:tc>
                    <a:tc>
                      <a:txBody>
                        <a:bodyPr/>
                        <a:lstStyle/>
                        <a:p>
                          <a:r>
                            <a:rPr lang="en-US" sz="1600" err="1"/>
                            <a:t>Deutsches</a:t>
                          </a:r>
                          <a:r>
                            <a:rPr lang="en-US" sz="1600"/>
                            <a:t> Symbol</a:t>
                          </a:r>
                          <a:endParaRPr lang="en-CH" sz="1600"/>
                        </a:p>
                      </a:txBody>
                      <a:tcPr/>
                    </a:tc>
                    <a:tc>
                      <a:txBody>
                        <a:bodyPr/>
                        <a:lstStyle/>
                        <a:p>
                          <a:r>
                            <a:rPr lang="en-US" sz="1600" err="1"/>
                            <a:t>Internationales</a:t>
                          </a:r>
                          <a:r>
                            <a:rPr lang="en-US" sz="1600"/>
                            <a:t> Symbol</a:t>
                          </a:r>
                          <a:endParaRPr lang="en-CH" sz="1600"/>
                        </a:p>
                      </a:txBody>
                      <a:tcPr/>
                    </a:tc>
                    <a:tc>
                      <a:txBody>
                        <a:bodyPr/>
                        <a:lstStyle/>
                        <a:p>
                          <a:r>
                            <a:rPr lang="en-US" sz="1600" err="1"/>
                            <a:t>Kommentar</a:t>
                          </a:r>
                          <a:endParaRPr lang="en-CH" sz="1600"/>
                        </a:p>
                      </a:txBody>
                      <a:tcPr/>
                    </a:tc>
                    <a:extLst>
                      <a:ext uri="{0D108BD9-81ED-4DB2-BD59-A6C34878D82A}">
                        <a16:rowId xmlns:a16="http://schemas.microsoft.com/office/drawing/2014/main" val="4286053019"/>
                      </a:ext>
                    </a:extLst>
                  </a:tr>
                  <a:tr h="439442">
                    <a:tc>
                      <a:txBody>
                        <a:bodyPr/>
                        <a:lstStyle/>
                        <a:p>
                          <a:r>
                            <a:rPr lang="en-US" sz="1600" err="1"/>
                            <a:t>Schwingspielzahl</a:t>
                          </a:r>
                          <a:r>
                            <a:rPr lang="en-US" sz="1600"/>
                            <a:t> / </a:t>
                          </a:r>
                          <a:r>
                            <a:rPr lang="en-US" sz="1600" err="1"/>
                            <a:t>Lastzyklenzahl</a:t>
                          </a:r>
                          <a:endParaRPr lang="en-CH" sz="1600"/>
                        </a:p>
                      </a:txBody>
                      <a:tcPr/>
                    </a:tc>
                    <a:tc>
                      <a:txBody>
                        <a:bodyPr/>
                        <a:lstStyle/>
                        <a:p>
                          <a:endParaRPr lang="de-DE"/>
                        </a:p>
                      </a:txBody>
                      <a:tcPr>
                        <a:blipFill>
                          <a:blip r:embed="rId2"/>
                          <a:stretch>
                            <a:fillRect l="-218987" t="-136111" r="-401688" b="-466667"/>
                          </a:stretch>
                        </a:blipFill>
                      </a:tcPr>
                    </a:tc>
                    <a:tc>
                      <a:txBody>
                        <a:bodyPr/>
                        <a:lstStyle/>
                        <a:p>
                          <a:endParaRPr lang="de-DE"/>
                        </a:p>
                      </a:txBody>
                      <a:tcPr>
                        <a:blipFill>
                          <a:blip r:embed="rId2"/>
                          <a:stretch>
                            <a:fillRect l="-280000" t="-136111" r="-252593" b="-466667"/>
                          </a:stretch>
                        </a:blipFill>
                      </a:tcPr>
                    </a:tc>
                    <a:tc>
                      <a:txBody>
                        <a:bodyPr/>
                        <a:lstStyle/>
                        <a:p>
                          <a:endParaRPr lang="en-CH" sz="1600"/>
                        </a:p>
                      </a:txBody>
                      <a:tcPr/>
                    </a:tc>
                    <a:extLst>
                      <a:ext uri="{0D108BD9-81ED-4DB2-BD59-A6C34878D82A}">
                        <a16:rowId xmlns:a16="http://schemas.microsoft.com/office/drawing/2014/main" val="3607785223"/>
                      </a:ext>
                    </a:extLst>
                  </a:tr>
                  <a:tr h="439442">
                    <a:tc>
                      <a:txBody>
                        <a:bodyPr/>
                        <a:lstStyle/>
                        <a:p>
                          <a:r>
                            <a:rPr lang="en-US" sz="1600" err="1"/>
                            <a:t>Einzelne</a:t>
                          </a:r>
                          <a:r>
                            <a:rPr lang="en-US" sz="1600"/>
                            <a:t> </a:t>
                          </a:r>
                          <a:r>
                            <a:rPr lang="en-US" sz="1600" err="1"/>
                            <a:t>Schwingspielzahl</a:t>
                          </a:r>
                          <a:endParaRPr lang="en-CH" sz="1600"/>
                        </a:p>
                      </a:txBody>
                      <a:tcPr/>
                    </a:tc>
                    <a:tc>
                      <a:txBody>
                        <a:bodyPr/>
                        <a:lstStyle/>
                        <a:p>
                          <a:endParaRPr lang="de-DE"/>
                        </a:p>
                      </a:txBody>
                      <a:tcPr>
                        <a:blipFill>
                          <a:blip r:embed="rId2"/>
                          <a:stretch>
                            <a:fillRect l="-218987" t="-236111" r="-401688" b="-366667"/>
                          </a:stretch>
                        </a:blipFill>
                      </a:tcPr>
                    </a:tc>
                    <a:tc>
                      <a:txBody>
                        <a:bodyPr/>
                        <a:lstStyle/>
                        <a:p>
                          <a:endParaRPr lang="de-DE"/>
                        </a:p>
                      </a:txBody>
                      <a:tcPr>
                        <a:blipFill>
                          <a:blip r:embed="rId2"/>
                          <a:stretch>
                            <a:fillRect l="-280000" t="-236111" r="-252593" b="-366667"/>
                          </a:stretch>
                        </a:blipFill>
                      </a:tcPr>
                    </a:tc>
                    <a:tc>
                      <a:txBody>
                        <a:bodyPr/>
                        <a:lstStyle/>
                        <a:p>
                          <a:r>
                            <a:rPr lang="en-US" sz="1600" err="1"/>
                            <a:t>Ergebnis</a:t>
                          </a:r>
                          <a:r>
                            <a:rPr lang="en-US" sz="1600"/>
                            <a:t> </a:t>
                          </a:r>
                          <a:r>
                            <a:rPr lang="en-US" sz="1600" err="1"/>
                            <a:t>einer</a:t>
                          </a:r>
                          <a:r>
                            <a:rPr lang="en-US" sz="1600"/>
                            <a:t> Probe</a:t>
                          </a:r>
                          <a:endParaRPr lang="en-CH" sz="1600"/>
                        </a:p>
                      </a:txBody>
                      <a:tcPr/>
                    </a:tc>
                    <a:extLst>
                      <a:ext uri="{0D108BD9-81ED-4DB2-BD59-A6C34878D82A}">
                        <a16:rowId xmlns:a16="http://schemas.microsoft.com/office/drawing/2014/main" val="2553348394"/>
                      </a:ext>
                    </a:extLst>
                  </a:tr>
                  <a:tr h="82296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sz="1600"/>
                            <a:t>Bruchlastspielzahl oder Grenzlastspielzahl oder Ermüdungslebensdauer</a:t>
                          </a:r>
                          <a:endParaRPr lang="en-CH" sz="1600"/>
                        </a:p>
                      </a:txBody>
                      <a:tcPr/>
                    </a:tc>
                    <a:tc>
                      <a:txBody>
                        <a:bodyPr/>
                        <a:lstStyle/>
                        <a:p>
                          <a:endParaRPr lang="de-DE"/>
                        </a:p>
                      </a:txBody>
                      <a:tcPr>
                        <a:blipFill>
                          <a:blip r:embed="rId2"/>
                          <a:stretch>
                            <a:fillRect l="-218987" t="-179259" r="-401688" b="-95556"/>
                          </a:stretch>
                        </a:blipFill>
                      </a:tcPr>
                    </a:tc>
                    <a:tc>
                      <a:txBody>
                        <a:bodyPr/>
                        <a:lstStyle/>
                        <a:p>
                          <a:endParaRPr lang="de-DE"/>
                        </a:p>
                      </a:txBody>
                      <a:tcPr>
                        <a:blipFill>
                          <a:blip r:embed="rId2"/>
                          <a:stretch>
                            <a:fillRect l="-280000" t="-179259" r="-252593" b="-95556"/>
                          </a:stretch>
                        </a:blipFill>
                      </a:tcPr>
                    </a:tc>
                    <a:tc>
                      <a:txBody>
                        <a:bodyPr/>
                        <a:lstStyle/>
                        <a:p>
                          <a:endParaRPr lang="de-DE"/>
                        </a:p>
                      </a:txBody>
                      <a:tcPr>
                        <a:blipFill>
                          <a:blip r:embed="rId2"/>
                          <a:stretch>
                            <a:fillRect l="-151327" t="-179259" r="-590" b="-95556"/>
                          </a:stretch>
                        </a:blipFill>
                      </a:tcPr>
                    </a:tc>
                    <a:extLst>
                      <a:ext uri="{0D108BD9-81ED-4DB2-BD59-A6C34878D82A}">
                        <a16:rowId xmlns:a16="http://schemas.microsoft.com/office/drawing/2014/main" val="3200396224"/>
                      </a:ext>
                    </a:extLst>
                  </a:tr>
                  <a:tr h="370840">
                    <a:tc>
                      <a:txBody>
                        <a:bodyPr/>
                        <a:lstStyle/>
                        <a:p>
                          <a:r>
                            <a:rPr lang="en-US" sz="1600" err="1"/>
                            <a:t>Dauerfestigkeitsspielzahl</a:t>
                          </a:r>
                          <a:endParaRPr lang="en-CH" sz="1600"/>
                        </a:p>
                      </a:txBody>
                      <a:tcPr/>
                    </a:tc>
                    <a:tc>
                      <a:txBody>
                        <a:bodyPr/>
                        <a:lstStyle/>
                        <a:p>
                          <a:endParaRPr lang="de-DE"/>
                        </a:p>
                      </a:txBody>
                      <a:tcPr>
                        <a:blipFill>
                          <a:blip r:embed="rId2"/>
                          <a:stretch>
                            <a:fillRect l="-218987" t="-618033" r="-401688" b="-111475"/>
                          </a:stretch>
                        </a:blip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sz="1600"/>
                            <a:t>-</a:t>
                          </a:r>
                          <a:endParaRPr lang="en-CH" sz="1600"/>
                        </a:p>
                      </a:txBody>
                      <a:tcPr/>
                    </a:tc>
                    <a:tc>
                      <a:txBody>
                        <a:bodyPr/>
                        <a:lstStyle/>
                        <a:p>
                          <a:r>
                            <a:rPr lang="de-DE" altLang="de-DE" sz="1600"/>
                            <a:t>Dauerfestigkeitsgebiet  (</a:t>
                          </a:r>
                          <a:r>
                            <a:rPr lang="de-DE" altLang="de-DE" sz="1600" err="1">
                              <a:latin typeface="Symbol" panose="05050102010706020507" pitchFamily="18" charset="2"/>
                            </a:rPr>
                            <a:t>s</a:t>
                          </a:r>
                          <a:r>
                            <a:rPr lang="de-DE" altLang="de-DE" sz="1600" baseline="-25000" err="1"/>
                            <a:t>m</a:t>
                          </a:r>
                          <a:r>
                            <a:rPr lang="de-DE" altLang="de-DE" sz="1600"/>
                            <a:t> </a:t>
                          </a:r>
                          <a:r>
                            <a:rPr lang="de-DE" altLang="de-DE" sz="1600">
                              <a:solidFill>
                                <a:srgbClr val="000000"/>
                              </a:solidFill>
                              <a:latin typeface="Symbol" panose="05050102010706020507" pitchFamily="18" charset="2"/>
                            </a:rPr>
                            <a:t>¹</a:t>
                          </a:r>
                          <a:r>
                            <a:rPr lang="de-DE" altLang="de-DE" sz="1600"/>
                            <a:t>  0) </a:t>
                          </a:r>
                          <a:endParaRPr lang="en-CH" sz="1600"/>
                        </a:p>
                      </a:txBody>
                      <a:tcPr/>
                    </a:tc>
                    <a:extLst>
                      <a:ext uri="{0D108BD9-81ED-4DB2-BD59-A6C34878D82A}">
                        <a16:rowId xmlns:a16="http://schemas.microsoft.com/office/drawing/2014/main" val="3816600010"/>
                      </a:ext>
                    </a:extLst>
                  </a:tr>
                  <a:tr h="370840">
                    <a:tc>
                      <a:txBody>
                        <a:bodyPr/>
                        <a:lstStyle/>
                        <a:p>
                          <a:r>
                            <a:rPr lang="de-CH" sz="1600" b="0">
                              <a:solidFill>
                                <a:schemeClr val="tx1"/>
                              </a:solidFill>
                            </a:rPr>
                            <a:t>max. Spannungsausschlag </a:t>
                          </a:r>
                          <a:endParaRPr lang="en-CH" sz="1600"/>
                        </a:p>
                      </a:txBody>
                      <a:tcPr/>
                    </a:tc>
                    <a:tc>
                      <a:txBody>
                        <a:bodyPr/>
                        <a:lstStyle/>
                        <a:p>
                          <a:endParaRPr lang="de-DE"/>
                        </a:p>
                      </a:txBody>
                      <a:tcPr>
                        <a:blipFill>
                          <a:blip r:embed="rId2"/>
                          <a:stretch>
                            <a:fillRect l="-218987" t="-718033" r="-401688" b="-11475"/>
                          </a:stretch>
                        </a:blipFill>
                      </a:tcPr>
                    </a:tc>
                    <a:tc>
                      <a:txBody>
                        <a:bodyPr/>
                        <a:lstStyle/>
                        <a:p>
                          <a:endParaRPr lang="de-DE"/>
                        </a:p>
                      </a:txBody>
                      <a:tcPr>
                        <a:blipFill>
                          <a:blip r:embed="rId2"/>
                          <a:stretch>
                            <a:fillRect l="-280000" t="-718033" r="-252593" b="-11475"/>
                          </a:stretch>
                        </a:blipFill>
                      </a:tcPr>
                    </a:tc>
                    <a:tc>
                      <a:txBody>
                        <a:bodyPr/>
                        <a:lstStyle/>
                        <a:p>
                          <a:r>
                            <a:rPr lang="en-US" sz="1600" err="1"/>
                            <a:t>Schwingspielzahl</a:t>
                          </a:r>
                          <a:r>
                            <a:rPr lang="en-US" sz="1600"/>
                            <a:t> </a:t>
                          </a:r>
                          <a:r>
                            <a:rPr lang="en-US" sz="1600" err="1"/>
                            <a:t>beim</a:t>
                          </a:r>
                          <a:r>
                            <a:rPr lang="en-US" sz="1600"/>
                            <a:t> i-ten Element</a:t>
                          </a:r>
                          <a:endParaRPr lang="en-CH" sz="1600"/>
                        </a:p>
                      </a:txBody>
                      <a:tcPr/>
                    </a:tc>
                    <a:extLst>
                      <a:ext uri="{0D108BD9-81ED-4DB2-BD59-A6C34878D82A}">
                        <a16:rowId xmlns:a16="http://schemas.microsoft.com/office/drawing/2014/main" val="1189448053"/>
                      </a:ext>
                    </a:extLst>
                  </a:tr>
                </a:tbl>
              </a:graphicData>
            </a:graphic>
          </p:graphicFrame>
        </mc:Fallback>
      </mc:AlternateContent>
    </p:spTree>
    <p:extLst>
      <p:ext uri="{BB962C8B-B14F-4D97-AF65-F5344CB8AC3E}">
        <p14:creationId xmlns:p14="http://schemas.microsoft.com/office/powerpoint/2010/main" val="1938027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78997-25E4-8888-F4C1-1D34FDD1F8E4}"/>
              </a:ext>
            </a:extLst>
          </p:cNvPr>
          <p:cNvSpPr>
            <a:spLocks noGrp="1"/>
          </p:cNvSpPr>
          <p:nvPr>
            <p:ph type="ctrTitle"/>
          </p:nvPr>
        </p:nvSpPr>
        <p:spPr>
          <a:xfrm>
            <a:off x="655269" y="1210317"/>
            <a:ext cx="10881462" cy="2386667"/>
          </a:xfrm>
        </p:spPr>
        <p:txBody>
          <a:bodyPr/>
          <a:lstStyle/>
          <a:p>
            <a:r>
              <a:rPr lang="en-GB" sz="4400" err="1"/>
              <a:t>Wiederholung</a:t>
            </a:r>
            <a:r>
              <a:rPr lang="en-GB" sz="4400"/>
              <a:t> der </a:t>
            </a:r>
            <a:r>
              <a:rPr lang="en-GB" sz="4400" err="1"/>
              <a:t>Theorie</a:t>
            </a:r>
            <a:r>
              <a:rPr lang="en-GB" sz="4400"/>
              <a:t> - </a:t>
            </a:r>
            <a:r>
              <a:rPr lang="en-GB" sz="4400" err="1"/>
              <a:t>Ermüdung</a:t>
            </a:r>
            <a:endParaRPr lang="en-GB" sz="4400"/>
          </a:p>
        </p:txBody>
      </p:sp>
    </p:spTree>
    <p:extLst>
      <p:ext uri="{BB962C8B-B14F-4D97-AF65-F5344CB8AC3E}">
        <p14:creationId xmlns:p14="http://schemas.microsoft.com/office/powerpoint/2010/main" val="1797930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B95AA-7B7F-C2F3-71FD-FC33C3921F91}"/>
              </a:ext>
            </a:extLst>
          </p:cNvPr>
          <p:cNvSpPr>
            <a:spLocks noGrp="1"/>
          </p:cNvSpPr>
          <p:nvPr>
            <p:ph type="title"/>
          </p:nvPr>
        </p:nvSpPr>
        <p:spPr>
          <a:xfrm>
            <a:off x="415133" y="306141"/>
            <a:ext cx="12063461" cy="627310"/>
          </a:xfrm>
        </p:spPr>
        <p:txBody>
          <a:bodyPr>
            <a:normAutofit fontScale="90000"/>
          </a:bodyPr>
          <a:lstStyle/>
          <a:p>
            <a:r>
              <a:rPr lang="de-CH"/>
              <a:t>Zeitfestigkeit (HCF) – Kurzzeitfestigkeit (LCF)</a:t>
            </a:r>
          </a:p>
        </p:txBody>
      </p:sp>
      <p:sp>
        <p:nvSpPr>
          <p:cNvPr id="3" name="Content Placeholder 2">
            <a:extLst>
              <a:ext uri="{FF2B5EF4-FFF2-40B4-BE49-F238E27FC236}">
                <a16:creationId xmlns:a16="http://schemas.microsoft.com/office/drawing/2014/main" id="{1107CC5B-4EFD-3214-8220-1DC8F291A721}"/>
              </a:ext>
            </a:extLst>
          </p:cNvPr>
          <p:cNvSpPr>
            <a:spLocks noGrp="1"/>
          </p:cNvSpPr>
          <p:nvPr>
            <p:ph idx="1"/>
          </p:nvPr>
        </p:nvSpPr>
        <p:spPr>
          <a:xfrm>
            <a:off x="535781" y="1254180"/>
            <a:ext cx="7185184" cy="5000570"/>
          </a:xfrm>
        </p:spPr>
        <p:txBody>
          <a:bodyPr>
            <a:normAutofit fontScale="92500" lnSpcReduction="20000"/>
          </a:bodyPr>
          <a:lstStyle/>
          <a:p>
            <a:r>
              <a:rPr lang="de-CH" b="1"/>
              <a:t>Zweck:</a:t>
            </a:r>
            <a:r>
              <a:rPr lang="de-CH"/>
              <a:t> Materialverhalten bei zyklischer Belastung, wobei zwischen einer hohen Anzahl von Zyklen mit geringer Spannung (HCF), normalerweise im elastischen Bereich, und einer niedrigen Anzahl von Zyklen mit hoher Spannung (LCF), normalerweise im plastischen Bereich, unterschieden wird.</a:t>
            </a:r>
          </a:p>
          <a:p>
            <a:r>
              <a:rPr lang="de-CH" b="1"/>
              <a:t>Anwendung:</a:t>
            </a:r>
            <a:r>
              <a:rPr lang="de-CH"/>
              <a:t> Für die Konstruktion von Bauteilen, die hohen zyklischen Belastungen ausgesetzt sind, sowie für erhöhte Temperaturen, da dann die Streckgrenze abnimmt.</a:t>
            </a:r>
          </a:p>
          <a:p>
            <a:r>
              <a:rPr lang="de-CH" b="1"/>
              <a:t>Wie:</a:t>
            </a:r>
            <a:r>
              <a:rPr lang="de-CH"/>
              <a:t> Es werden experimentelle Tests und numerische Simulationen durchgeführt, um die Ermüdungslebensdauer unter verschiedenen Belastungsbedingungen zu bestimmen.</a:t>
            </a:r>
          </a:p>
        </p:txBody>
      </p:sp>
      <p:pic>
        <p:nvPicPr>
          <p:cNvPr id="6" name="Picture 5">
            <a:extLst>
              <a:ext uri="{FF2B5EF4-FFF2-40B4-BE49-F238E27FC236}">
                <a16:creationId xmlns:a16="http://schemas.microsoft.com/office/drawing/2014/main" id="{32991777-499C-B72D-A35D-F4E82FB664C3}"/>
              </a:ext>
            </a:extLst>
          </p:cNvPr>
          <p:cNvPicPr>
            <a:picLocks noChangeAspect="1"/>
          </p:cNvPicPr>
          <p:nvPr/>
        </p:nvPicPr>
        <p:blipFill>
          <a:blip r:embed="rId2"/>
          <a:stretch>
            <a:fillRect/>
          </a:stretch>
        </p:blipFill>
        <p:spPr>
          <a:xfrm>
            <a:off x="7916039" y="1937984"/>
            <a:ext cx="4273581" cy="2982032"/>
          </a:xfrm>
          <a:prstGeom prst="rect">
            <a:avLst/>
          </a:prstGeom>
        </p:spPr>
      </p:pic>
      <p:sp>
        <p:nvSpPr>
          <p:cNvPr id="4" name="TextBox 3">
            <a:extLst>
              <a:ext uri="{FF2B5EF4-FFF2-40B4-BE49-F238E27FC236}">
                <a16:creationId xmlns:a16="http://schemas.microsoft.com/office/drawing/2014/main" id="{F4029432-DAF6-D163-78C8-3BE919034B23}"/>
              </a:ext>
            </a:extLst>
          </p:cNvPr>
          <p:cNvSpPr txBox="1"/>
          <p:nvPr/>
        </p:nvSpPr>
        <p:spPr>
          <a:xfrm>
            <a:off x="8606886" y="4920016"/>
            <a:ext cx="3145669" cy="738664"/>
          </a:xfrm>
          <a:prstGeom prst="rect">
            <a:avLst/>
          </a:prstGeom>
          <a:noFill/>
        </p:spPr>
        <p:txBody>
          <a:bodyPr wrap="none" rtlCol="0">
            <a:spAutoFit/>
          </a:bodyPr>
          <a:lstStyle/>
          <a:p>
            <a:pPr marL="342900" indent="-342900">
              <a:buAutoNum type="alphaLcParenR"/>
            </a:pPr>
            <a:r>
              <a:rPr lang="en-US" sz="1400"/>
              <a:t>Sehr </a:t>
            </a:r>
            <a:r>
              <a:rPr lang="en-US" sz="1400" err="1"/>
              <a:t>geringe</a:t>
            </a:r>
            <a:r>
              <a:rPr lang="en-US" sz="1400"/>
              <a:t> </a:t>
            </a:r>
            <a:r>
              <a:rPr lang="en-US" sz="1400" err="1"/>
              <a:t>akustische</a:t>
            </a:r>
            <a:r>
              <a:rPr lang="en-US" sz="1400"/>
              <a:t> </a:t>
            </a:r>
            <a:r>
              <a:rPr lang="en-US" sz="1400" err="1"/>
              <a:t>Vibrationen</a:t>
            </a:r>
            <a:endParaRPr lang="en-US" sz="1400"/>
          </a:p>
          <a:p>
            <a:pPr marL="342900" indent="-342900">
              <a:buAutoNum type="alphaLcParenR"/>
            </a:pPr>
            <a:r>
              <a:rPr lang="en-US" sz="1400"/>
              <a:t>HCF</a:t>
            </a:r>
          </a:p>
          <a:p>
            <a:pPr marL="342900" indent="-342900">
              <a:buAutoNum type="alphaLcParenR"/>
            </a:pPr>
            <a:r>
              <a:rPr lang="en-US" sz="1400"/>
              <a:t>LCF</a:t>
            </a:r>
            <a:endParaRPr lang="en-CH" sz="1400"/>
          </a:p>
        </p:txBody>
      </p:sp>
    </p:spTree>
    <p:extLst>
      <p:ext uri="{BB962C8B-B14F-4D97-AF65-F5344CB8AC3E}">
        <p14:creationId xmlns:p14="http://schemas.microsoft.com/office/powerpoint/2010/main" val="310141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EBF6E-166D-7E40-53D9-17686E492172}"/>
              </a:ext>
            </a:extLst>
          </p:cNvPr>
          <p:cNvSpPr>
            <a:spLocks noGrp="1"/>
          </p:cNvSpPr>
          <p:nvPr>
            <p:ph type="title"/>
          </p:nvPr>
        </p:nvSpPr>
        <p:spPr/>
        <p:txBody>
          <a:bodyPr/>
          <a:lstStyle/>
          <a:p>
            <a:r>
              <a:rPr lang="de-CH"/>
              <a:t>Wöhlerkurve</a:t>
            </a:r>
            <a:br>
              <a:rPr lang="de-CH"/>
            </a:br>
            <a:r>
              <a:rPr lang="de-CH" sz="1800"/>
              <a:t>oder auch S-N-Kurve</a:t>
            </a:r>
            <a:endParaRPr lang="de-CH"/>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DD0DABE-3DE1-0634-2100-1C17764AA3E0}"/>
                  </a:ext>
                </a:extLst>
              </p:cNvPr>
              <p:cNvSpPr>
                <a:spLocks noGrp="1"/>
              </p:cNvSpPr>
              <p:nvPr>
                <p:ph idx="1"/>
              </p:nvPr>
            </p:nvSpPr>
            <p:spPr>
              <a:xfrm>
                <a:off x="840254" y="1816730"/>
                <a:ext cx="5908226" cy="4349638"/>
              </a:xfrm>
            </p:spPr>
            <p:txBody>
              <a:bodyPr>
                <a:normAutofit fontScale="92500" lnSpcReduction="10000"/>
              </a:bodyPr>
              <a:lstStyle/>
              <a:p>
                <a:r>
                  <a:rPr lang="de-CH" b="1"/>
                  <a:t>Zweck:</a:t>
                </a:r>
                <a:r>
                  <a:rPr lang="de-CH"/>
                  <a:t> Beschreibt die Beziehung zwischen der zyklischen Spannungsamplitude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𝜎</m:t>
                        </m:r>
                      </m:e>
                      <m:sub>
                        <m:r>
                          <a:rPr lang="en-US" b="0" i="1" dirty="0" smtClean="0">
                            <a:latin typeface="Cambria Math" panose="02040503050406030204" pitchFamily="18" charset="0"/>
                          </a:rPr>
                          <m:t>𝑎</m:t>
                        </m:r>
                      </m:sub>
                    </m:sSub>
                  </m:oMath>
                </a14:m>
                <a:r>
                  <a:rPr lang="de-CH"/>
                  <a:t>) und der Anzahl der Zyklen bis zum Bruch </a:t>
                </a:r>
                <a:br>
                  <a:rPr lang="de-CH"/>
                </a:br>
                <a:r>
                  <a:rPr lang="de-CH"/>
                  <a:t>(Lastspielzahl n) für ein bestimmtes Material.</a:t>
                </a:r>
              </a:p>
              <a:p>
                <a:r>
                  <a:rPr lang="de-CH" b="1"/>
                  <a:t>Anwendung:</a:t>
                </a:r>
                <a:r>
                  <a:rPr lang="de-CH"/>
                  <a:t> Wesentlich für die Vorhersage der Ermüdungslebensdauer und die Materialauswahl für technische Anwendungen.</a:t>
                </a:r>
              </a:p>
              <a:p>
                <a:r>
                  <a:rPr lang="de-CH" b="1"/>
                  <a:t>Wie:</a:t>
                </a:r>
                <a:r>
                  <a:rPr lang="de-CH"/>
                  <a:t> Abgeleitet aus experimentellen Messungen</a:t>
                </a:r>
              </a:p>
            </p:txBody>
          </p:sp>
        </mc:Choice>
        <mc:Fallback>
          <p:sp>
            <p:nvSpPr>
              <p:cNvPr id="3" name="Content Placeholder 2">
                <a:extLst>
                  <a:ext uri="{FF2B5EF4-FFF2-40B4-BE49-F238E27FC236}">
                    <a16:creationId xmlns:a16="http://schemas.microsoft.com/office/drawing/2014/main" id="{3DD0DABE-3DE1-0634-2100-1C17764AA3E0}"/>
                  </a:ext>
                </a:extLst>
              </p:cNvPr>
              <p:cNvSpPr>
                <a:spLocks noGrp="1" noRot="1" noChangeAspect="1" noMove="1" noResize="1" noEditPoints="1" noAdjustHandles="1" noChangeArrowheads="1" noChangeShapeType="1" noTextEdit="1"/>
              </p:cNvSpPr>
              <p:nvPr>
                <p:ph idx="1"/>
              </p:nvPr>
            </p:nvSpPr>
            <p:spPr>
              <a:xfrm>
                <a:off x="840254" y="1816730"/>
                <a:ext cx="5908226" cy="4349638"/>
              </a:xfrm>
              <a:blipFill>
                <a:blip r:embed="rId2"/>
                <a:stretch>
                  <a:fillRect l="-1651" t="-2801"/>
                </a:stretch>
              </a:blipFill>
            </p:spPr>
            <p:txBody>
              <a:bodyPr/>
              <a:lstStyle/>
              <a:p>
                <a:r>
                  <a:rPr lang="de-CH">
                    <a:noFill/>
                  </a:rPr>
                  <a:t> </a:t>
                </a:r>
              </a:p>
            </p:txBody>
          </p:sp>
        </mc:Fallback>
      </mc:AlternateContent>
      <p:pic>
        <p:nvPicPr>
          <p:cNvPr id="7" name="Picture 6">
            <a:extLst>
              <a:ext uri="{FF2B5EF4-FFF2-40B4-BE49-F238E27FC236}">
                <a16:creationId xmlns:a16="http://schemas.microsoft.com/office/drawing/2014/main" id="{4906B1CA-EA5C-CE19-6214-C653B55B45DC}"/>
              </a:ext>
            </a:extLst>
          </p:cNvPr>
          <p:cNvPicPr>
            <a:picLocks noChangeAspect="1"/>
          </p:cNvPicPr>
          <p:nvPr/>
        </p:nvPicPr>
        <p:blipFill>
          <a:blip r:embed="rId3"/>
          <a:stretch>
            <a:fillRect/>
          </a:stretch>
        </p:blipFill>
        <p:spPr>
          <a:xfrm>
            <a:off x="6961778" y="1581054"/>
            <a:ext cx="4886088" cy="3377731"/>
          </a:xfrm>
          <a:prstGeom prst="rect">
            <a:avLst/>
          </a:prstGeom>
        </p:spPr>
      </p:pic>
    </p:spTree>
    <p:extLst>
      <p:ext uri="{BB962C8B-B14F-4D97-AF65-F5344CB8AC3E}">
        <p14:creationId xmlns:p14="http://schemas.microsoft.com/office/powerpoint/2010/main" val="2242852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9920-1049-6E48-22F9-C8C232267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CD7ED-1B30-9C06-9B8D-93100BFF3520}"/>
              </a:ext>
            </a:extLst>
          </p:cNvPr>
          <p:cNvSpPr>
            <a:spLocks noGrp="1"/>
          </p:cNvSpPr>
          <p:nvPr>
            <p:ph type="title"/>
          </p:nvPr>
        </p:nvSpPr>
        <p:spPr>
          <a:xfrm>
            <a:off x="840254" y="259776"/>
            <a:ext cx="10511492" cy="598930"/>
          </a:xfrm>
        </p:spPr>
        <p:txBody>
          <a:bodyPr>
            <a:normAutofit fontScale="90000"/>
          </a:bodyPr>
          <a:lstStyle/>
          <a:p>
            <a:r>
              <a:rPr lang="de-CH" err="1"/>
              <a:t>Basquin’sche</a:t>
            </a:r>
            <a:r>
              <a:rPr lang="de-CH"/>
              <a:t> Gesetz</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9EBFF74-288D-A6A2-09FC-31037AD77073}"/>
                  </a:ext>
                </a:extLst>
              </p:cNvPr>
              <p:cNvSpPr>
                <a:spLocks noGrp="1"/>
              </p:cNvSpPr>
              <p:nvPr>
                <p:ph idx="1"/>
              </p:nvPr>
            </p:nvSpPr>
            <p:spPr>
              <a:xfrm>
                <a:off x="840254" y="922298"/>
                <a:ext cx="6769935" cy="4349638"/>
              </a:xfrm>
            </p:spPr>
            <p:txBody>
              <a:bodyPr>
                <a:normAutofit fontScale="92500" lnSpcReduction="10000"/>
              </a:bodyPr>
              <a:lstStyle/>
              <a:p>
                <a:r>
                  <a:rPr lang="de-CH" b="1"/>
                  <a:t>Zweck:</a:t>
                </a:r>
                <a:r>
                  <a:rPr lang="de-CH"/>
                  <a:t> Beschreibt die Beziehung zwischen Ermüdungslebensdauer und elastischer Spannungsamplitude für eine bestimmte Anzahl von Zyklen</a:t>
                </a:r>
              </a:p>
              <a:p>
                <a:r>
                  <a:rPr lang="de-CH" b="1"/>
                  <a:t>Anwendung:</a:t>
                </a:r>
                <a:r>
                  <a:rPr lang="de-CH"/>
                  <a:t> Zur Vorhersage der Ermüdungslebensdauer und des Materialverhaltens unter Ermüdung</a:t>
                </a:r>
              </a:p>
              <a:p>
                <a:r>
                  <a:rPr lang="en-US" b="1">
                    <a:solidFill>
                      <a:srgbClr val="FF0000"/>
                    </a:solidFill>
                  </a:rPr>
                  <a:t>Wie: </a:t>
                </a:r>
                <a14:m>
                  <m:oMath xmlns:m="http://schemas.openxmlformats.org/officeDocument/2006/math">
                    <m:f>
                      <m:fPr>
                        <m:ctrlPr>
                          <a:rPr lang="en-US" i="1" dirty="0">
                            <a:solidFill>
                              <a:srgbClr val="FF0000"/>
                            </a:solidFill>
                            <a:latin typeface="Cambria Math" panose="02040503050406030204" pitchFamily="18" charset="0"/>
                          </a:rPr>
                        </m:ctrlPr>
                      </m:fPr>
                      <m:num>
                        <m:r>
                          <m:rPr>
                            <m:sty m:val="p"/>
                          </m:rPr>
                          <a:rPr lang="el-GR" dirty="0">
                            <a:solidFill>
                              <a:srgbClr val="FF0000"/>
                            </a:solidFill>
                            <a:latin typeface="Cambria Math" panose="02040503050406030204" pitchFamily="18" charset="0"/>
                          </a:rPr>
                          <m:t>Δ</m:t>
                        </m:r>
                        <m:r>
                          <a:rPr lang="en-US" i="1" dirty="0" smtClean="0">
                            <a:solidFill>
                              <a:srgbClr val="FF0000"/>
                            </a:solidFill>
                            <a:latin typeface="Cambria Math" panose="02040503050406030204" pitchFamily="18" charset="0"/>
                          </a:rPr>
                          <m:t>𝜎</m:t>
                        </m:r>
                      </m:num>
                      <m:den>
                        <m:r>
                          <a:rPr lang="en-US" i="1" dirty="0">
                            <a:solidFill>
                              <a:srgbClr val="FF0000"/>
                            </a:solidFill>
                            <a:latin typeface="Cambria Math" panose="02040503050406030204" pitchFamily="18" charset="0"/>
                          </a:rPr>
                          <m:t>2</m:t>
                        </m:r>
                      </m:den>
                    </m:f>
                    <m:r>
                      <a:rPr lang="en-US" b="0" i="1" dirty="0" smtClean="0">
                        <a:solidFill>
                          <a:srgbClr val="FF0000"/>
                        </a:solidFill>
                        <a:latin typeface="Cambria Math" panose="02040503050406030204" pitchFamily="18" charset="0"/>
                      </a:rPr>
                      <m:t>=</m:t>
                    </m:r>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𝜎</m:t>
                        </m:r>
                      </m:e>
                      <m:sub>
                        <m:r>
                          <a:rPr lang="en-US" b="0" i="1" dirty="0" smtClean="0">
                            <a:solidFill>
                              <a:srgbClr val="FF0000"/>
                            </a:solidFill>
                            <a:latin typeface="Cambria Math" panose="02040503050406030204" pitchFamily="18" charset="0"/>
                          </a:rPr>
                          <m:t>𝑎</m:t>
                        </m:r>
                      </m:sub>
                    </m:sSub>
                    <m:r>
                      <a:rPr lang="de-CH" i="1" dirty="0">
                        <a:solidFill>
                          <a:srgbClr val="FF0000"/>
                        </a:solidFill>
                        <a:latin typeface="Cambria Math" panose="02040503050406030204" pitchFamily="18" charset="0"/>
                      </a:rPr>
                      <m:t>=</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𝐶</m:t>
                        </m:r>
                      </m:e>
                      <m:sub>
                        <m:r>
                          <a:rPr lang="en-US" b="0" i="1" dirty="0" smtClean="0">
                            <a:solidFill>
                              <a:srgbClr val="FF0000"/>
                            </a:solidFill>
                            <a:latin typeface="Cambria Math" panose="02040503050406030204" pitchFamily="18" charset="0"/>
                          </a:rPr>
                          <m:t>1</m:t>
                        </m:r>
                      </m:sub>
                    </m:sSub>
                    <m:sSubSup>
                      <m:sSubSupPr>
                        <m:ctrlPr>
                          <a:rPr lang="en-US" i="1" dirty="0">
                            <a:solidFill>
                              <a:srgbClr val="FF0000"/>
                            </a:solidFill>
                            <a:latin typeface="Cambria Math" panose="02040503050406030204" pitchFamily="18" charset="0"/>
                          </a:rPr>
                        </m:ctrlPr>
                      </m:sSubSupPr>
                      <m:e>
                        <m:r>
                          <a:rPr lang="en-US" i="1" dirty="0">
                            <a:solidFill>
                              <a:srgbClr val="FF0000"/>
                            </a:solidFill>
                            <a:latin typeface="Cambria Math" panose="02040503050406030204" pitchFamily="18" charset="0"/>
                          </a:rPr>
                          <m:t>𝑁</m:t>
                        </m:r>
                      </m:e>
                      <m:sub>
                        <m:r>
                          <a:rPr lang="en-US" i="1" dirty="0">
                            <a:solidFill>
                              <a:srgbClr val="FF0000"/>
                            </a:solidFill>
                            <a:latin typeface="Cambria Math" panose="02040503050406030204" pitchFamily="18" charset="0"/>
                          </a:rPr>
                          <m:t>𝐵</m:t>
                        </m:r>
                      </m:sub>
                      <m:sup>
                        <m:r>
                          <a:rPr lang="en-US" b="0" i="1" dirty="0" smtClean="0">
                            <a:solidFill>
                              <a:srgbClr val="FF0000"/>
                            </a:solidFill>
                            <a:latin typeface="Cambria Math" panose="02040503050406030204" pitchFamily="18" charset="0"/>
                          </a:rPr>
                          <m:t>𝑏</m:t>
                        </m:r>
                      </m:sup>
                    </m:sSubSup>
                  </m:oMath>
                </a14:m>
                <a:r>
                  <a:rPr lang="en-US">
                    <a:solidFill>
                      <a:srgbClr val="FF0000"/>
                    </a:solidFill>
                  </a:rPr>
                  <a:t> </a:t>
                </a:r>
                <a:r>
                  <a:rPr lang="en-US" err="1">
                    <a:solidFill>
                      <a:srgbClr val="FF0000"/>
                    </a:solidFill>
                  </a:rPr>
                  <a:t>bzw</a:t>
                </a:r>
                <a:r>
                  <a:rPr lang="en-US">
                    <a:solidFill>
                      <a:srgbClr val="FF0000"/>
                    </a:solidFill>
                  </a:rPr>
                  <a:t>. </a:t>
                </a:r>
                <a14:m>
                  <m:oMath xmlns:m="http://schemas.openxmlformats.org/officeDocument/2006/math">
                    <m:r>
                      <a:rPr lang="en-US" i="1">
                        <a:solidFill>
                          <a:srgbClr val="FF0000"/>
                        </a:solidFill>
                        <a:latin typeface="Cambria Math" panose="02040503050406030204" pitchFamily="18" charset="0"/>
                      </a:rPr>
                      <m:t>𝜎</m:t>
                    </m:r>
                    <m:r>
                      <a:rPr lang="fr-FR" i="1" baseline="-25000">
                        <a:solidFill>
                          <a:srgbClr val="FF0000"/>
                        </a:solidFill>
                        <a:latin typeface="Cambria Math" panose="02040503050406030204" pitchFamily="18" charset="0"/>
                      </a:rPr>
                      <m:t>𝑎</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m:t>
                        </m:r>
                        <m:r>
                          <a:rPr lang="fr-FR" i="1">
                            <a:solidFill>
                              <a:srgbClr val="FF0000"/>
                            </a:solidFill>
                            <a:latin typeface="Cambria Math" panose="02040503050406030204" pitchFamily="18" charset="0"/>
                          </a:rPr>
                          <m:t>𝑁</m:t>
                        </m:r>
                      </m:e>
                      <m:sub>
                        <m:r>
                          <a:rPr lang="en-US" b="0" i="1" smtClean="0">
                            <a:solidFill>
                              <a:srgbClr val="FF0000"/>
                            </a:solidFill>
                            <a:latin typeface="Cambria Math" panose="02040503050406030204" pitchFamily="18" charset="0"/>
                          </a:rPr>
                          <m:t>𝐵</m:t>
                        </m:r>
                      </m:sub>
                      <m:sup>
                        <m:r>
                          <a:rPr lang="fr-FR" i="1">
                            <a:solidFill>
                              <a:srgbClr val="FF0000"/>
                            </a:solidFill>
                            <a:latin typeface="Cambria Math" panose="02040503050406030204" pitchFamily="18" charset="0"/>
                          </a:rPr>
                          <m:t>−</m:t>
                        </m:r>
                        <m:r>
                          <a:rPr lang="fr-FR" i="1">
                            <a:solidFill>
                              <a:srgbClr val="FF0000"/>
                            </a:solidFill>
                            <a:latin typeface="Cambria Math" panose="02040503050406030204" pitchFamily="18" charset="0"/>
                          </a:rPr>
                          <m:t>𝑏</m:t>
                        </m:r>
                      </m:sup>
                    </m:sSubSup>
                    <m:r>
                      <a:rPr lang="de-CH" i="1">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𝑐</m:t>
                        </m:r>
                      </m:e>
                      <m:sub>
                        <m:r>
                          <a:rPr lang="en-US" b="0" i="1" smtClean="0">
                            <a:solidFill>
                              <a:srgbClr val="FF0000"/>
                            </a:solidFill>
                            <a:latin typeface="Cambria Math" panose="02040503050406030204" pitchFamily="18" charset="0"/>
                            <a:ea typeface="Cambria Math" panose="02040503050406030204" pitchFamily="18" charset="0"/>
                          </a:rPr>
                          <m:t>𝑏</m:t>
                        </m:r>
                      </m:sub>
                    </m:sSub>
                  </m:oMath>
                </a14:m>
                <a:r>
                  <a:rPr lang="de-CH">
                    <a:solidFill>
                      <a:srgbClr val="FF0000"/>
                    </a:solidFill>
                  </a:rPr>
                  <a:t> mit,</a:t>
                </a:r>
              </a:p>
              <a:p>
                <a:pPr lvl="1">
                  <a:buFont typeface="Arial" panose="020B0604020202020204" pitchFamily="34" charset="0"/>
                  <a:buChar char="•"/>
                </a:pPr>
                <a14:m>
                  <m:oMath xmlns:m="http://schemas.openxmlformats.org/officeDocument/2006/math">
                    <m:sSub>
                      <m:sSubPr>
                        <m:ctrlPr>
                          <a:rPr lang="en-US" sz="1700" i="1">
                            <a:solidFill>
                              <a:srgbClr val="FF0000"/>
                            </a:solidFill>
                            <a:latin typeface="Cambria Math" panose="02040503050406030204" pitchFamily="18" charset="0"/>
                          </a:rPr>
                        </m:ctrlPr>
                      </m:sSubPr>
                      <m:e>
                        <m:r>
                          <a:rPr lang="en-US" sz="1700" i="1">
                            <a:solidFill>
                              <a:srgbClr val="FF0000"/>
                            </a:solidFill>
                            <a:latin typeface="Cambria Math" panose="02040503050406030204" pitchFamily="18" charset="0"/>
                          </a:rPr>
                          <m:t>𝜎</m:t>
                        </m:r>
                      </m:e>
                      <m:sub>
                        <m:r>
                          <a:rPr lang="en-US" sz="1700" i="1">
                            <a:solidFill>
                              <a:srgbClr val="FF0000"/>
                            </a:solidFill>
                            <a:latin typeface="Cambria Math" panose="02040503050406030204" pitchFamily="18" charset="0"/>
                          </a:rPr>
                          <m:t>𝑎</m:t>
                        </m:r>
                      </m:sub>
                    </m:sSub>
                  </m:oMath>
                </a14:m>
                <a:r>
                  <a:rPr lang="de-CH" sz="1700">
                    <a:solidFill>
                      <a:srgbClr val="FF0000"/>
                    </a:solidFill>
                  </a:rPr>
                  <a:t> der elastischen Spannungsamplitude bei Versagen</a:t>
                </a:r>
              </a:p>
              <a:p>
                <a:pPr lvl="1">
                  <a:buFont typeface="Arial" panose="020B0604020202020204" pitchFamily="34" charset="0"/>
                  <a:buChar char="•"/>
                </a:pPr>
                <a14:m>
                  <m:oMath xmlns:m="http://schemas.openxmlformats.org/officeDocument/2006/math">
                    <m:sSub>
                      <m:sSubPr>
                        <m:ctrlPr>
                          <a:rPr lang="en-US" sz="1700" i="1" dirty="0">
                            <a:solidFill>
                              <a:srgbClr val="FF0000"/>
                            </a:solidFill>
                            <a:latin typeface="Cambria Math" panose="02040503050406030204" pitchFamily="18" charset="0"/>
                          </a:rPr>
                        </m:ctrlPr>
                      </m:sSubPr>
                      <m:e>
                        <m:r>
                          <a:rPr lang="en-US" sz="1700" i="1" dirty="0">
                            <a:solidFill>
                              <a:srgbClr val="FF0000"/>
                            </a:solidFill>
                            <a:latin typeface="Cambria Math" panose="02040503050406030204" pitchFamily="18" charset="0"/>
                          </a:rPr>
                          <m:t>𝑁</m:t>
                        </m:r>
                      </m:e>
                      <m:sub>
                        <m:r>
                          <a:rPr lang="en-US" sz="1700" i="1" dirty="0">
                            <a:solidFill>
                              <a:srgbClr val="FF0000"/>
                            </a:solidFill>
                            <a:latin typeface="Cambria Math" panose="02040503050406030204" pitchFamily="18" charset="0"/>
                          </a:rPr>
                          <m:t>𝐵</m:t>
                        </m:r>
                      </m:sub>
                    </m:sSub>
                    <m:r>
                      <a:rPr lang="en-US" sz="1700" i="1" dirty="0">
                        <a:solidFill>
                          <a:srgbClr val="FF0000"/>
                        </a:solidFill>
                        <a:latin typeface="Cambria Math" panose="02040503050406030204" pitchFamily="18" charset="0"/>
                      </a:rPr>
                      <m:t> </m:t>
                    </m:r>
                  </m:oMath>
                </a14:m>
                <a:r>
                  <a:rPr lang="de-CH" sz="1700">
                    <a:solidFill>
                      <a:srgbClr val="FF0000"/>
                    </a:solidFill>
                  </a:rPr>
                  <a:t>ist die </a:t>
                </a:r>
                <a:r>
                  <a:rPr lang="en-US" sz="1700" err="1">
                    <a:solidFill>
                      <a:srgbClr val="FF0000"/>
                    </a:solidFill>
                  </a:rPr>
                  <a:t>Bruchlastspielzahl</a:t>
                </a:r>
                <a:r>
                  <a:rPr lang="en-US" sz="1700">
                    <a:solidFill>
                      <a:srgbClr val="FF0000"/>
                    </a:solidFill>
                  </a:rPr>
                  <a:t> (</a:t>
                </a:r>
                <a:r>
                  <a:rPr lang="de-CH" sz="1700">
                    <a:solidFill>
                      <a:srgbClr val="FF0000"/>
                    </a:solidFill>
                  </a:rPr>
                  <a:t>Anzahl Zyklen bis Versagen)</a:t>
                </a:r>
              </a:p>
              <a:p>
                <a:pPr lvl="1">
                  <a:buFont typeface="Arial" panose="020B0604020202020204" pitchFamily="34" charset="0"/>
                  <a:buChar char="•"/>
                </a:pPr>
                <a14:m>
                  <m:oMath xmlns:m="http://schemas.openxmlformats.org/officeDocument/2006/math">
                    <m:sSub>
                      <m:sSubPr>
                        <m:ctrlPr>
                          <a:rPr lang="en-US" sz="1700" i="1" dirty="0">
                            <a:solidFill>
                              <a:srgbClr val="FF0000"/>
                            </a:solidFill>
                            <a:latin typeface="Cambria Math" panose="02040503050406030204" pitchFamily="18" charset="0"/>
                          </a:rPr>
                        </m:ctrlPr>
                      </m:sSubPr>
                      <m:e>
                        <m:r>
                          <a:rPr lang="en-US" sz="1700" i="1" dirty="0">
                            <a:solidFill>
                              <a:srgbClr val="FF0000"/>
                            </a:solidFill>
                            <a:latin typeface="Cambria Math" panose="02040503050406030204" pitchFamily="18" charset="0"/>
                          </a:rPr>
                          <m:t>𝐶</m:t>
                        </m:r>
                      </m:e>
                      <m:sub>
                        <m:r>
                          <a:rPr lang="en-US" sz="1700" i="1" dirty="0">
                            <a:solidFill>
                              <a:srgbClr val="FF0000"/>
                            </a:solidFill>
                            <a:latin typeface="Cambria Math" panose="02040503050406030204" pitchFamily="18" charset="0"/>
                          </a:rPr>
                          <m:t>1</m:t>
                        </m:r>
                      </m:sub>
                    </m:sSub>
                  </m:oMath>
                </a14:m>
                <a:r>
                  <a:rPr lang="de-CH" sz="1700">
                    <a:solidFill>
                      <a:srgbClr val="FF0000"/>
                    </a:solidFill>
                  </a:rPr>
                  <a:t> oder </a:t>
                </a:r>
                <a14:m>
                  <m:oMath xmlns:m="http://schemas.openxmlformats.org/officeDocument/2006/math">
                    <m:sSub>
                      <m:sSubPr>
                        <m:ctrlPr>
                          <a:rPr lang="en-US" sz="1700" i="1" dirty="0">
                            <a:solidFill>
                              <a:srgbClr val="FF0000"/>
                            </a:solidFill>
                            <a:latin typeface="Cambria Math" panose="02040503050406030204" pitchFamily="18" charset="0"/>
                          </a:rPr>
                        </m:ctrlPr>
                      </m:sSubPr>
                      <m:e>
                        <m:r>
                          <a:rPr lang="en-US" sz="1700" i="1" dirty="0">
                            <a:solidFill>
                              <a:srgbClr val="FF0000"/>
                            </a:solidFill>
                            <a:latin typeface="Cambria Math" panose="02040503050406030204" pitchFamily="18" charset="0"/>
                          </a:rPr>
                          <m:t>𝑐</m:t>
                        </m:r>
                      </m:e>
                      <m:sub>
                        <m:r>
                          <a:rPr lang="en-US" sz="1700" i="1" dirty="0">
                            <a:solidFill>
                              <a:srgbClr val="FF0000"/>
                            </a:solidFill>
                            <a:latin typeface="Cambria Math" panose="02040503050406030204" pitchFamily="18" charset="0"/>
                          </a:rPr>
                          <m:t>𝑏</m:t>
                        </m:r>
                      </m:sub>
                    </m:sSub>
                  </m:oMath>
                </a14:m>
                <a:r>
                  <a:rPr lang="de-CH" sz="1700">
                    <a:solidFill>
                      <a:srgbClr val="FF0000"/>
                    </a:solidFill>
                  </a:rPr>
                  <a:t> der Ermüdungsduktilitätskoeffizient </a:t>
                </a:r>
                <a:endParaRPr lang="en-US" sz="1700" i="1">
                  <a:solidFill>
                    <a:srgbClr val="FF0000"/>
                  </a:solidFill>
                  <a:latin typeface="Cambria Math" panose="02040503050406030204" pitchFamily="18" charset="0"/>
                </a:endParaRPr>
              </a:p>
              <a:p>
                <a:pPr lvl="1">
                  <a:buFont typeface="Arial" panose="020B0604020202020204" pitchFamily="34" charset="0"/>
                  <a:buChar char="•"/>
                </a:pPr>
                <a14:m>
                  <m:oMath xmlns:m="http://schemas.openxmlformats.org/officeDocument/2006/math">
                    <m:r>
                      <a:rPr lang="en-US" sz="1700" i="1">
                        <a:solidFill>
                          <a:srgbClr val="FF0000"/>
                        </a:solidFill>
                        <a:latin typeface="Cambria Math" panose="02040503050406030204" pitchFamily="18" charset="0"/>
                      </a:rPr>
                      <m:t>𝑏</m:t>
                    </m:r>
                  </m:oMath>
                </a14:m>
                <a:r>
                  <a:rPr lang="de-CH" sz="1700">
                    <a:solidFill>
                      <a:srgbClr val="FF0000"/>
                    </a:solidFill>
                  </a:rPr>
                  <a:t> ist der Ermüdungsduktilitätsexponent (-</a:t>
                </a:r>
                <a:r>
                  <a:rPr lang="de-DE" altLang="de-DE" sz="1700">
                    <a:solidFill>
                      <a:srgbClr val="FF0000"/>
                    </a:solidFill>
                  </a:rPr>
                  <a:t>0,07 – -0,13)</a:t>
                </a:r>
                <a:endParaRPr lang="de-CH" sz="1700">
                  <a:solidFill>
                    <a:srgbClr val="FF0000"/>
                  </a:solidFill>
                </a:endParaRPr>
              </a:p>
            </p:txBody>
          </p:sp>
        </mc:Choice>
        <mc:Fallback>
          <p:sp>
            <p:nvSpPr>
              <p:cNvPr id="3" name="Content Placeholder 2">
                <a:extLst>
                  <a:ext uri="{FF2B5EF4-FFF2-40B4-BE49-F238E27FC236}">
                    <a16:creationId xmlns:a16="http://schemas.microsoft.com/office/drawing/2014/main" id="{F9EBFF74-288D-A6A2-09FC-31037AD77073}"/>
                  </a:ext>
                </a:extLst>
              </p:cNvPr>
              <p:cNvSpPr>
                <a:spLocks noGrp="1" noRot="1" noChangeAspect="1" noMove="1" noResize="1" noEditPoints="1" noAdjustHandles="1" noChangeArrowheads="1" noChangeShapeType="1" noTextEdit="1"/>
              </p:cNvSpPr>
              <p:nvPr>
                <p:ph idx="1"/>
              </p:nvPr>
            </p:nvSpPr>
            <p:spPr>
              <a:xfrm>
                <a:off x="840254" y="922298"/>
                <a:ext cx="6769935" cy="4349638"/>
              </a:xfrm>
              <a:blipFill>
                <a:blip r:embed="rId3"/>
                <a:stretch>
                  <a:fillRect l="-1441" t="-2801"/>
                </a:stretch>
              </a:blipFill>
            </p:spPr>
            <p:txBody>
              <a:bodyPr/>
              <a:lstStyle/>
              <a:p>
                <a:r>
                  <a:rPr lang="de-CH">
                    <a:noFill/>
                  </a:rPr>
                  <a:t> </a:t>
                </a:r>
              </a:p>
            </p:txBody>
          </p:sp>
        </mc:Fallback>
      </mc:AlternateContent>
      <p:pic>
        <p:nvPicPr>
          <p:cNvPr id="2050" name="Picture 2" descr="Fig. 3.9">
            <a:extLst>
              <a:ext uri="{FF2B5EF4-FFF2-40B4-BE49-F238E27FC236}">
                <a16:creationId xmlns:a16="http://schemas.microsoft.com/office/drawing/2014/main" id="{1A885F77-8923-474C-76BF-C33ECF27EC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2178" y="1029512"/>
            <a:ext cx="4598778" cy="33256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CAD470-10AA-4ED3-A473-9DC12C0C3405}"/>
              </a:ext>
            </a:extLst>
          </p:cNvPr>
          <p:cNvSpPr txBox="1"/>
          <p:nvPr/>
        </p:nvSpPr>
        <p:spPr>
          <a:xfrm>
            <a:off x="7890814" y="4525986"/>
            <a:ext cx="3998937" cy="215444"/>
          </a:xfrm>
          <a:prstGeom prst="rect">
            <a:avLst/>
          </a:prstGeom>
          <a:noFill/>
        </p:spPr>
        <p:txBody>
          <a:bodyPr wrap="square">
            <a:spAutoFit/>
          </a:bodyPr>
          <a:lstStyle/>
          <a:p>
            <a:r>
              <a:rPr lang="en-US" sz="800"/>
              <a:t>Methodology of Fatigue Life Simulation in Trabecular Bone, </a:t>
            </a:r>
            <a:r>
              <a:rPr lang="en-US" sz="800" err="1"/>
              <a:t>Mostakhdemin</a:t>
            </a:r>
            <a:r>
              <a:rPr lang="en-US" sz="800"/>
              <a:t> et al. 2015</a:t>
            </a:r>
            <a:endParaRPr lang="de-CH" sz="80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AF62DA2-746F-2939-D2BD-F2B2C24611CB}"/>
                  </a:ext>
                </a:extLst>
              </p:cNvPr>
              <p:cNvSpPr txBox="1"/>
              <p:nvPr/>
            </p:nvSpPr>
            <p:spPr>
              <a:xfrm>
                <a:off x="626269" y="5367017"/>
                <a:ext cx="11633200" cy="922945"/>
              </a:xfrm>
              <a:prstGeom prst="rect">
                <a:avLst/>
              </a:prstGeom>
              <a:noFill/>
            </p:spPr>
            <p:txBody>
              <a:bodyPr wrap="square" rtlCol="0">
                <a:spAutoFit/>
              </a:bodyPr>
              <a:lstStyle/>
              <a:p>
                <a:r>
                  <a:rPr lang="en-US" sz="1799" err="1"/>
                  <a:t>Hinweis</a:t>
                </a:r>
                <a:r>
                  <a:rPr lang="en-US" sz="1799"/>
                  <a:t>: In der </a:t>
                </a:r>
                <a:r>
                  <a:rPr lang="en-US" sz="1799" err="1"/>
                  <a:t>Literatur</a:t>
                </a:r>
                <a:r>
                  <a:rPr lang="en-US" sz="1799"/>
                  <a:t> </a:t>
                </a:r>
                <a:r>
                  <a:rPr lang="en-US" sz="1799" err="1"/>
                  <a:t>existieren</a:t>
                </a:r>
                <a:r>
                  <a:rPr lang="en-US" sz="1799"/>
                  <a:t> </a:t>
                </a:r>
                <a:r>
                  <a:rPr lang="en-US" sz="1799" err="1"/>
                  <a:t>verschiedene</a:t>
                </a:r>
                <a:r>
                  <a:rPr lang="en-US" sz="1799"/>
                  <a:t> </a:t>
                </a:r>
                <a:r>
                  <a:rPr lang="en-US" sz="1799" err="1"/>
                  <a:t>Formen</a:t>
                </a:r>
                <a:r>
                  <a:rPr lang="en-US" sz="1799"/>
                  <a:t> der Formel </a:t>
                </a:r>
                <a:r>
                  <a:rPr lang="en-US" sz="1799" err="1"/>
                  <a:t>mit</a:t>
                </a:r>
                <a:r>
                  <a:rPr lang="en-US" sz="1799"/>
                  <a:t> </a:t>
                </a:r>
                <a:r>
                  <a:rPr lang="en-US" sz="1799" err="1"/>
                  <a:t>unterschiedlichen</a:t>
                </a:r>
                <a:r>
                  <a:rPr lang="en-US" sz="1799"/>
                  <a:t> </a:t>
                </a:r>
                <a:r>
                  <a:rPr lang="en-US" sz="1799" err="1"/>
                  <a:t>Konstanten</a:t>
                </a:r>
                <a:r>
                  <a:rPr lang="en-US" sz="1799"/>
                  <a:t> (</a:t>
                </a:r>
                <a:r>
                  <a:rPr lang="en-US" sz="1799" err="1"/>
                  <a:t>vgl</a:t>
                </a:r>
                <a:r>
                  <a:rPr lang="en-US" sz="1799"/>
                  <a:t>. </a:t>
                </a:r>
                <a:r>
                  <a:rPr lang="en-US" sz="1799" err="1"/>
                  <a:t>Folien</a:t>
                </a:r>
                <a:r>
                  <a:rPr lang="en-US" sz="1799"/>
                  <a:t> 34 &amp; 60). In der </a:t>
                </a:r>
                <a:r>
                  <a:rPr lang="en-US" sz="1799" err="1"/>
                  <a:t>Übung</a:t>
                </a:r>
                <a:r>
                  <a:rPr lang="en-US" sz="1799"/>
                  <a:t> </a:t>
                </a:r>
                <a:r>
                  <a:rPr lang="en-US" sz="1799" err="1"/>
                  <a:t>verwenden</a:t>
                </a:r>
                <a:r>
                  <a:rPr lang="en-US" sz="1799"/>
                  <a:t> </a:t>
                </a:r>
                <a:r>
                  <a:rPr lang="en-US" sz="1799" err="1"/>
                  <a:t>wir</a:t>
                </a:r>
                <a:r>
                  <a:rPr lang="en-US" sz="1799"/>
                  <a:t> </a:t>
                </a:r>
                <a:r>
                  <a:rPr lang="en-US" sz="1799" err="1"/>
                  <a:t>zum</a:t>
                </a:r>
                <a:r>
                  <a:rPr lang="en-US" sz="1799"/>
                  <a:t> </a:t>
                </a:r>
                <a:r>
                  <a:rPr lang="en-US" sz="1799" err="1"/>
                  <a:t>Beispiel</a:t>
                </a:r>
                <a:r>
                  <a:rPr lang="en-US" sz="1799"/>
                  <a:t> die </a:t>
                </a:r>
                <a:r>
                  <a:rPr lang="en-US" sz="1799" err="1"/>
                  <a:t>Beziehung</a:t>
                </a:r>
                <a:r>
                  <a:rPr lang="en-US" sz="1799"/>
                  <a:t>: </a:t>
                </a:r>
                <a14:m>
                  <m:oMath xmlns:m="http://schemas.openxmlformats.org/officeDocument/2006/math">
                    <m:sSub>
                      <m:sSubPr>
                        <m:ctrlPr>
                          <a:rPr lang="en-US" sz="1799" i="1">
                            <a:latin typeface="Cambria Math" panose="02040503050406030204" pitchFamily="18" charset="0"/>
                          </a:rPr>
                        </m:ctrlPr>
                      </m:sSubPr>
                      <m:e>
                        <m:r>
                          <m:rPr>
                            <m:sty m:val="p"/>
                          </m:rPr>
                          <a:rPr lang="en-US" sz="1799">
                            <a:latin typeface="Cambria Math" panose="02040503050406030204" pitchFamily="18" charset="0"/>
                          </a:rPr>
                          <m:t>N</m:t>
                        </m:r>
                      </m:e>
                      <m:sub>
                        <m:r>
                          <m:rPr>
                            <m:sty m:val="p"/>
                          </m:rPr>
                          <a:rPr lang="en-US" sz="1799">
                            <a:latin typeface="Cambria Math" panose="02040503050406030204" pitchFamily="18" charset="0"/>
                          </a:rPr>
                          <m:t>B</m:t>
                        </m:r>
                      </m:sub>
                    </m:sSub>
                    <m:r>
                      <a:rPr lang="en-US" sz="1799" i="1">
                        <a:latin typeface="Cambria Math" panose="02040503050406030204" pitchFamily="18" charset="0"/>
                      </a:rPr>
                      <m:t>⋅</m:t>
                    </m:r>
                    <m:sSubSup>
                      <m:sSubSupPr>
                        <m:ctrlPr>
                          <a:rPr lang="en-US" sz="1799" i="1">
                            <a:latin typeface="Cambria Math" panose="02040503050406030204" pitchFamily="18" charset="0"/>
                          </a:rPr>
                        </m:ctrlPr>
                      </m:sSubSupPr>
                      <m:e>
                        <m:r>
                          <a:rPr lang="en-US" sz="1799" i="1">
                            <a:latin typeface="Cambria Math" panose="02040503050406030204" pitchFamily="18" charset="0"/>
                          </a:rPr>
                          <m:t>𝜎</m:t>
                        </m:r>
                      </m:e>
                      <m:sub>
                        <m:r>
                          <a:rPr lang="en-US" sz="1799" i="1">
                            <a:latin typeface="Cambria Math" panose="02040503050406030204" pitchFamily="18" charset="0"/>
                          </a:rPr>
                          <m:t>𝑎</m:t>
                        </m:r>
                      </m:sub>
                      <m:sup>
                        <m:r>
                          <a:rPr lang="en-US" sz="1799" i="1">
                            <a:latin typeface="Cambria Math" panose="02040503050406030204" pitchFamily="18" charset="0"/>
                          </a:rPr>
                          <m:t>𝑚</m:t>
                        </m:r>
                      </m:sup>
                    </m:sSubSup>
                    <m:r>
                      <a:rPr lang="en-US" sz="1799" i="1">
                        <a:latin typeface="Cambria Math" panose="02040503050406030204" pitchFamily="18" charset="0"/>
                      </a:rPr>
                      <m:t>=</m:t>
                    </m:r>
                    <m:r>
                      <a:rPr lang="en-US" sz="1799" i="1">
                        <a:latin typeface="Cambria Math" panose="02040503050406030204" pitchFamily="18" charset="0"/>
                      </a:rPr>
                      <m:t>𝐶</m:t>
                    </m:r>
                  </m:oMath>
                </a14:m>
                <a:r>
                  <a:rPr lang="de-CH" sz="1799"/>
                  <a:t>. </a:t>
                </a:r>
              </a:p>
              <a:p>
                <a:r>
                  <a:rPr lang="de-CH" sz="1799"/>
                  <a:t>Wichtig ist, dass die Formel eine lineare Abhängigkeit im logarithmischen Maßstab beschreibt.</a:t>
                </a:r>
              </a:p>
            </p:txBody>
          </p:sp>
        </mc:Choice>
        <mc:Fallback>
          <p:sp>
            <p:nvSpPr>
              <p:cNvPr id="5" name="TextBox 4">
                <a:extLst>
                  <a:ext uri="{FF2B5EF4-FFF2-40B4-BE49-F238E27FC236}">
                    <a16:creationId xmlns:a16="http://schemas.microsoft.com/office/drawing/2014/main" id="{EAF62DA2-746F-2939-D2BD-F2B2C24611CB}"/>
                  </a:ext>
                </a:extLst>
              </p:cNvPr>
              <p:cNvSpPr txBox="1">
                <a:spLocks noRot="1" noChangeAspect="1" noMove="1" noResize="1" noEditPoints="1" noAdjustHandles="1" noChangeArrowheads="1" noChangeShapeType="1" noTextEdit="1"/>
              </p:cNvSpPr>
              <p:nvPr/>
            </p:nvSpPr>
            <p:spPr>
              <a:xfrm>
                <a:off x="626269" y="5367017"/>
                <a:ext cx="11633200" cy="922945"/>
              </a:xfrm>
              <a:prstGeom prst="rect">
                <a:avLst/>
              </a:prstGeom>
              <a:blipFill>
                <a:blip r:embed="rId5"/>
                <a:stretch>
                  <a:fillRect l="-419" t="-1974" b="-8553"/>
                </a:stretch>
              </a:blipFill>
            </p:spPr>
            <p:txBody>
              <a:bodyPr/>
              <a:lstStyle/>
              <a:p>
                <a:r>
                  <a:rPr lang="de-CH">
                    <a:noFill/>
                  </a:rPr>
                  <a:t> </a:t>
                </a:r>
              </a:p>
            </p:txBody>
          </p:sp>
        </mc:Fallback>
      </mc:AlternateContent>
      <p:cxnSp>
        <p:nvCxnSpPr>
          <p:cNvPr id="7" name="Straight Connector 6">
            <a:extLst>
              <a:ext uri="{FF2B5EF4-FFF2-40B4-BE49-F238E27FC236}">
                <a16:creationId xmlns:a16="http://schemas.microsoft.com/office/drawing/2014/main" id="{97B34D79-7C26-C1A5-C580-5B32A6E8F46C}"/>
              </a:ext>
            </a:extLst>
          </p:cNvPr>
          <p:cNvCxnSpPr/>
          <p:nvPr/>
        </p:nvCxnSpPr>
        <p:spPr>
          <a:xfrm>
            <a:off x="8003382" y="2459736"/>
            <a:ext cx="3886369" cy="722376"/>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298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0C78-8BE5-9EA1-CD61-7E3E6463A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BD063-6F7E-8314-6F1F-1B533191CF0E}"/>
              </a:ext>
            </a:extLst>
          </p:cNvPr>
          <p:cNvSpPr>
            <a:spLocks noGrp="1"/>
          </p:cNvSpPr>
          <p:nvPr>
            <p:ph type="title"/>
          </p:nvPr>
        </p:nvSpPr>
        <p:spPr/>
        <p:txBody>
          <a:bodyPr/>
          <a:lstStyle/>
          <a:p>
            <a:r>
              <a:rPr lang="de-CH"/>
              <a:t>Coffin Manson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DD32244-0019-9F1F-1941-2A516121D97F}"/>
                  </a:ext>
                </a:extLst>
              </p:cNvPr>
              <p:cNvSpPr>
                <a:spLocks noGrp="1"/>
              </p:cNvSpPr>
              <p:nvPr>
                <p:ph idx="1"/>
              </p:nvPr>
            </p:nvSpPr>
            <p:spPr>
              <a:xfrm>
                <a:off x="840254" y="1826251"/>
                <a:ext cx="6550640" cy="4349638"/>
              </a:xfrm>
            </p:spPr>
            <p:txBody>
              <a:bodyPr>
                <a:normAutofit lnSpcReduction="10000"/>
              </a:bodyPr>
              <a:lstStyle/>
              <a:p>
                <a:r>
                  <a:rPr lang="de-CH" b="1"/>
                  <a:t>Zweck:</a:t>
                </a:r>
                <a:r>
                  <a:rPr lang="de-CH"/>
                  <a:t> Bezieht die Ermüdungslebensdauer auf die Duktilität und die zyklische Belastungsamplitude.</a:t>
                </a:r>
              </a:p>
              <a:p>
                <a:r>
                  <a:rPr lang="de-CH" b="1"/>
                  <a:t>Anwendung:</a:t>
                </a:r>
                <a:r>
                  <a:rPr lang="de-CH"/>
                  <a:t> Für Werkstoffe, die zu zyklisch-plastischer Verformung neigen, für Ermüdung bei Kurzzeitfestigkeit.</a:t>
                </a:r>
              </a:p>
              <a:p>
                <a:r>
                  <a:rPr lang="de-CH" b="1"/>
                  <a:t>Wie:</a:t>
                </a:r>
                <a:r>
                  <a:rPr lang="de-CH"/>
                  <a:t> </a:t>
                </a:r>
                <a14:m>
                  <m:oMath xmlns:m="http://schemas.openxmlformats.org/officeDocument/2006/math">
                    <m:f>
                      <m:fPr>
                        <m:ctrlPr>
                          <a:rPr lang="en-US" b="0" i="1" dirty="0" smtClean="0">
                            <a:latin typeface="Cambria Math" panose="02040503050406030204" pitchFamily="18" charset="0"/>
                          </a:rPr>
                        </m:ctrlPr>
                      </m:fPr>
                      <m:num>
                        <m:r>
                          <m:rPr>
                            <m:sty m:val="p"/>
                          </m:rPr>
                          <a:rPr lang="el-GR" i="0" dirty="0" smtClean="0">
                            <a:latin typeface="Cambria Math" panose="02040503050406030204" pitchFamily="18" charset="0"/>
                          </a:rPr>
                          <m:t>Δ</m:t>
                        </m:r>
                        <m:sSub>
                          <m:sSubPr>
                            <m:ctrlPr>
                              <a:rPr lang="en-US" b="0" i="1" dirty="0" smtClean="0">
                                <a:latin typeface="Cambria Math" panose="02040503050406030204" pitchFamily="18" charset="0"/>
                              </a:rPr>
                            </m:ctrlPr>
                          </m:sSubPr>
                          <m:e>
                            <m:r>
                              <a:rPr lang="el-GR" i="1" dirty="0" smtClean="0">
                                <a:latin typeface="Cambria Math" panose="02040503050406030204" pitchFamily="18" charset="0"/>
                              </a:rPr>
                              <m:t>𝜀</m:t>
                            </m:r>
                          </m:e>
                          <m:sub>
                            <m:r>
                              <a:rPr lang="en-US" b="0" i="1" dirty="0" smtClean="0">
                                <a:latin typeface="Cambria Math" panose="02040503050406030204" pitchFamily="18" charset="0"/>
                              </a:rPr>
                              <m:t>𝑝𝑙</m:t>
                            </m:r>
                          </m:sub>
                        </m:sSub>
                      </m:num>
                      <m:den>
                        <m:r>
                          <a:rPr lang="en-US" b="0" i="1" dirty="0" smtClean="0">
                            <a:latin typeface="Cambria Math" panose="02040503050406030204" pitchFamily="18" charset="0"/>
                          </a:rPr>
                          <m:t>2</m:t>
                        </m:r>
                      </m:den>
                    </m:f>
                    <m:r>
                      <a:rPr lang="de-CH"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2</m:t>
                        </m:r>
                      </m:sub>
                    </m:sSub>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𝑁</m:t>
                        </m:r>
                      </m:e>
                      <m:sub>
                        <m:r>
                          <a:rPr lang="en-US" b="0" i="1" dirty="0" smtClean="0">
                            <a:latin typeface="Cambria Math" panose="02040503050406030204" pitchFamily="18" charset="0"/>
                          </a:rPr>
                          <m:t>𝐵</m:t>
                        </m:r>
                      </m:sub>
                      <m:sup>
                        <m:r>
                          <a:rPr lang="en-US" b="0" i="1" dirty="0" smtClean="0">
                            <a:latin typeface="Cambria Math" panose="02040503050406030204" pitchFamily="18" charset="0"/>
                          </a:rPr>
                          <m:t>𝑐</m:t>
                        </m:r>
                      </m:sup>
                    </m:sSubSup>
                  </m:oMath>
                </a14:m>
                <a:r>
                  <a:rPr lang="de-CH"/>
                  <a:t>, mit </a:t>
                </a:r>
              </a:p>
              <a:p>
                <a:pPr lvl="1">
                  <a:buFont typeface="Arial" panose="020B0604020202020204" pitchFamily="34" charset="0"/>
                  <a:buChar char="•"/>
                </a:pPr>
                <a14:m>
                  <m:oMath xmlns:m="http://schemas.openxmlformats.org/officeDocument/2006/math">
                    <m:r>
                      <m:rPr>
                        <m:sty m:val="p"/>
                      </m:rPr>
                      <a:rPr lang="el-GR" sz="1600" dirty="0">
                        <a:latin typeface="Cambria Math" panose="02040503050406030204" pitchFamily="18" charset="0"/>
                      </a:rPr>
                      <m:t>Δ</m:t>
                    </m:r>
                    <m:sSub>
                      <m:sSubPr>
                        <m:ctrlPr>
                          <a:rPr lang="en-US" sz="1600" i="1" dirty="0">
                            <a:latin typeface="Cambria Math" panose="02040503050406030204" pitchFamily="18" charset="0"/>
                          </a:rPr>
                        </m:ctrlPr>
                      </m:sSubPr>
                      <m:e>
                        <m:r>
                          <a:rPr lang="el-GR" sz="1600" i="1" dirty="0">
                            <a:latin typeface="Cambria Math" panose="02040503050406030204" pitchFamily="18" charset="0"/>
                          </a:rPr>
                          <m:t>𝜀</m:t>
                        </m:r>
                      </m:e>
                      <m:sub>
                        <m:r>
                          <a:rPr lang="en-US" sz="1600" i="1" dirty="0">
                            <a:latin typeface="Cambria Math" panose="02040503050406030204" pitchFamily="18" charset="0"/>
                          </a:rPr>
                          <m:t>𝑝𝑙</m:t>
                        </m:r>
                      </m:sub>
                    </m:sSub>
                    <m:r>
                      <a:rPr lang="en-US" sz="1600" i="1" dirty="0">
                        <a:latin typeface="Cambria Math" panose="02040503050406030204" pitchFamily="18" charset="0"/>
                      </a:rPr>
                      <m:t> </m:t>
                    </m:r>
                  </m:oMath>
                </a14:m>
                <a:r>
                  <a:rPr lang="de-DE" altLang="de-DE" sz="1600">
                    <a:sym typeface="Symbol" panose="05050102010706020507" pitchFamily="18" charset="2"/>
                  </a:rPr>
                  <a:t>Dehnungsintervall bei Versagen</a:t>
                </a:r>
                <a:endParaRPr lang="de-CH" sz="1600"/>
              </a:p>
              <a:p>
                <a:pPr lvl="1">
                  <a:buFont typeface="Arial" panose="020B0604020202020204" pitchFamily="34" charset="0"/>
                  <a:buChar char="•"/>
                </a:pPr>
                <a14:m>
                  <m:oMath xmlns:m="http://schemas.openxmlformats.org/officeDocument/2006/math">
                    <m:sSub>
                      <m:sSubPr>
                        <m:ctrlPr>
                          <a:rPr lang="en-US" sz="1600" i="1" dirty="0">
                            <a:latin typeface="Cambria Math" panose="02040503050406030204" pitchFamily="18" charset="0"/>
                          </a:rPr>
                        </m:ctrlPr>
                      </m:sSubPr>
                      <m:e>
                        <m:r>
                          <a:rPr lang="en-US" sz="1600" i="1" dirty="0">
                            <a:latin typeface="Cambria Math" panose="02040503050406030204" pitchFamily="18" charset="0"/>
                          </a:rPr>
                          <m:t>𝑁</m:t>
                        </m:r>
                      </m:e>
                      <m:sub>
                        <m:r>
                          <a:rPr lang="en-US" sz="1600" i="1" dirty="0">
                            <a:latin typeface="Cambria Math" panose="02040503050406030204" pitchFamily="18" charset="0"/>
                          </a:rPr>
                          <m:t>𝐵</m:t>
                        </m:r>
                      </m:sub>
                    </m:sSub>
                    <m:r>
                      <a:rPr lang="en-US" sz="1600" i="1" dirty="0">
                        <a:latin typeface="Cambria Math" panose="02040503050406030204" pitchFamily="18" charset="0"/>
                      </a:rPr>
                      <m:t> </m:t>
                    </m:r>
                  </m:oMath>
                </a14:m>
                <a:r>
                  <a:rPr lang="de-CH" sz="1600"/>
                  <a:t>Anzahl Zyklen bis Versagen</a:t>
                </a:r>
              </a:p>
              <a:p>
                <a:pPr lvl="1">
                  <a:buFont typeface="Arial" panose="020B0604020202020204" pitchFamily="34" charset="0"/>
                  <a:buChar char="•"/>
                </a:pPr>
                <a14:m>
                  <m:oMath xmlns:m="http://schemas.openxmlformats.org/officeDocument/2006/math">
                    <m:sSub>
                      <m:sSubPr>
                        <m:ctrlPr>
                          <a:rPr lang="en-US" sz="1600" i="1" dirty="0">
                            <a:latin typeface="Cambria Math" panose="02040503050406030204" pitchFamily="18" charset="0"/>
                          </a:rPr>
                        </m:ctrlPr>
                      </m:sSubPr>
                      <m:e>
                        <m:r>
                          <a:rPr lang="en-US" sz="1600" i="1" dirty="0">
                            <a:latin typeface="Cambria Math" panose="02040503050406030204" pitchFamily="18" charset="0"/>
                          </a:rPr>
                          <m:t>𝐶</m:t>
                        </m:r>
                      </m:e>
                      <m:sub>
                        <m:r>
                          <a:rPr lang="en-US" sz="1600" i="1" dirty="0">
                            <a:latin typeface="Cambria Math" panose="02040503050406030204" pitchFamily="18" charset="0"/>
                          </a:rPr>
                          <m:t>2</m:t>
                        </m:r>
                      </m:sub>
                    </m:sSub>
                  </m:oMath>
                </a14:m>
                <a:r>
                  <a:rPr lang="de-CH" sz="1600"/>
                  <a:t> der Ermüdungszähigkeitskoeffizient</a:t>
                </a:r>
              </a:p>
              <a:p>
                <a:pPr lvl="1">
                  <a:buFont typeface="Arial" panose="020B0604020202020204" pitchFamily="34" charset="0"/>
                  <a:buChar char="•"/>
                </a:pPr>
                <a14:m>
                  <m:oMath xmlns:m="http://schemas.openxmlformats.org/officeDocument/2006/math">
                    <m:r>
                      <a:rPr lang="en-US" sz="1600" i="1">
                        <a:latin typeface="Cambria Math" panose="02040503050406030204" pitchFamily="18" charset="0"/>
                      </a:rPr>
                      <m:t>𝑐</m:t>
                    </m:r>
                  </m:oMath>
                </a14:m>
                <a:r>
                  <a:rPr lang="de-CH" sz="1600"/>
                  <a:t> der Ermüdungsduktilitätsexponent (</a:t>
                </a:r>
                <a:r>
                  <a:rPr lang="de-DE" altLang="de-DE" sz="1600"/>
                  <a:t>-0,5 – -0,7)</a:t>
                </a:r>
                <a:endParaRPr lang="de-CH" sz="1600"/>
              </a:p>
            </p:txBody>
          </p:sp>
        </mc:Choice>
        <mc:Fallback>
          <p:sp>
            <p:nvSpPr>
              <p:cNvPr id="3" name="Content Placeholder 2">
                <a:extLst>
                  <a:ext uri="{FF2B5EF4-FFF2-40B4-BE49-F238E27FC236}">
                    <a16:creationId xmlns:a16="http://schemas.microsoft.com/office/drawing/2014/main" id="{6DD32244-0019-9F1F-1941-2A516121D97F}"/>
                  </a:ext>
                </a:extLst>
              </p:cNvPr>
              <p:cNvSpPr>
                <a:spLocks noGrp="1" noRot="1" noChangeAspect="1" noMove="1" noResize="1" noEditPoints="1" noAdjustHandles="1" noChangeArrowheads="1" noChangeShapeType="1" noTextEdit="1"/>
              </p:cNvSpPr>
              <p:nvPr>
                <p:ph idx="1"/>
              </p:nvPr>
            </p:nvSpPr>
            <p:spPr>
              <a:xfrm>
                <a:off x="840254" y="1826251"/>
                <a:ext cx="6550640" cy="4349638"/>
              </a:xfrm>
              <a:blipFill>
                <a:blip r:embed="rId2"/>
                <a:stretch>
                  <a:fillRect l="-1676" t="-3226"/>
                </a:stretch>
              </a:blipFill>
            </p:spPr>
            <p:txBody>
              <a:bodyPr/>
              <a:lstStyle/>
              <a:p>
                <a:r>
                  <a:rPr lang="de-CH">
                    <a:noFill/>
                  </a:rPr>
                  <a:t> </a:t>
                </a:r>
              </a:p>
            </p:txBody>
          </p:sp>
        </mc:Fallback>
      </mc:AlternateContent>
      <p:pic>
        <p:nvPicPr>
          <p:cNvPr id="4" name="Picture 2">
            <a:extLst>
              <a:ext uri="{FF2B5EF4-FFF2-40B4-BE49-F238E27FC236}">
                <a16:creationId xmlns:a16="http://schemas.microsoft.com/office/drawing/2014/main" id="{7DF62884-6C96-472A-7F52-3A063D0C1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7457543" y="1356373"/>
            <a:ext cx="4598778" cy="33196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8BD07AD-8F34-49AA-453C-F576C1D681D0}"/>
              </a:ext>
            </a:extLst>
          </p:cNvPr>
          <p:cNvSpPr txBox="1"/>
          <p:nvPr/>
        </p:nvSpPr>
        <p:spPr>
          <a:xfrm>
            <a:off x="7757464" y="4792686"/>
            <a:ext cx="3998937" cy="215444"/>
          </a:xfrm>
          <a:prstGeom prst="rect">
            <a:avLst/>
          </a:prstGeom>
          <a:noFill/>
        </p:spPr>
        <p:txBody>
          <a:bodyPr wrap="square">
            <a:spAutoFit/>
          </a:bodyPr>
          <a:lstStyle/>
          <a:p>
            <a:r>
              <a:rPr lang="en-US" sz="800"/>
              <a:t>Methodology of Fatigue Life Simulation in Trabecular Bone, </a:t>
            </a:r>
            <a:r>
              <a:rPr lang="en-US" sz="800" err="1"/>
              <a:t>Mostakhdemin</a:t>
            </a:r>
            <a:r>
              <a:rPr lang="en-US" sz="800"/>
              <a:t> et al. 2015</a:t>
            </a:r>
            <a:endParaRPr lang="de-CH" sz="800"/>
          </a:p>
        </p:txBody>
      </p:sp>
      <p:cxnSp>
        <p:nvCxnSpPr>
          <p:cNvPr id="8" name="Straight Connector 7">
            <a:extLst>
              <a:ext uri="{FF2B5EF4-FFF2-40B4-BE49-F238E27FC236}">
                <a16:creationId xmlns:a16="http://schemas.microsoft.com/office/drawing/2014/main" id="{FACB19EB-921D-300C-0EBA-1D2646488F56}"/>
              </a:ext>
            </a:extLst>
          </p:cNvPr>
          <p:cNvCxnSpPr>
            <a:cxnSpLocks/>
          </p:cNvCxnSpPr>
          <p:nvPr/>
        </p:nvCxnSpPr>
        <p:spPr>
          <a:xfrm>
            <a:off x="8030813" y="1600200"/>
            <a:ext cx="2002536" cy="2532888"/>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516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69B3-0B0E-4237-1313-2E5316F4D0B3}"/>
              </a:ext>
            </a:extLst>
          </p:cNvPr>
          <p:cNvSpPr>
            <a:spLocks noGrp="1"/>
          </p:cNvSpPr>
          <p:nvPr>
            <p:ph type="title"/>
          </p:nvPr>
        </p:nvSpPr>
        <p:spPr>
          <a:xfrm>
            <a:off x="554779" y="387551"/>
            <a:ext cx="11825428" cy="1325045"/>
          </a:xfrm>
        </p:spPr>
        <p:txBody>
          <a:bodyPr/>
          <a:lstStyle/>
          <a:p>
            <a:r>
              <a:rPr lang="de-CH"/>
              <a:t>Kombination von </a:t>
            </a:r>
            <a:r>
              <a:rPr lang="de-CH" err="1"/>
              <a:t>Basquin</a:t>
            </a:r>
            <a:r>
              <a:rPr lang="de-CH"/>
              <a:t> und Coffin Manson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EB4E9CA-2AF4-17BF-88EE-63E73D5FD1F3}"/>
                  </a:ext>
                </a:extLst>
              </p:cNvPr>
              <p:cNvSpPr>
                <a:spLocks noGrp="1"/>
              </p:cNvSpPr>
              <p:nvPr>
                <p:ph idx="1"/>
              </p:nvPr>
            </p:nvSpPr>
            <p:spPr>
              <a:xfrm>
                <a:off x="840254" y="1826251"/>
                <a:ext cx="6550640" cy="4349638"/>
              </a:xfrm>
            </p:spPr>
            <p:txBody>
              <a:bodyPr>
                <a:normAutofit/>
              </a:bodyPr>
              <a:lstStyle/>
              <a:p>
                <a:r>
                  <a:rPr lang="de-CH" b="1"/>
                  <a:t>Zweck:</a:t>
                </a:r>
                <a:r>
                  <a:rPr lang="de-CH"/>
                  <a:t> Kombiniert elastische und plastische Ermüdungsfestigkeit</a:t>
                </a:r>
              </a:p>
              <a:p>
                <a:r>
                  <a:rPr lang="de-CH" b="1"/>
                  <a:t>Anwendung:</a:t>
                </a:r>
                <a:r>
                  <a:rPr lang="de-CH"/>
                  <a:t> Relevant für die Einschätzung des gesamten Lebenszyklus.</a:t>
                </a:r>
              </a:p>
              <a:p>
                <a:r>
                  <a:rPr lang="de-CH" b="1"/>
                  <a:t>Wie: </a:t>
                </a:r>
                <a:r>
                  <a:rPr lang="de-CH"/>
                  <a:t>Annahme: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𝑡𝑜𝑡𝑎𝑙</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b="0" i="1" smtClean="0">
                            <a:latin typeface="Cambria Math" panose="02040503050406030204" pitchFamily="18" charset="0"/>
                          </a:rPr>
                          <m:t>𝑒𝑙𝑎𝑠𝑡𝑖𝑐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b="0" i="1" smtClean="0">
                            <a:latin typeface="Cambria Math" panose="02040503050406030204" pitchFamily="18" charset="0"/>
                          </a:rPr>
                          <m:t>𝑝𝑙𝑎𝑠𝑡𝑖𝑐</m:t>
                        </m:r>
                      </m:sub>
                    </m:sSub>
                  </m:oMath>
                </a14:m>
                <a:br>
                  <a:rPr lang="en-US"/>
                </a:br>
                <a:r>
                  <a:rPr lang="en-US"/>
                  <a:t>Mit Hooks </a:t>
                </a:r>
                <a:r>
                  <a:rPr lang="en-US" err="1"/>
                  <a:t>Gesetz</a:t>
                </a:r>
                <a:r>
                  <a:rPr lang="en-US"/>
                  <a:t> </a:t>
                </a:r>
                <a14:m>
                  <m:oMath xmlns:m="http://schemas.openxmlformats.org/officeDocument/2006/math">
                    <m:r>
                      <a:rPr lang="en-US" i="1" dirty="0">
                        <a:latin typeface="Cambria Math" panose="02040503050406030204" pitchFamily="18" charset="0"/>
                      </a:rPr>
                      <m:t>𝜎</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𝜀</m:t>
                    </m:r>
                  </m:oMath>
                </a14:m>
                <a:r>
                  <a:rPr lang="de-CH"/>
                  <a:t> kann die </a:t>
                </a:r>
                <a:r>
                  <a:rPr lang="de-CH" err="1"/>
                  <a:t>Basquin</a:t>
                </a:r>
                <a:r>
                  <a:rPr lang="de-CH"/>
                  <a:t>-Gleichung umgeschrieben werden für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𝑒𝑙𝑎𝑠𝑡𝑖𝑐</m:t>
                        </m:r>
                      </m:sub>
                    </m:sSub>
                  </m:oMath>
                </a14:m>
                <a:endParaRPr lang="de-CH"/>
              </a:p>
              <a:p>
                <a:endParaRPr lang="de-CH"/>
              </a:p>
            </p:txBody>
          </p:sp>
        </mc:Choice>
        <mc:Fallback>
          <p:sp>
            <p:nvSpPr>
              <p:cNvPr id="3" name="Content Placeholder 2">
                <a:extLst>
                  <a:ext uri="{FF2B5EF4-FFF2-40B4-BE49-F238E27FC236}">
                    <a16:creationId xmlns:a16="http://schemas.microsoft.com/office/drawing/2014/main" id="{CEB4E9CA-2AF4-17BF-88EE-63E73D5FD1F3}"/>
                  </a:ext>
                </a:extLst>
              </p:cNvPr>
              <p:cNvSpPr>
                <a:spLocks noGrp="1" noRot="1" noChangeAspect="1" noMove="1" noResize="1" noEditPoints="1" noAdjustHandles="1" noChangeArrowheads="1" noChangeShapeType="1" noTextEdit="1"/>
              </p:cNvSpPr>
              <p:nvPr>
                <p:ph idx="1"/>
              </p:nvPr>
            </p:nvSpPr>
            <p:spPr>
              <a:xfrm>
                <a:off x="840254" y="1826251"/>
                <a:ext cx="6550640" cy="4349638"/>
              </a:xfrm>
              <a:blipFill>
                <a:blip r:embed="rId3"/>
                <a:stretch>
                  <a:fillRect l="-1676" t="-2384"/>
                </a:stretch>
              </a:blipFill>
            </p:spPr>
            <p:txBody>
              <a:bodyPr/>
              <a:lstStyle/>
              <a:p>
                <a:r>
                  <a:rPr lang="de-CH">
                    <a:noFill/>
                  </a:rPr>
                  <a:t> </a:t>
                </a:r>
              </a:p>
            </p:txBody>
          </p:sp>
        </mc:Fallback>
      </mc:AlternateContent>
      <p:pic>
        <p:nvPicPr>
          <p:cNvPr id="4" name="Picture 2" descr="Fig. 3.9">
            <a:extLst>
              <a:ext uri="{FF2B5EF4-FFF2-40B4-BE49-F238E27FC236}">
                <a16:creationId xmlns:a16="http://schemas.microsoft.com/office/drawing/2014/main" id="{7EA88189-917E-1A63-F2FA-768418E884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7543" y="1353362"/>
            <a:ext cx="4598778" cy="33256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1D1D1D-ED02-21B5-35E9-D45B39E47B82}"/>
              </a:ext>
            </a:extLst>
          </p:cNvPr>
          <p:cNvSpPr txBox="1"/>
          <p:nvPr/>
        </p:nvSpPr>
        <p:spPr>
          <a:xfrm>
            <a:off x="7757464" y="4792686"/>
            <a:ext cx="3998937" cy="215444"/>
          </a:xfrm>
          <a:prstGeom prst="rect">
            <a:avLst/>
          </a:prstGeom>
          <a:noFill/>
        </p:spPr>
        <p:txBody>
          <a:bodyPr wrap="square">
            <a:spAutoFit/>
          </a:bodyPr>
          <a:lstStyle/>
          <a:p>
            <a:r>
              <a:rPr lang="en-US" sz="800"/>
              <a:t>Methodology of Fatigue Life Simulation in Trabecular Bone, </a:t>
            </a:r>
            <a:r>
              <a:rPr lang="en-US" sz="800" err="1"/>
              <a:t>Mostakhdemin</a:t>
            </a:r>
            <a:r>
              <a:rPr lang="en-US" sz="800"/>
              <a:t> et al. 2015</a:t>
            </a:r>
            <a:endParaRPr lang="de-CH" sz="800"/>
          </a:p>
        </p:txBody>
      </p:sp>
      <p:sp>
        <p:nvSpPr>
          <p:cNvPr id="12" name="TextBox 11">
            <a:extLst>
              <a:ext uri="{FF2B5EF4-FFF2-40B4-BE49-F238E27FC236}">
                <a16:creationId xmlns:a16="http://schemas.microsoft.com/office/drawing/2014/main" id="{AE236CB0-3DB4-3247-1FF2-05006533A8E1}"/>
              </a:ext>
            </a:extLst>
          </p:cNvPr>
          <p:cNvSpPr txBox="1"/>
          <p:nvPr/>
        </p:nvSpPr>
        <p:spPr>
          <a:xfrm>
            <a:off x="474199" y="865478"/>
            <a:ext cx="6265002" cy="369188"/>
          </a:xfrm>
          <a:prstGeom prst="rect">
            <a:avLst/>
          </a:prstGeom>
          <a:noFill/>
        </p:spPr>
        <p:txBody>
          <a:bodyPr wrap="square">
            <a:spAutoFit/>
          </a:bodyPr>
          <a:lstStyle/>
          <a:p>
            <a:r>
              <a:rPr lang="de-CH" sz="1799"/>
              <a:t>(Wird auch Morrow design genannt)</a:t>
            </a:r>
          </a:p>
        </p:txBody>
      </p:sp>
      <p:sp>
        <p:nvSpPr>
          <p:cNvPr id="9" name="Freeform: Shape 8">
            <a:extLst>
              <a:ext uri="{FF2B5EF4-FFF2-40B4-BE49-F238E27FC236}">
                <a16:creationId xmlns:a16="http://schemas.microsoft.com/office/drawing/2014/main" id="{BCB6AFD6-26EB-92DF-161E-B61467440E85}"/>
              </a:ext>
            </a:extLst>
          </p:cNvPr>
          <p:cNvSpPr/>
          <p:nvPr/>
        </p:nvSpPr>
        <p:spPr>
          <a:xfrm>
            <a:off x="8003381" y="1545336"/>
            <a:ext cx="3895344" cy="1956816"/>
          </a:xfrm>
          <a:custGeom>
            <a:avLst/>
            <a:gdLst>
              <a:gd name="connsiteX0" fmla="*/ 0 w 3904488"/>
              <a:gd name="connsiteY0" fmla="*/ 0 h 1975104"/>
              <a:gd name="connsiteX1" fmla="*/ 3904488 w 3904488"/>
              <a:gd name="connsiteY1" fmla="*/ 1975104 h 1975104"/>
              <a:gd name="connsiteX0" fmla="*/ 0 w 3895344"/>
              <a:gd name="connsiteY0" fmla="*/ 0 h 1956816"/>
              <a:gd name="connsiteX1" fmla="*/ 3895344 w 3895344"/>
              <a:gd name="connsiteY1" fmla="*/ 1956816 h 1956816"/>
              <a:gd name="connsiteX0" fmla="*/ 0 w 3895344"/>
              <a:gd name="connsiteY0" fmla="*/ 0 h 1956816"/>
              <a:gd name="connsiteX1" fmla="*/ 2231136 w 3895344"/>
              <a:gd name="connsiteY1" fmla="*/ 1042416 h 1956816"/>
              <a:gd name="connsiteX2" fmla="*/ 3895344 w 3895344"/>
              <a:gd name="connsiteY2" fmla="*/ 1956816 h 1956816"/>
              <a:gd name="connsiteX0" fmla="*/ 0 w 3895344"/>
              <a:gd name="connsiteY0" fmla="*/ 0 h 1956816"/>
              <a:gd name="connsiteX1" fmla="*/ 1426464 w 3895344"/>
              <a:gd name="connsiteY1" fmla="*/ 1362456 h 1956816"/>
              <a:gd name="connsiteX2" fmla="*/ 3895344 w 3895344"/>
              <a:gd name="connsiteY2" fmla="*/ 1956816 h 1956816"/>
              <a:gd name="connsiteX0" fmla="*/ 0 w 3895344"/>
              <a:gd name="connsiteY0" fmla="*/ 0 h 1956816"/>
              <a:gd name="connsiteX1" fmla="*/ 1426464 w 3895344"/>
              <a:gd name="connsiteY1" fmla="*/ 1362456 h 1956816"/>
              <a:gd name="connsiteX2" fmla="*/ 3895344 w 3895344"/>
              <a:gd name="connsiteY2" fmla="*/ 1956816 h 1956816"/>
              <a:gd name="connsiteX0" fmla="*/ 0 w 3895344"/>
              <a:gd name="connsiteY0" fmla="*/ 0 h 1956816"/>
              <a:gd name="connsiteX1" fmla="*/ 1426464 w 3895344"/>
              <a:gd name="connsiteY1" fmla="*/ 1362456 h 1956816"/>
              <a:gd name="connsiteX2" fmla="*/ 3895344 w 3895344"/>
              <a:gd name="connsiteY2" fmla="*/ 1956816 h 1956816"/>
              <a:gd name="connsiteX0" fmla="*/ 0 w 3895344"/>
              <a:gd name="connsiteY0" fmla="*/ 0 h 1956816"/>
              <a:gd name="connsiteX1" fmla="*/ 1426464 w 3895344"/>
              <a:gd name="connsiteY1" fmla="*/ 1362456 h 1956816"/>
              <a:gd name="connsiteX2" fmla="*/ 3895344 w 3895344"/>
              <a:gd name="connsiteY2" fmla="*/ 1956816 h 1956816"/>
              <a:gd name="connsiteX0" fmla="*/ 0 w 3895344"/>
              <a:gd name="connsiteY0" fmla="*/ 0 h 1956816"/>
              <a:gd name="connsiteX1" fmla="*/ 1426464 w 3895344"/>
              <a:gd name="connsiteY1" fmla="*/ 1362456 h 1956816"/>
              <a:gd name="connsiteX2" fmla="*/ 3895344 w 3895344"/>
              <a:gd name="connsiteY2" fmla="*/ 1956816 h 1956816"/>
              <a:gd name="connsiteX0" fmla="*/ 0 w 3895344"/>
              <a:gd name="connsiteY0" fmla="*/ 0 h 1956816"/>
              <a:gd name="connsiteX1" fmla="*/ 1216152 w 3895344"/>
              <a:gd name="connsiteY1" fmla="*/ 1234440 h 1956816"/>
              <a:gd name="connsiteX2" fmla="*/ 3895344 w 3895344"/>
              <a:gd name="connsiteY2" fmla="*/ 1956816 h 1956816"/>
              <a:gd name="connsiteX0" fmla="*/ 0 w 3895344"/>
              <a:gd name="connsiteY0" fmla="*/ 0 h 1956816"/>
              <a:gd name="connsiteX1" fmla="*/ 1216152 w 3895344"/>
              <a:gd name="connsiteY1" fmla="*/ 1234440 h 1956816"/>
              <a:gd name="connsiteX2" fmla="*/ 3895344 w 3895344"/>
              <a:gd name="connsiteY2" fmla="*/ 1956816 h 1956816"/>
              <a:gd name="connsiteX0" fmla="*/ 0 w 3895344"/>
              <a:gd name="connsiteY0" fmla="*/ 0 h 1956816"/>
              <a:gd name="connsiteX1" fmla="*/ 1216152 w 3895344"/>
              <a:gd name="connsiteY1" fmla="*/ 1234440 h 1956816"/>
              <a:gd name="connsiteX2" fmla="*/ 3895344 w 3895344"/>
              <a:gd name="connsiteY2" fmla="*/ 1956816 h 1956816"/>
            </a:gdLst>
            <a:ahLst/>
            <a:cxnLst>
              <a:cxn ang="0">
                <a:pos x="connsiteX0" y="connsiteY0"/>
              </a:cxn>
              <a:cxn ang="0">
                <a:pos x="connsiteX1" y="connsiteY1"/>
              </a:cxn>
              <a:cxn ang="0">
                <a:pos x="connsiteX2" y="connsiteY2"/>
              </a:cxn>
            </a:cxnLst>
            <a:rect l="l" t="t" r="r" b="b"/>
            <a:pathLst>
              <a:path w="3895344" h="1956816">
                <a:moveTo>
                  <a:pt x="0" y="0"/>
                </a:moveTo>
                <a:cubicBezTo>
                  <a:pt x="411480" y="527304"/>
                  <a:pt x="978408" y="1091184"/>
                  <a:pt x="1216152" y="1234440"/>
                </a:cubicBezTo>
                <a:cubicBezTo>
                  <a:pt x="1559052" y="1605534"/>
                  <a:pt x="3438144" y="1876044"/>
                  <a:pt x="3895344" y="1956816"/>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Tree>
    <p:extLst>
      <p:ext uri="{BB962C8B-B14F-4D97-AF65-F5344CB8AC3E}">
        <p14:creationId xmlns:p14="http://schemas.microsoft.com/office/powerpoint/2010/main" val="2880448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4682B-151B-ABCA-82A6-FD558BD58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E2752-BF3B-6AB5-253E-CD3305C904F0}"/>
              </a:ext>
            </a:extLst>
          </p:cNvPr>
          <p:cNvSpPr>
            <a:spLocks noGrp="1"/>
          </p:cNvSpPr>
          <p:nvPr>
            <p:ph type="title"/>
          </p:nvPr>
        </p:nvSpPr>
        <p:spPr/>
        <p:txBody>
          <a:bodyPr/>
          <a:lstStyle/>
          <a:p>
            <a:r>
              <a:rPr lang="de-CH"/>
              <a:t>Paris Gesetz</a:t>
            </a:r>
            <a:br>
              <a:rPr lang="de-CH"/>
            </a:br>
            <a:r>
              <a:rPr lang="de-CH" sz="1600"/>
              <a:t>(im deutschsprachigen Raum als </a:t>
            </a:r>
            <a:r>
              <a:rPr lang="en-US" sz="1600" err="1"/>
              <a:t>Risswachstum</a:t>
            </a:r>
            <a:r>
              <a:rPr lang="en-US" sz="1600"/>
              <a:t> </a:t>
            </a:r>
            <a:r>
              <a:rPr lang="en-US" sz="1600" err="1"/>
              <a:t>oder</a:t>
            </a:r>
            <a:r>
              <a:rPr lang="en-US" sz="1600"/>
              <a:t> </a:t>
            </a:r>
            <a:r>
              <a:rPr lang="en-US" sz="1600" err="1"/>
              <a:t>Rissausbreitung</a:t>
            </a:r>
            <a:r>
              <a:rPr lang="de-CH" sz="1600"/>
              <a:t> </a:t>
            </a:r>
            <a:r>
              <a:rPr lang="de-CH" sz="1600" err="1"/>
              <a:t>bekannst</a:t>
            </a:r>
            <a:r>
              <a:rPr lang="de-CH" sz="1600"/>
              <a:t>)</a:t>
            </a:r>
            <a:endParaRPr lang="de-CH"/>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78C5E2-2596-6145-A368-4D73FCCCE6EE}"/>
                  </a:ext>
                </a:extLst>
              </p:cNvPr>
              <p:cNvSpPr>
                <a:spLocks noGrp="1"/>
              </p:cNvSpPr>
              <p:nvPr>
                <p:ph idx="1"/>
              </p:nvPr>
            </p:nvSpPr>
            <p:spPr>
              <a:xfrm>
                <a:off x="840254" y="1604088"/>
                <a:ext cx="7987036" cy="4887590"/>
              </a:xfrm>
            </p:spPr>
            <p:txBody>
              <a:bodyPr>
                <a:normAutofit/>
              </a:bodyPr>
              <a:lstStyle/>
              <a:p>
                <a:r>
                  <a:rPr lang="de-CH" b="1"/>
                  <a:t>Zweck:</a:t>
                </a:r>
                <a:r>
                  <a:rPr lang="de-CH"/>
                  <a:t> Quantifizierung der Rissausbreitungsgeschwindigkeit in Materialien unter zyklischen Belastungsbedingungen.</a:t>
                </a:r>
              </a:p>
              <a:p>
                <a:r>
                  <a:rPr lang="de-CH" b="1"/>
                  <a:t>Anwendung:</a:t>
                </a:r>
                <a:r>
                  <a:rPr lang="de-CH"/>
                  <a:t> Zur Vorhersage der Wachstumsrate von Ermüdungsrissen und zur Bewertung der Restlebensdauer von Bauteilen.</a:t>
                </a:r>
              </a:p>
              <a:p>
                <a:r>
                  <a:rPr lang="en-US" b="1"/>
                  <a:t>Wie:</a:t>
                </a:r>
                <a:r>
                  <a:rPr lang="en-US"/>
                  <a:t>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𝑑𝑎</m:t>
                        </m:r>
                      </m:num>
                      <m:den>
                        <m:r>
                          <a:rPr lang="en-GB" b="0" i="1" smtClean="0">
                            <a:latin typeface="Cambria Math" panose="02040503050406030204" pitchFamily="18" charset="0"/>
                          </a:rPr>
                          <m:t>𝑑𝑁</m:t>
                        </m:r>
                      </m:den>
                    </m:f>
                    <m:r>
                      <a:rPr lang="en-GB" b="0" i="1" smtClean="0">
                        <a:latin typeface="Cambria Math" panose="02040503050406030204" pitchFamily="18" charset="0"/>
                      </a:rPr>
                      <m:t>=</m:t>
                    </m:r>
                    <m:r>
                      <a:rPr lang="en-US" b="0" i="1" smtClean="0">
                        <a:latin typeface="Cambria Math" panose="02040503050406030204" pitchFamily="18" charset="0"/>
                      </a:rPr>
                      <m:t>𝐴</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m:rPr>
                                <m:sty m:val="p"/>
                              </m:rPr>
                              <a:rPr lang="en-GB" b="0" i="0" smtClean="0">
                                <a:latin typeface="Cambria Math" panose="02040503050406030204" pitchFamily="18" charset="0"/>
                              </a:rPr>
                              <m:t>Δ</m:t>
                            </m:r>
                            <m:r>
                              <a:rPr lang="en-GB" b="0" i="1" smtClean="0">
                                <a:latin typeface="Cambria Math" panose="02040503050406030204" pitchFamily="18" charset="0"/>
                              </a:rPr>
                              <m:t>𝐾</m:t>
                            </m:r>
                          </m:e>
                        </m:d>
                      </m:e>
                      <m:sup>
                        <m:r>
                          <a:rPr lang="en-GB" b="0" i="1" smtClean="0">
                            <a:latin typeface="Cambria Math" panose="02040503050406030204" pitchFamily="18" charset="0"/>
                          </a:rPr>
                          <m:t>𝑚</m:t>
                        </m:r>
                      </m:sup>
                    </m:sSup>
                    <m:r>
                      <a:rPr lang="en-GB" b="0" i="1" smtClean="0">
                        <a:latin typeface="Cambria Math" panose="02040503050406030204" pitchFamily="18" charset="0"/>
                      </a:rPr>
                      <m:t> </m:t>
                    </m:r>
                  </m:oMath>
                </a14:m>
                <a:r>
                  <a:rPr lang="en-US"/>
                  <a:t>,  </a:t>
                </a:r>
              </a:p>
              <a:p>
                <a:pPr lvl="1">
                  <a:buFont typeface="Arial" panose="020B0604020202020204" pitchFamily="34" charset="0"/>
                  <a:buChar char="•"/>
                </a:pPr>
                <a14:m>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𝑑𝑎</m:t>
                        </m:r>
                      </m:num>
                      <m:den>
                        <m:r>
                          <a:rPr lang="en-GB" sz="1600" i="1">
                            <a:latin typeface="Cambria Math" panose="02040503050406030204" pitchFamily="18" charset="0"/>
                          </a:rPr>
                          <m:t>𝑑𝑁</m:t>
                        </m:r>
                      </m:den>
                    </m:f>
                    <m:r>
                      <a:rPr lang="en-GB" sz="1600" i="1">
                        <a:latin typeface="Cambria Math" panose="02040503050406030204" pitchFamily="18" charset="0"/>
                      </a:rPr>
                      <m:t> </m:t>
                    </m:r>
                  </m:oMath>
                </a14:m>
                <a:r>
                  <a:rPr lang="en-US" sz="1600"/>
                  <a:t>​ </a:t>
                </a:r>
                <a:r>
                  <a:rPr lang="en-US" sz="1600" err="1"/>
                  <a:t>ist</a:t>
                </a:r>
                <a:r>
                  <a:rPr lang="en-US" sz="1600"/>
                  <a:t> die </a:t>
                </a:r>
                <a:r>
                  <a:rPr lang="en-US" sz="1600" err="1"/>
                  <a:t>Risswachstumsrate</a:t>
                </a:r>
                <a:r>
                  <a:rPr lang="en-US" sz="1600"/>
                  <a:t> </a:t>
                </a:r>
                <a:r>
                  <a:rPr lang="de-CH" sz="1600"/>
                  <a:t>(Zunahme der Risslänge </a:t>
                </a:r>
                <a14:m>
                  <m:oMath xmlns:m="http://schemas.openxmlformats.org/officeDocument/2006/math">
                    <m:r>
                      <a:rPr lang="en-US" sz="1600" i="1">
                        <a:latin typeface="Cambria Math" panose="02040503050406030204" pitchFamily="18" charset="0"/>
                      </a:rPr>
                      <m:t>𝑎</m:t>
                    </m:r>
                  </m:oMath>
                </a14:m>
                <a:r>
                  <a:rPr lang="de-CH" sz="1600"/>
                  <a:t> pro Lastspiel </a:t>
                </a:r>
                <a14:m>
                  <m:oMath xmlns:m="http://schemas.openxmlformats.org/officeDocument/2006/math">
                    <m:r>
                      <a:rPr lang="en-US" sz="1600" i="1">
                        <a:latin typeface="Cambria Math" panose="02040503050406030204" pitchFamily="18" charset="0"/>
                      </a:rPr>
                      <m:t>𝑁</m:t>
                    </m:r>
                  </m:oMath>
                </a14:m>
                <a:r>
                  <a:rPr lang="de-CH" sz="1600"/>
                  <a:t>)</a:t>
                </a:r>
                <a:endParaRPr lang="en-US" sz="1600" i="1">
                  <a:latin typeface="Cambria Math" panose="02040503050406030204" pitchFamily="18" charset="0"/>
                </a:endParaRPr>
              </a:p>
              <a:p>
                <a:pPr lvl="1">
                  <a:buFont typeface="Arial" panose="020B0604020202020204" pitchFamily="34" charset="0"/>
                  <a:buChar char="•"/>
                </a:pPr>
                <a14:m>
                  <m:oMath xmlns:m="http://schemas.openxmlformats.org/officeDocument/2006/math">
                    <m:r>
                      <a:rPr lang="en-US" sz="1600" i="1">
                        <a:latin typeface="Cambria Math" panose="02040503050406030204" pitchFamily="18" charset="0"/>
                      </a:rPr>
                      <m:t>𝐴</m:t>
                    </m:r>
                  </m:oMath>
                </a14:m>
                <a:r>
                  <a:rPr lang="en-GB" sz="1600"/>
                  <a:t> (</a:t>
                </a:r>
                <a:r>
                  <a:rPr lang="en-GB" sz="1600" err="1"/>
                  <a:t>oder</a:t>
                </a:r>
                <a:r>
                  <a:rPr lang="en-GB" sz="1600"/>
                  <a:t> </a:t>
                </a:r>
                <a14:m>
                  <m:oMath xmlns:m="http://schemas.openxmlformats.org/officeDocument/2006/math">
                    <m:r>
                      <a:rPr lang="en-GB" sz="1600" i="1">
                        <a:latin typeface="Cambria Math" panose="02040503050406030204" pitchFamily="18" charset="0"/>
                      </a:rPr>
                      <m:t>𝐶</m:t>
                    </m:r>
                  </m:oMath>
                </a14:m>
                <a:r>
                  <a:rPr lang="en-US" sz="1600"/>
                  <a:t>) und </a:t>
                </a:r>
                <a14:m>
                  <m:oMath xmlns:m="http://schemas.openxmlformats.org/officeDocument/2006/math">
                    <m:r>
                      <a:rPr lang="en-US" sz="1600" i="1" dirty="0">
                        <a:latin typeface="Cambria Math" panose="02040503050406030204" pitchFamily="18" charset="0"/>
                      </a:rPr>
                      <m:t>𝑚</m:t>
                    </m:r>
                  </m:oMath>
                </a14:m>
                <a:r>
                  <a:rPr lang="en-US" sz="1600"/>
                  <a:t> </a:t>
                </a:r>
                <a:r>
                  <a:rPr lang="en-US" sz="1600" err="1"/>
                  <a:t>sind</a:t>
                </a:r>
                <a:r>
                  <a:rPr lang="en-US" sz="1600"/>
                  <a:t> </a:t>
                </a:r>
                <a:r>
                  <a:rPr lang="en-US" sz="1600" err="1"/>
                  <a:t>Materialkonstanten</a:t>
                </a:r>
                <a:r>
                  <a:rPr lang="en-US" sz="1600"/>
                  <a:t> </a:t>
                </a:r>
              </a:p>
              <a:p>
                <a:pPr lvl="2">
                  <a:buFont typeface="Arial" panose="020B0604020202020204" pitchFamily="34" charset="0"/>
                  <a:buChar char="•"/>
                </a:pPr>
                <a:r>
                  <a:rPr lang="de-CH" sz="1400">
                    <a:latin typeface="Arial" panose="020B0604020202020204" pitchFamily="34" charset="0"/>
                    <a:cs typeface="Arial" panose="020B0604020202020204" pitchFamily="34" charset="0"/>
                  </a:rPr>
                  <a:t>m ~ 3 (Stahl); m ~ 4 (Aluminium). </a:t>
                </a:r>
                <a:endParaRPr lang="en-US" sz="1600">
                  <a:latin typeface="Cambria Math" panose="02040503050406030204" pitchFamily="18" charset="0"/>
                </a:endParaRPr>
              </a:p>
              <a:p>
                <a:pPr lvl="1">
                  <a:buFont typeface="Arial" panose="020B0604020202020204" pitchFamily="34" charset="0"/>
                  <a:buChar char="•"/>
                </a:pPr>
                <a14:m>
                  <m:oMath xmlns:m="http://schemas.openxmlformats.org/officeDocument/2006/math">
                    <m:r>
                      <m:rPr>
                        <m:sty m:val="p"/>
                      </m:rPr>
                      <a:rPr lang="en-GB" sz="1600">
                        <a:latin typeface="Cambria Math" panose="02040503050406030204" pitchFamily="18" charset="0"/>
                      </a:rPr>
                      <m:t>Δ</m:t>
                    </m:r>
                    <m:r>
                      <a:rPr lang="en-GB" sz="1600" i="1">
                        <a:latin typeface="Cambria Math" panose="02040503050406030204" pitchFamily="18" charset="0"/>
                      </a:rPr>
                      <m:t>𝐾</m:t>
                    </m:r>
                    <m:r>
                      <a:rPr lang="en-GB" sz="1600" i="1">
                        <a:latin typeface="Cambria Math" panose="02040503050406030204" pitchFamily="18" charset="0"/>
                      </a:rPr>
                      <m:t> </m:t>
                    </m:r>
                  </m:oMath>
                </a14:m>
                <a:r>
                  <a:rPr lang="en-US" sz="1600" err="1"/>
                  <a:t>ist</a:t>
                </a:r>
                <a:r>
                  <a:rPr lang="en-US" sz="1600"/>
                  <a:t> die </a:t>
                </a:r>
                <a:r>
                  <a:rPr lang="en-US" sz="1600" err="1"/>
                  <a:t>Spannungsintensität</a:t>
                </a:r>
                <a:r>
                  <a:rPr lang="en-US" sz="1600"/>
                  <a:t> : </a:t>
                </a:r>
                <a14:m>
                  <m:oMath xmlns:m="http://schemas.openxmlformats.org/officeDocument/2006/math">
                    <m:r>
                      <m:rPr>
                        <m:sty m:val="p"/>
                      </m:rPr>
                      <a:rPr lang="en-GB" sz="1600">
                        <a:latin typeface="Cambria Math" panose="02040503050406030204" pitchFamily="18" charset="0"/>
                      </a:rPr>
                      <m:t>Δ</m:t>
                    </m:r>
                    <m:r>
                      <a:rPr lang="en-GB" sz="1600" i="1">
                        <a:latin typeface="Cambria Math" panose="02040503050406030204" pitchFamily="18" charset="0"/>
                      </a:rPr>
                      <m:t>𝐾</m:t>
                    </m:r>
                    <m:r>
                      <a:rPr lang="en-GB" sz="1600" i="1">
                        <a:latin typeface="Cambria Math" panose="02040503050406030204" pitchFamily="18" charset="0"/>
                      </a:rPr>
                      <m:t>=</m:t>
                    </m:r>
                    <m:sSub>
                      <m:sSubPr>
                        <m:ctrlPr>
                          <a:rPr lang="en-GB" sz="1600" i="1">
                            <a:latin typeface="Cambria Math" panose="02040503050406030204" pitchFamily="18" charset="0"/>
                          </a:rPr>
                        </m:ctrlPr>
                      </m:sSubPr>
                      <m:e>
                        <m:r>
                          <a:rPr lang="en-GB" sz="1600" i="1">
                            <a:latin typeface="Cambria Math" panose="02040503050406030204" pitchFamily="18" charset="0"/>
                          </a:rPr>
                          <m:t>𝐾</m:t>
                        </m:r>
                      </m:e>
                      <m:sub>
                        <m:r>
                          <a:rPr lang="en-GB" sz="1600" i="1">
                            <a:latin typeface="Cambria Math" panose="02040503050406030204" pitchFamily="18" charset="0"/>
                          </a:rPr>
                          <m:t>𝑚𝑎𝑥</m:t>
                        </m:r>
                      </m:sub>
                    </m:sSub>
                    <m:r>
                      <a:rPr lang="en-GB" sz="1600" i="1">
                        <a:latin typeface="Cambria Math" panose="02040503050406030204" pitchFamily="18" charset="0"/>
                      </a:rPr>
                      <m:t>−</m:t>
                    </m:r>
                    <m:sSub>
                      <m:sSubPr>
                        <m:ctrlPr>
                          <a:rPr lang="en-GB" sz="1600" i="1">
                            <a:latin typeface="Cambria Math" panose="02040503050406030204" pitchFamily="18" charset="0"/>
                          </a:rPr>
                        </m:ctrlPr>
                      </m:sSubPr>
                      <m:e>
                        <m:r>
                          <a:rPr lang="en-GB" sz="1600" i="1">
                            <a:latin typeface="Cambria Math" panose="02040503050406030204" pitchFamily="18" charset="0"/>
                          </a:rPr>
                          <m:t>𝐾</m:t>
                        </m:r>
                      </m:e>
                      <m:sub>
                        <m:r>
                          <a:rPr lang="en-GB" sz="1600" i="1">
                            <a:latin typeface="Cambria Math" panose="02040503050406030204" pitchFamily="18" charset="0"/>
                          </a:rPr>
                          <m:t>𝑚𝑖𝑛</m:t>
                        </m:r>
                      </m:sub>
                    </m:sSub>
                  </m:oMath>
                </a14:m>
                <a:br>
                  <a:rPr lang="en-GB"/>
                </a:br>
                <a:endParaRPr lang="en-GB"/>
              </a:p>
              <a:p>
                <a:endParaRPr lang="de-CH"/>
              </a:p>
            </p:txBody>
          </p:sp>
        </mc:Choice>
        <mc:Fallback>
          <p:sp>
            <p:nvSpPr>
              <p:cNvPr id="3" name="Content Placeholder 2">
                <a:extLst>
                  <a:ext uri="{FF2B5EF4-FFF2-40B4-BE49-F238E27FC236}">
                    <a16:creationId xmlns:a16="http://schemas.microsoft.com/office/drawing/2014/main" id="{8378C5E2-2596-6145-A368-4D73FCCCE6EE}"/>
                  </a:ext>
                </a:extLst>
              </p:cNvPr>
              <p:cNvSpPr>
                <a:spLocks noGrp="1" noRot="1" noChangeAspect="1" noMove="1" noResize="1" noEditPoints="1" noAdjustHandles="1" noChangeArrowheads="1" noChangeShapeType="1" noTextEdit="1"/>
              </p:cNvSpPr>
              <p:nvPr>
                <p:ph idx="1"/>
              </p:nvPr>
            </p:nvSpPr>
            <p:spPr>
              <a:xfrm>
                <a:off x="840254" y="1604088"/>
                <a:ext cx="7987036" cy="4887590"/>
              </a:xfrm>
              <a:blipFill>
                <a:blip r:embed="rId2"/>
                <a:stretch>
                  <a:fillRect l="-1374" t="-1995"/>
                </a:stretch>
              </a:blipFill>
            </p:spPr>
            <p:txBody>
              <a:bodyPr/>
              <a:lstStyle/>
              <a:p>
                <a:r>
                  <a:rPr lang="de-CH">
                    <a:noFill/>
                  </a:rPr>
                  <a:t> </a:t>
                </a:r>
              </a:p>
            </p:txBody>
          </p:sp>
        </mc:Fallback>
      </mc:AlternateContent>
      <p:pic>
        <p:nvPicPr>
          <p:cNvPr id="1026" name="Picture 2">
            <a:extLst>
              <a:ext uri="{FF2B5EF4-FFF2-40B4-BE49-F238E27FC236}">
                <a16:creationId xmlns:a16="http://schemas.microsoft.com/office/drawing/2014/main" id="{38B447DB-B531-6527-802B-2139881604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27291" y="1028844"/>
            <a:ext cx="3148255" cy="4450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176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CF0-D70D-707E-DCFD-67183DC88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27F42-5796-1501-3A17-1E87EAB85507}"/>
              </a:ext>
            </a:extLst>
          </p:cNvPr>
          <p:cNvSpPr>
            <a:spLocks noGrp="1"/>
          </p:cNvSpPr>
          <p:nvPr>
            <p:ph type="title"/>
          </p:nvPr>
        </p:nvSpPr>
        <p:spPr>
          <a:xfrm>
            <a:off x="529430" y="306394"/>
            <a:ext cx="10511492" cy="646332"/>
          </a:xfrm>
        </p:spPr>
        <p:txBody>
          <a:bodyPr>
            <a:normAutofit fontScale="90000"/>
          </a:bodyPr>
          <a:lstStyle/>
          <a:p>
            <a:r>
              <a:rPr lang="de-CH"/>
              <a:t>Goodman Beziehung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A56D68-9A54-AF0D-9D8F-3F979058CC4D}"/>
                  </a:ext>
                </a:extLst>
              </p:cNvPr>
              <p:cNvSpPr>
                <a:spLocks noGrp="1"/>
              </p:cNvSpPr>
              <p:nvPr>
                <p:ph idx="1"/>
              </p:nvPr>
            </p:nvSpPr>
            <p:spPr>
              <a:xfrm>
                <a:off x="68955" y="936964"/>
                <a:ext cx="8172170" cy="4696150"/>
              </a:xfrm>
            </p:spPr>
            <p:txBody>
              <a:bodyPr>
                <a:normAutofit lnSpcReduction="10000"/>
              </a:bodyPr>
              <a:lstStyle/>
              <a:p>
                <a:r>
                  <a:rPr lang="de-CH" b="1"/>
                  <a:t>Zweck:</a:t>
                </a:r>
                <a:r>
                  <a:rPr lang="de-CH"/>
                  <a:t> Vorhersage des Ermüdungsversagens unter variablen Belastungsbedingungen durch Abschätzung des Versagens </a:t>
                </a:r>
                <a:br>
                  <a:rPr lang="de-CH"/>
                </a:br>
                <a:r>
                  <a:rPr lang="de-CH"/>
                  <a:t>aus der Wechselfestigkeit.</a:t>
                </a:r>
              </a:p>
              <a:p>
                <a:r>
                  <a:rPr lang="de-CH" b="1"/>
                  <a:t>Anwendung:</a:t>
                </a:r>
                <a:r>
                  <a:rPr lang="de-CH"/>
                  <a:t> Ermöglicht den Vergleich von Belastungszyklen </a:t>
                </a:r>
                <a:br>
                  <a:rPr lang="de-CH"/>
                </a:br>
                <a:r>
                  <a:rPr lang="de-CH"/>
                  <a:t>mit unterschiedlichen Mittelwerten</a:t>
                </a:r>
              </a:p>
              <a:p>
                <a:r>
                  <a:rPr lang="en-US" b="1"/>
                  <a:t>Wie:</a:t>
                </a:r>
                <a:r>
                  <a:rPr lang="en-US"/>
                  <a:t> </a:t>
                </a:r>
                <a14:m>
                  <m:oMath xmlns:m="http://schemas.openxmlformats.org/officeDocument/2006/math">
                    <m:f>
                      <m:fPr>
                        <m:ctrlPr>
                          <a:rPr lang="en-GB"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𝐷</m:t>
                            </m:r>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𝑊</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m:rPr>
                                <m:sty m:val="p"/>
                              </m:rPr>
                              <a:rPr lang="en-GB" b="0" i="1" smtClean="0">
                                <a:latin typeface="Cambria Math" panose="02040503050406030204" pitchFamily="18" charset="0"/>
                              </a:rPr>
                              <m:t>σ</m:t>
                            </m:r>
                          </m:e>
                          <m:sub>
                            <m:r>
                              <a:rPr lang="en-US" b="0" i="1" smtClean="0">
                                <a:latin typeface="Cambria Math" panose="02040503050406030204" pitchFamily="18" charset="0"/>
                              </a:rPr>
                              <m:t>𝑚</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𝑚</m:t>
                            </m:r>
                          </m:sub>
                        </m:sSub>
                      </m:den>
                    </m:f>
                    <m:r>
                      <a:rPr lang="en-GB" b="0" i="1" smtClean="0">
                        <a:latin typeface="Cambria Math" panose="02040503050406030204" pitchFamily="18" charset="0"/>
                      </a:rPr>
                      <m:t>=</m:t>
                    </m:r>
                    <m:r>
                      <a:rPr lang="en-US" b="0" i="1" smtClean="0">
                        <a:latin typeface="Cambria Math" panose="02040503050406030204" pitchFamily="18" charset="0"/>
                      </a:rPr>
                      <m:t>1</m:t>
                    </m:r>
                  </m:oMath>
                </a14:m>
                <a:r>
                  <a:rPr lang="en-US"/>
                  <a:t>, </a:t>
                </a:r>
                <a:r>
                  <a:rPr lang="en-US" err="1"/>
                  <a:t>entspricht</a:t>
                </a:r>
                <a:r>
                  <a:rPr lang="en-US"/>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𝑊</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𝑚</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𝑚</m:t>
                                </m:r>
                              </m:sub>
                            </m:sSub>
                          </m:den>
                        </m:f>
                      </m:e>
                    </m:d>
                  </m:oMath>
                </a14:m>
                <a:endParaRPr lang="en-US"/>
              </a:p>
              <a:p>
                <a:pPr lvl="1">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a:latin typeface="Cambria Math" panose="02040503050406030204" pitchFamily="18" charset="0"/>
                          </a:rPr>
                          <m:t>𝜎</m:t>
                        </m:r>
                      </m:e>
                      <m:sub>
                        <m:r>
                          <a:rPr lang="en-US" sz="1600">
                            <a:latin typeface="Cambria Math" panose="02040503050406030204" pitchFamily="18" charset="0"/>
                          </a:rPr>
                          <m:t>𝐷</m:t>
                        </m:r>
                      </m:sub>
                    </m:sSub>
                  </m:oMath>
                </a14:m>
                <a:r>
                  <a:rPr lang="en-GB" sz="1600" err="1"/>
                  <a:t>Dauerschwingfestigkeit</a:t>
                </a:r>
                <a:endParaRPr lang="en-GB" sz="1600"/>
              </a:p>
              <a:p>
                <a:pPr lvl="1">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a:latin typeface="Cambria Math" panose="02040503050406030204" pitchFamily="18" charset="0"/>
                          </a:rPr>
                          <m:t>𝜎</m:t>
                        </m:r>
                      </m:e>
                      <m:sub>
                        <m:r>
                          <a:rPr lang="en-US" sz="1600">
                            <a:latin typeface="Cambria Math" panose="02040503050406030204" pitchFamily="18" charset="0"/>
                          </a:rPr>
                          <m:t>𝑊</m:t>
                        </m:r>
                      </m:sub>
                    </m:sSub>
                  </m:oMath>
                </a14:m>
                <a:r>
                  <a:rPr lang="en-GB" sz="1600"/>
                  <a:t> </a:t>
                </a:r>
                <a:r>
                  <a:rPr lang="en-GB" sz="1600" err="1"/>
                  <a:t>Wechselfestigkeit</a:t>
                </a:r>
                <a:endParaRPr lang="en-GB" sz="1600"/>
              </a:p>
              <a:p>
                <a:pPr lvl="1">
                  <a:buFont typeface="Arial" panose="020B0604020202020204" pitchFamily="34" charset="0"/>
                  <a:buChar char="•"/>
                </a:pPr>
                <a14:m>
                  <m:oMath xmlns:m="http://schemas.openxmlformats.org/officeDocument/2006/math">
                    <m:sSub>
                      <m:sSubPr>
                        <m:ctrlPr>
                          <a:rPr lang="en-GB" sz="1600" i="1">
                            <a:latin typeface="Cambria Math" panose="02040503050406030204" pitchFamily="18" charset="0"/>
                          </a:rPr>
                        </m:ctrlPr>
                      </m:sSubPr>
                      <m:e>
                        <m:r>
                          <m:rPr>
                            <m:sty m:val="p"/>
                          </m:rPr>
                          <a:rPr lang="en-GB" sz="1600">
                            <a:latin typeface="Cambria Math" panose="02040503050406030204" pitchFamily="18" charset="0"/>
                          </a:rPr>
                          <m:t>σ</m:t>
                        </m:r>
                      </m:e>
                      <m:sub>
                        <m:r>
                          <a:rPr lang="en-US" sz="1600">
                            <a:latin typeface="Cambria Math" panose="02040503050406030204" pitchFamily="18" charset="0"/>
                          </a:rPr>
                          <m:t>𝑚</m:t>
                        </m:r>
                      </m:sub>
                    </m:sSub>
                    <m:r>
                      <a:rPr lang="en-GB" sz="1600">
                        <a:latin typeface="Cambria Math" panose="02040503050406030204" pitchFamily="18" charset="0"/>
                      </a:rPr>
                      <m:t> </m:t>
                    </m:r>
                  </m:oMath>
                </a14:m>
                <a:r>
                  <a:rPr lang="en-US" sz="1600" err="1"/>
                  <a:t>ist</a:t>
                </a:r>
                <a:r>
                  <a:rPr lang="en-US" sz="1600"/>
                  <a:t> die </a:t>
                </a:r>
                <a:r>
                  <a:rPr lang="en-US" sz="1600" err="1"/>
                  <a:t>Mittelspannung</a:t>
                </a:r>
                <a:r>
                  <a:rPr lang="en-US" sz="1600"/>
                  <a:t> (= </a:t>
                </a:r>
                <a:r>
                  <a:rPr lang="en-US" sz="1600" err="1"/>
                  <a:t>mittlere</a:t>
                </a:r>
                <a:r>
                  <a:rPr lang="en-US" sz="1600"/>
                  <a:t> </a:t>
                </a:r>
                <a:r>
                  <a:rPr lang="en-US" sz="1600" err="1"/>
                  <a:t>Spannung</a:t>
                </a:r>
                <a:r>
                  <a:rPr lang="en-US" sz="1600"/>
                  <a:t>)</a:t>
                </a:r>
              </a:p>
              <a:p>
                <a:pPr lvl="1">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a:latin typeface="Cambria Math" panose="02040503050406030204" pitchFamily="18" charset="0"/>
                          </a:rPr>
                          <m:t>𝑅</m:t>
                        </m:r>
                      </m:e>
                      <m:sub>
                        <m:r>
                          <a:rPr lang="en-US" sz="1600">
                            <a:latin typeface="Cambria Math" panose="02040503050406030204" pitchFamily="18" charset="0"/>
                          </a:rPr>
                          <m:t>𝑚</m:t>
                        </m:r>
                      </m:sub>
                    </m:sSub>
                    <m:r>
                      <a:rPr lang="en-US" sz="1600" i="1">
                        <a:latin typeface="Cambria Math" panose="02040503050406030204" pitchFamily="18" charset="0"/>
                      </a:rPr>
                      <m:t> </m:t>
                    </m:r>
                  </m:oMath>
                </a14:m>
                <a:r>
                  <a:rPr lang="en-US" sz="1600" err="1"/>
                  <a:t>Zugfestigkeit</a:t>
                </a:r>
                <a:endParaRPr lang="en-US" sz="1600"/>
              </a:p>
            </p:txBody>
          </p:sp>
        </mc:Choice>
        <mc:Fallback>
          <p:sp>
            <p:nvSpPr>
              <p:cNvPr id="3" name="Content Placeholder 2">
                <a:extLst>
                  <a:ext uri="{FF2B5EF4-FFF2-40B4-BE49-F238E27FC236}">
                    <a16:creationId xmlns:a16="http://schemas.microsoft.com/office/drawing/2014/main" id="{D2A56D68-9A54-AF0D-9D8F-3F979058CC4D}"/>
                  </a:ext>
                </a:extLst>
              </p:cNvPr>
              <p:cNvSpPr>
                <a:spLocks noGrp="1" noRot="1" noChangeAspect="1" noMove="1" noResize="1" noEditPoints="1" noAdjustHandles="1" noChangeArrowheads="1" noChangeShapeType="1" noTextEdit="1"/>
              </p:cNvSpPr>
              <p:nvPr>
                <p:ph idx="1"/>
              </p:nvPr>
            </p:nvSpPr>
            <p:spPr>
              <a:xfrm>
                <a:off x="68955" y="936964"/>
                <a:ext cx="8172170" cy="4696150"/>
              </a:xfrm>
              <a:blipFill>
                <a:blip r:embed="rId2"/>
                <a:stretch>
                  <a:fillRect l="-1342" t="-2987" r="-1641"/>
                </a:stretch>
              </a:blipFill>
            </p:spPr>
            <p:txBody>
              <a:bodyPr/>
              <a:lstStyle/>
              <a:p>
                <a:r>
                  <a:rPr lang="de-CH">
                    <a:noFill/>
                  </a:rPr>
                  <a:t> </a:t>
                </a:r>
              </a:p>
            </p:txBody>
          </p:sp>
        </mc:Fallback>
      </mc:AlternateContent>
      <p:grpSp>
        <p:nvGrpSpPr>
          <p:cNvPr id="7" name="Group 6">
            <a:extLst>
              <a:ext uri="{FF2B5EF4-FFF2-40B4-BE49-F238E27FC236}">
                <a16:creationId xmlns:a16="http://schemas.microsoft.com/office/drawing/2014/main" id="{A391955F-72C2-6C18-1A13-A79A786FFA16}"/>
              </a:ext>
            </a:extLst>
          </p:cNvPr>
          <p:cNvGrpSpPr/>
          <p:nvPr/>
        </p:nvGrpSpPr>
        <p:grpSpPr>
          <a:xfrm>
            <a:off x="7525163" y="-22094"/>
            <a:ext cx="4597882" cy="3096921"/>
            <a:chOff x="7592321" y="-904"/>
            <a:chExt cx="4599679" cy="3098131"/>
          </a:xfrm>
        </p:grpSpPr>
        <p:pic>
          <p:nvPicPr>
            <p:cNvPr id="4" name="Picture 3">
              <a:extLst>
                <a:ext uri="{FF2B5EF4-FFF2-40B4-BE49-F238E27FC236}">
                  <a16:creationId xmlns:a16="http://schemas.microsoft.com/office/drawing/2014/main" id="{C3DA592F-AFED-8F90-3D7E-F58DAC6FA52E}"/>
                </a:ext>
              </a:extLst>
            </p:cNvPr>
            <p:cNvPicPr>
              <a:picLocks noChangeAspect="1"/>
            </p:cNvPicPr>
            <p:nvPr/>
          </p:nvPicPr>
          <p:blipFill>
            <a:blip r:embed="rId3"/>
            <a:stretch>
              <a:fillRect/>
            </a:stretch>
          </p:blipFill>
          <p:spPr>
            <a:xfrm>
              <a:off x="7592321" y="-904"/>
              <a:ext cx="4599679" cy="3098131"/>
            </a:xfrm>
            <a:prstGeom prst="rect">
              <a:avLst/>
            </a:prstGeom>
          </p:spPr>
        </p:pic>
        <p:sp>
          <p:nvSpPr>
            <p:cNvPr id="6" name="TextBox 5">
              <a:extLst>
                <a:ext uri="{FF2B5EF4-FFF2-40B4-BE49-F238E27FC236}">
                  <a16:creationId xmlns:a16="http://schemas.microsoft.com/office/drawing/2014/main" id="{7BBD7771-ED14-33FC-BDBC-820D20BFDA9E}"/>
                </a:ext>
              </a:extLst>
            </p:cNvPr>
            <p:cNvSpPr txBox="1"/>
            <p:nvPr/>
          </p:nvSpPr>
          <p:spPr>
            <a:xfrm>
              <a:off x="8045181" y="2761629"/>
              <a:ext cx="4133850" cy="215444"/>
            </a:xfrm>
            <a:prstGeom prst="rect">
              <a:avLst/>
            </a:prstGeom>
            <a:noFill/>
          </p:spPr>
          <p:txBody>
            <a:bodyPr wrap="square">
              <a:spAutoFit/>
            </a:bodyPr>
            <a:lstStyle/>
            <a:p>
              <a:r>
                <a:rPr lang="de-CH" sz="800"/>
                <a:t>https://en.wikipedia.org/wiki/Goodman_relation#/media/File:Fatigue_limit_diagram.png</a:t>
              </a:r>
            </a:p>
          </p:txBody>
        </p:sp>
      </p:grpSp>
      <p:pic>
        <p:nvPicPr>
          <p:cNvPr id="14" name="Picture 13">
            <a:extLst>
              <a:ext uri="{FF2B5EF4-FFF2-40B4-BE49-F238E27FC236}">
                <a16:creationId xmlns:a16="http://schemas.microsoft.com/office/drawing/2014/main" id="{D262BAD1-B557-4D3D-4AD4-7C38782CD95F}"/>
              </a:ext>
            </a:extLst>
          </p:cNvPr>
          <p:cNvPicPr>
            <a:picLocks noChangeAspect="1"/>
          </p:cNvPicPr>
          <p:nvPr/>
        </p:nvPicPr>
        <p:blipFill>
          <a:blip r:embed="rId4"/>
          <a:stretch>
            <a:fillRect/>
          </a:stretch>
        </p:blipFill>
        <p:spPr>
          <a:xfrm>
            <a:off x="8436571" y="4366352"/>
            <a:ext cx="3327111" cy="1959359"/>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4516E26-E140-CEDF-D7E5-7645FE46E23A}"/>
                  </a:ext>
                </a:extLst>
              </p:cNvPr>
              <p:cNvSpPr txBox="1"/>
              <p:nvPr/>
            </p:nvSpPr>
            <p:spPr>
              <a:xfrm>
                <a:off x="9962166" y="5905532"/>
                <a:ext cx="1647567" cy="646074"/>
              </a:xfrm>
              <a:prstGeom prst="rect">
                <a:avLst/>
              </a:prstGeom>
              <a:noFill/>
              <a:ln w="19050">
                <a:solidFill>
                  <a:schemeClr val="bg2">
                    <a:lumMod val="50000"/>
                  </a:schemeClr>
                </a:solidFill>
              </a:ln>
            </p:spPr>
            <p:txBody>
              <a:bodyPr wrap="none" rtlCol="0">
                <a:spAutoFit/>
              </a:bodyPr>
              <a:lstStyle/>
              <a:p>
                <a:r>
                  <a:rPr lang="en-US" sz="1799"/>
                  <a:t>Hier: </a:t>
                </a:r>
                <a14:m>
                  <m:oMath xmlns:m="http://schemas.openxmlformats.org/officeDocument/2006/math">
                    <m:sSub>
                      <m:sSubPr>
                        <m:ctrlPr>
                          <a:rPr lang="en-US" sz="1799" i="1">
                            <a:latin typeface="Cambria Math" panose="02040503050406030204" pitchFamily="18" charset="0"/>
                          </a:rPr>
                        </m:ctrlPr>
                      </m:sSubPr>
                      <m:e>
                        <m:r>
                          <a:rPr lang="en-US" sz="1799" i="1">
                            <a:latin typeface="Cambria Math" panose="02040503050406030204" pitchFamily="18" charset="0"/>
                          </a:rPr>
                          <m:t>𝜎</m:t>
                        </m:r>
                      </m:e>
                      <m:sub>
                        <m:r>
                          <a:rPr lang="en-US" sz="1799" i="1">
                            <a:latin typeface="Cambria Math" panose="02040503050406030204" pitchFamily="18" charset="0"/>
                          </a:rPr>
                          <m:t>𝑎𝑙𝑡</m:t>
                        </m:r>
                      </m:sub>
                    </m:sSub>
                    <m:r>
                      <a:rPr lang="en-US" sz="1799" i="1">
                        <a:latin typeface="Cambria Math" panose="02040503050406030204" pitchFamily="18" charset="0"/>
                      </a:rPr>
                      <m:t>=</m:t>
                    </m:r>
                    <m:sSub>
                      <m:sSubPr>
                        <m:ctrlPr>
                          <a:rPr lang="en-US" sz="1799" i="1">
                            <a:latin typeface="Cambria Math" panose="02040503050406030204" pitchFamily="18" charset="0"/>
                          </a:rPr>
                        </m:ctrlPr>
                      </m:sSubPr>
                      <m:e>
                        <m:r>
                          <a:rPr lang="en-US" sz="1799" i="1">
                            <a:latin typeface="Cambria Math" panose="02040503050406030204" pitchFamily="18" charset="0"/>
                          </a:rPr>
                          <m:t>𝜎</m:t>
                        </m:r>
                      </m:e>
                      <m:sub>
                        <m:r>
                          <a:rPr lang="en-US" sz="1799" i="1">
                            <a:latin typeface="Cambria Math" panose="02040503050406030204" pitchFamily="18" charset="0"/>
                          </a:rPr>
                          <m:t>𝑎</m:t>
                        </m:r>
                      </m:sub>
                    </m:sSub>
                  </m:oMath>
                </a14:m>
                <a:endParaRPr lang="de-CH" sz="1799"/>
              </a:p>
              <a:p>
                <a:pPr/>
                <a14:m>
                  <m:oMathPara xmlns:m="http://schemas.openxmlformats.org/officeDocument/2006/math">
                    <m:oMathParaPr>
                      <m:jc m:val="centerGroup"/>
                    </m:oMathParaPr>
                    <m:oMath xmlns:m="http://schemas.openxmlformats.org/officeDocument/2006/math">
                      <m:sSub>
                        <m:sSubPr>
                          <m:ctrlPr>
                            <a:rPr lang="en-US" sz="1799" i="1">
                              <a:latin typeface="Cambria Math" panose="02040503050406030204" pitchFamily="18" charset="0"/>
                            </a:rPr>
                          </m:ctrlPr>
                        </m:sSubPr>
                        <m:e>
                          <m:r>
                            <a:rPr lang="en-US" sz="1799" i="1">
                              <a:latin typeface="Cambria Math" panose="02040503050406030204" pitchFamily="18" charset="0"/>
                            </a:rPr>
                            <m:t>𝜎</m:t>
                          </m:r>
                        </m:e>
                        <m:sub>
                          <m:r>
                            <a:rPr lang="en-US" sz="1799" i="1">
                              <a:latin typeface="Cambria Math" panose="02040503050406030204" pitchFamily="18" charset="0"/>
                            </a:rPr>
                            <m:t>𝑚𝑒𝑎𝑛</m:t>
                          </m:r>
                        </m:sub>
                      </m:sSub>
                      <m:r>
                        <a:rPr lang="en-US" sz="1799" i="1">
                          <a:latin typeface="Cambria Math" panose="02040503050406030204" pitchFamily="18" charset="0"/>
                        </a:rPr>
                        <m:t>=</m:t>
                      </m:r>
                      <m:sSub>
                        <m:sSubPr>
                          <m:ctrlPr>
                            <a:rPr lang="en-US" sz="1799" i="1">
                              <a:latin typeface="Cambria Math" panose="02040503050406030204" pitchFamily="18" charset="0"/>
                            </a:rPr>
                          </m:ctrlPr>
                        </m:sSubPr>
                        <m:e>
                          <m:r>
                            <a:rPr lang="en-US" sz="1799" i="1">
                              <a:latin typeface="Cambria Math" panose="02040503050406030204" pitchFamily="18" charset="0"/>
                            </a:rPr>
                            <m:t>𝜎</m:t>
                          </m:r>
                        </m:e>
                        <m:sub>
                          <m:r>
                            <a:rPr lang="en-US" sz="1799" i="1">
                              <a:latin typeface="Cambria Math" panose="02040503050406030204" pitchFamily="18" charset="0"/>
                            </a:rPr>
                            <m:t>𝑚</m:t>
                          </m:r>
                        </m:sub>
                      </m:sSub>
                    </m:oMath>
                  </m:oMathPara>
                </a14:m>
                <a:endParaRPr lang="de-CH" sz="1799"/>
              </a:p>
            </p:txBody>
          </p:sp>
        </mc:Choice>
        <mc:Fallback>
          <p:sp>
            <p:nvSpPr>
              <p:cNvPr id="5" name="TextBox 4">
                <a:extLst>
                  <a:ext uri="{FF2B5EF4-FFF2-40B4-BE49-F238E27FC236}">
                    <a16:creationId xmlns:a16="http://schemas.microsoft.com/office/drawing/2014/main" id="{14516E26-E140-CEDF-D7E5-7645FE46E23A}"/>
                  </a:ext>
                </a:extLst>
              </p:cNvPr>
              <p:cNvSpPr txBox="1">
                <a:spLocks noRot="1" noChangeAspect="1" noMove="1" noResize="1" noEditPoints="1" noAdjustHandles="1" noChangeArrowheads="1" noChangeShapeType="1" noTextEdit="1"/>
              </p:cNvSpPr>
              <p:nvPr/>
            </p:nvSpPr>
            <p:spPr>
              <a:xfrm>
                <a:off x="9962166" y="5905532"/>
                <a:ext cx="1647567" cy="646074"/>
              </a:xfrm>
              <a:prstGeom prst="rect">
                <a:avLst/>
              </a:prstGeom>
              <a:blipFill>
                <a:blip r:embed="rId5"/>
                <a:stretch>
                  <a:fillRect l="-2198" t="-1835"/>
                </a:stretch>
              </a:blipFill>
              <a:ln w="19050">
                <a:solidFill>
                  <a:schemeClr val="bg2">
                    <a:lumMod val="50000"/>
                  </a:schemeClr>
                </a:solidFill>
              </a:ln>
            </p:spPr>
            <p:txBody>
              <a:bodyPr/>
              <a:lstStyle/>
              <a:p>
                <a:r>
                  <a:rPr lang="de-C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EF6D7562-7728-751A-C29E-02958F2B1098}"/>
                  </a:ext>
                </a:extLst>
              </p:cNvPr>
              <p:cNvSpPr txBox="1"/>
              <p:nvPr/>
            </p:nvSpPr>
            <p:spPr>
              <a:xfrm>
                <a:off x="8883408" y="3008040"/>
                <a:ext cx="1993366" cy="646074"/>
              </a:xfrm>
              <a:prstGeom prst="rect">
                <a:avLst/>
              </a:prstGeom>
              <a:noFill/>
              <a:ln w="19050">
                <a:solidFill>
                  <a:schemeClr val="bg2">
                    <a:lumMod val="50000"/>
                  </a:schemeClr>
                </a:solidFill>
              </a:ln>
            </p:spPr>
            <p:txBody>
              <a:bodyPr wrap="none" rtlCol="0">
                <a:spAutoFit/>
              </a:bodyPr>
              <a:lstStyle>
                <a:defPPr>
                  <a:defRPr lang="de-DE"/>
                </a:defPPr>
                <a:lvl1pPr>
                  <a:defRPr sz="1799"/>
                </a:lvl1pPr>
              </a:lstStyle>
              <a:p>
                <a:r>
                  <a:rPr lang="en-US"/>
                  <a:t>Hier: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𝜎</m:t>
                        </m:r>
                      </m:e>
                      <m:sub>
                        <m:r>
                          <a:rPr lang="en-US">
                            <a:latin typeface="Cambria Math" panose="02040503050406030204" pitchFamily="18" charset="0"/>
                          </a:rPr>
                          <m:t>𝑌</m:t>
                        </m:r>
                        <m:r>
                          <m:rPr>
                            <m:sty m:val="p"/>
                          </m:rPr>
                          <a:rPr lang="en-US">
                            <a:latin typeface="Cambria Math" panose="02040503050406030204" pitchFamily="18" charset="0"/>
                          </a:rPr>
                          <m:t>TS</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𝑅</m:t>
                        </m:r>
                      </m:e>
                      <m:sub>
                        <m:r>
                          <a:rPr lang="en-US">
                            <a:latin typeface="Cambria Math" panose="02040503050406030204" pitchFamily="18" charset="0"/>
                          </a:rPr>
                          <m:t>𝑒</m:t>
                        </m:r>
                      </m:sub>
                    </m:sSub>
                  </m:oMath>
                </a14:m>
                <a:endParaRPr lang="en-US"/>
              </a:p>
              <a:p>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a:latin typeface="Cambria Math" panose="02040503050406030204" pitchFamily="18" charset="0"/>
                                </a:rPr>
                                <m:t>𝜎</m:t>
                              </m:r>
                            </m:e>
                            <m:sub>
                              <m:r>
                                <a:rPr lang="en-US">
                                  <a:latin typeface="Cambria Math" panose="02040503050406030204" pitchFamily="18" charset="0"/>
                                </a:rPr>
                                <m:t>𝑈</m:t>
                              </m:r>
                              <m:r>
                                <m:rPr>
                                  <m:sty m:val="p"/>
                                </m:rPr>
                                <a:rPr lang="en-US">
                                  <a:latin typeface="Cambria Math" panose="02040503050406030204" pitchFamily="18" charset="0"/>
                                </a:rPr>
                                <m:t>TS</m:t>
                              </m:r>
                            </m:sub>
                          </m:sSub>
                          <m:r>
                            <a:rPr lang="en-US">
                              <a:latin typeface="Cambria Math" panose="02040503050406030204" pitchFamily="18" charset="0"/>
                            </a:rPr>
                            <m:t>=</m:t>
                          </m:r>
                          <m:r>
                            <a:rPr lang="en-US">
                              <a:latin typeface="Cambria Math" panose="02040503050406030204" pitchFamily="18" charset="0"/>
                            </a:rPr>
                            <m:t>𝜎</m:t>
                          </m:r>
                        </m:e>
                        <m:sub>
                          <m:r>
                            <a:rPr lang="en-US">
                              <a:latin typeface="Cambria Math" panose="02040503050406030204" pitchFamily="18" charset="0"/>
                            </a:rPr>
                            <m:t>𝑢𝑙𝑡</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𝑅</m:t>
                          </m:r>
                        </m:e>
                        <m:sub>
                          <m:r>
                            <a:rPr lang="en-US">
                              <a:latin typeface="Cambria Math" panose="02040503050406030204" pitchFamily="18" charset="0"/>
                            </a:rPr>
                            <m:t>𝑚</m:t>
                          </m:r>
                        </m:sub>
                      </m:sSub>
                    </m:oMath>
                  </m:oMathPara>
                </a14:m>
                <a:endParaRPr lang="en-CH"/>
              </a:p>
            </p:txBody>
          </p:sp>
        </mc:Choice>
        <mc:Fallback>
          <p:sp>
            <p:nvSpPr>
              <p:cNvPr id="17" name="TextBox 16">
                <a:extLst>
                  <a:ext uri="{FF2B5EF4-FFF2-40B4-BE49-F238E27FC236}">
                    <a16:creationId xmlns:a16="http://schemas.microsoft.com/office/drawing/2014/main" id="{EF6D7562-7728-751A-C29E-02958F2B1098}"/>
                  </a:ext>
                </a:extLst>
              </p:cNvPr>
              <p:cNvSpPr txBox="1">
                <a:spLocks noRot="1" noChangeAspect="1" noMove="1" noResize="1" noEditPoints="1" noAdjustHandles="1" noChangeArrowheads="1" noChangeShapeType="1" noTextEdit="1"/>
              </p:cNvSpPr>
              <p:nvPr/>
            </p:nvSpPr>
            <p:spPr>
              <a:xfrm>
                <a:off x="8883408" y="3008040"/>
                <a:ext cx="1993366" cy="646074"/>
              </a:xfrm>
              <a:prstGeom prst="rect">
                <a:avLst/>
              </a:prstGeom>
              <a:blipFill>
                <a:blip r:embed="rId6"/>
                <a:stretch>
                  <a:fillRect l="-1818" t="-1835"/>
                </a:stretch>
              </a:blipFill>
              <a:ln w="19050">
                <a:solidFill>
                  <a:schemeClr val="bg2">
                    <a:lumMod val="50000"/>
                  </a:schemeClr>
                </a:solidFill>
              </a:ln>
            </p:spPr>
            <p:txBody>
              <a:bodyPr/>
              <a:lstStyle/>
              <a:p>
                <a:r>
                  <a:rPr lang="de-CH">
                    <a:noFill/>
                  </a:rPr>
                  <a:t> </a:t>
                </a:r>
              </a:p>
            </p:txBody>
          </p:sp>
        </mc:Fallback>
      </mc:AlternateContent>
      <p:sp>
        <p:nvSpPr>
          <p:cNvPr id="12" name="Rectangle 11">
            <a:extLst>
              <a:ext uri="{FF2B5EF4-FFF2-40B4-BE49-F238E27FC236}">
                <a16:creationId xmlns:a16="http://schemas.microsoft.com/office/drawing/2014/main" id="{394DC5D5-AE74-6763-7E24-40793AA9763C}"/>
              </a:ext>
            </a:extLst>
          </p:cNvPr>
          <p:cNvSpPr/>
          <p:nvPr/>
        </p:nvSpPr>
        <p:spPr>
          <a:xfrm>
            <a:off x="10626386" y="2552700"/>
            <a:ext cx="353558" cy="1866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58E8127-6744-1708-4E82-E769F9813FFB}"/>
                  </a:ext>
                </a:extLst>
              </p:cNvPr>
              <p:cNvSpPr txBox="1"/>
              <p:nvPr/>
            </p:nvSpPr>
            <p:spPr>
              <a:xfrm>
                <a:off x="10473994" y="2398812"/>
                <a:ext cx="56692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panose="02040503050406030204" pitchFamily="18" charset="0"/>
                            </a:rPr>
                            <m:t>𝜎</m:t>
                          </m:r>
                        </m:e>
                        <m:sub>
                          <m:r>
                            <a:rPr lang="en-US" sz="1400">
                              <a:latin typeface="Cambria Math" panose="02040503050406030204" pitchFamily="18" charset="0"/>
                            </a:rPr>
                            <m:t>𝑈</m:t>
                          </m:r>
                          <m:r>
                            <a:rPr lang="en-US" sz="1400" i="1">
                              <a:latin typeface="Cambria Math" panose="02040503050406030204" pitchFamily="18" charset="0"/>
                            </a:rPr>
                            <m:t>𝑇𝑆</m:t>
                          </m:r>
                        </m:sub>
                      </m:sSub>
                    </m:oMath>
                  </m:oMathPara>
                </a14:m>
                <a:endParaRPr lang="en-CH" sz="1400"/>
              </a:p>
            </p:txBody>
          </p:sp>
        </mc:Choice>
        <mc:Fallback>
          <p:sp>
            <p:nvSpPr>
              <p:cNvPr id="11" name="TextBox 10">
                <a:extLst>
                  <a:ext uri="{FF2B5EF4-FFF2-40B4-BE49-F238E27FC236}">
                    <a16:creationId xmlns:a16="http://schemas.microsoft.com/office/drawing/2014/main" id="{458E8127-6744-1708-4E82-E769F9813FFB}"/>
                  </a:ext>
                </a:extLst>
              </p:cNvPr>
              <p:cNvSpPr txBox="1">
                <a:spLocks noRot="1" noChangeAspect="1" noMove="1" noResize="1" noEditPoints="1" noAdjustHandles="1" noChangeArrowheads="1" noChangeShapeType="1" noTextEdit="1"/>
              </p:cNvSpPr>
              <p:nvPr/>
            </p:nvSpPr>
            <p:spPr>
              <a:xfrm>
                <a:off x="10473994" y="2398812"/>
                <a:ext cx="566928" cy="307777"/>
              </a:xfrm>
              <a:prstGeom prst="rect">
                <a:avLst/>
              </a:prstGeom>
              <a:blipFill>
                <a:blip r:embed="rId7"/>
                <a:stretch>
                  <a:fillRect/>
                </a:stretch>
              </a:blipFill>
            </p:spPr>
            <p:txBody>
              <a:bodyPr/>
              <a:lstStyle/>
              <a:p>
                <a:r>
                  <a:rPr lang="de-CH">
                    <a:noFill/>
                  </a:rPr>
                  <a:t> </a:t>
                </a:r>
              </a:p>
            </p:txBody>
          </p:sp>
        </mc:Fallback>
      </mc:AlternateContent>
      <p:sp>
        <p:nvSpPr>
          <p:cNvPr id="9" name="Rectangle 8">
            <a:extLst>
              <a:ext uri="{FF2B5EF4-FFF2-40B4-BE49-F238E27FC236}">
                <a16:creationId xmlns:a16="http://schemas.microsoft.com/office/drawing/2014/main" id="{639554A9-49B1-DF0E-FC61-96EE356F50CA}"/>
              </a:ext>
            </a:extLst>
          </p:cNvPr>
          <p:cNvSpPr/>
          <p:nvPr/>
        </p:nvSpPr>
        <p:spPr>
          <a:xfrm>
            <a:off x="9998824" y="2552700"/>
            <a:ext cx="353558" cy="1866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67D31690-6333-9190-9AEC-3EE6019DD3F2}"/>
                  </a:ext>
                </a:extLst>
              </p:cNvPr>
              <p:cNvSpPr txBox="1"/>
              <p:nvPr/>
            </p:nvSpPr>
            <p:spPr>
              <a:xfrm>
                <a:off x="9816661" y="2426680"/>
                <a:ext cx="56692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panose="02040503050406030204" pitchFamily="18" charset="0"/>
                            </a:rPr>
                            <m:t>𝜎</m:t>
                          </m:r>
                        </m:e>
                        <m:sub>
                          <m:r>
                            <a:rPr lang="en-US" sz="1400" i="1">
                              <a:latin typeface="Cambria Math" panose="02040503050406030204" pitchFamily="18" charset="0"/>
                            </a:rPr>
                            <m:t>𝑌𝑇𝑆</m:t>
                          </m:r>
                        </m:sub>
                      </m:sSub>
                    </m:oMath>
                  </m:oMathPara>
                </a14:m>
                <a:endParaRPr lang="en-CH" sz="1400"/>
              </a:p>
            </p:txBody>
          </p:sp>
        </mc:Choice>
        <mc:Fallback>
          <p:sp>
            <p:nvSpPr>
              <p:cNvPr id="8" name="TextBox 7">
                <a:extLst>
                  <a:ext uri="{FF2B5EF4-FFF2-40B4-BE49-F238E27FC236}">
                    <a16:creationId xmlns:a16="http://schemas.microsoft.com/office/drawing/2014/main" id="{67D31690-6333-9190-9AEC-3EE6019DD3F2}"/>
                  </a:ext>
                </a:extLst>
              </p:cNvPr>
              <p:cNvSpPr txBox="1">
                <a:spLocks noRot="1" noChangeAspect="1" noMove="1" noResize="1" noEditPoints="1" noAdjustHandles="1" noChangeArrowheads="1" noChangeShapeType="1" noTextEdit="1"/>
              </p:cNvSpPr>
              <p:nvPr/>
            </p:nvSpPr>
            <p:spPr>
              <a:xfrm>
                <a:off x="9816661" y="2426680"/>
                <a:ext cx="566928" cy="307777"/>
              </a:xfrm>
              <a:prstGeom prst="rect">
                <a:avLst/>
              </a:prstGeom>
              <a:blipFill>
                <a:blip r:embed="rId8"/>
                <a:stretch>
                  <a:fillRect/>
                </a:stretch>
              </a:blipFill>
            </p:spPr>
            <p:txBody>
              <a:bodyPr/>
              <a:lstStyle/>
              <a:p>
                <a:r>
                  <a:rPr lang="de-CH">
                    <a:noFill/>
                  </a:rPr>
                  <a:t> </a:t>
                </a:r>
              </a:p>
            </p:txBody>
          </p:sp>
        </mc:Fallback>
      </mc:AlternateContent>
    </p:spTree>
    <p:extLst>
      <p:ext uri="{BB962C8B-B14F-4D97-AF65-F5344CB8AC3E}">
        <p14:creationId xmlns:p14="http://schemas.microsoft.com/office/powerpoint/2010/main" val="1900961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F090E-855A-4CF5-1A6E-B99CD6C67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99C2F-2329-F711-E60A-FCD5AF294906}"/>
              </a:ext>
            </a:extLst>
          </p:cNvPr>
          <p:cNvSpPr>
            <a:spLocks noGrp="1"/>
          </p:cNvSpPr>
          <p:nvPr>
            <p:ph type="title"/>
          </p:nvPr>
        </p:nvSpPr>
        <p:spPr>
          <a:xfrm>
            <a:off x="605631" y="226094"/>
            <a:ext cx="10511492" cy="487540"/>
          </a:xfrm>
        </p:spPr>
        <p:txBody>
          <a:bodyPr>
            <a:normAutofit fontScale="90000"/>
          </a:bodyPr>
          <a:lstStyle/>
          <a:p>
            <a:r>
              <a:rPr lang="de-CH"/>
              <a:t>Haigh Diagramm</a:t>
            </a:r>
          </a:p>
        </p:txBody>
      </p:sp>
      <p:sp>
        <p:nvSpPr>
          <p:cNvPr id="3" name="Content Placeholder 2">
            <a:extLst>
              <a:ext uri="{FF2B5EF4-FFF2-40B4-BE49-F238E27FC236}">
                <a16:creationId xmlns:a16="http://schemas.microsoft.com/office/drawing/2014/main" id="{3C25386E-7AB7-9DA7-8BBB-A32393B9628E}"/>
              </a:ext>
            </a:extLst>
          </p:cNvPr>
          <p:cNvSpPr>
            <a:spLocks noGrp="1"/>
          </p:cNvSpPr>
          <p:nvPr>
            <p:ph idx="1"/>
          </p:nvPr>
        </p:nvSpPr>
        <p:spPr>
          <a:xfrm>
            <a:off x="605631" y="880106"/>
            <a:ext cx="11315700" cy="4349638"/>
          </a:xfrm>
        </p:spPr>
        <p:txBody>
          <a:bodyPr>
            <a:normAutofit/>
          </a:bodyPr>
          <a:lstStyle/>
          <a:p>
            <a:r>
              <a:rPr lang="de-CH" b="1"/>
              <a:t>Zweck:</a:t>
            </a:r>
            <a:r>
              <a:rPr lang="de-CH"/>
              <a:t> Grafische Darstellung des zulässigen Spannungsbereichs gegenüber der Mittelspannung für ein bestimmtes Material (sozusagen die grafische Darstellung von Goodman).</a:t>
            </a:r>
          </a:p>
          <a:p>
            <a:r>
              <a:rPr lang="de-CH" b="1"/>
              <a:t>Anwendung:</a:t>
            </a:r>
            <a:r>
              <a:rPr lang="de-CH"/>
              <a:t> Hilft bei der Bestimmung sicherer Betriebsbedingungen für Materialien unter zyklischer Belastung.</a:t>
            </a:r>
          </a:p>
          <a:p>
            <a:r>
              <a:rPr lang="de-CH" b="1"/>
              <a:t>Wie:</a:t>
            </a:r>
            <a:r>
              <a:rPr lang="de-CH"/>
              <a:t> Konstruiert durch Auftragen der Mittelspannung gegen den Spannungsbereich mit Konturen, die eine konstante Ermüdungslebensdauer anzeigen.</a:t>
            </a:r>
          </a:p>
          <a:p>
            <a:pPr marL="0" indent="0">
              <a:buNone/>
            </a:pPr>
            <a:endParaRPr lang="de-CH"/>
          </a:p>
        </p:txBody>
      </p:sp>
      <p:grpSp>
        <p:nvGrpSpPr>
          <p:cNvPr id="5" name="Group 4">
            <a:extLst>
              <a:ext uri="{FF2B5EF4-FFF2-40B4-BE49-F238E27FC236}">
                <a16:creationId xmlns:a16="http://schemas.microsoft.com/office/drawing/2014/main" id="{82AF46B0-587C-A3F7-E05D-E7CFA6D8FA33}"/>
              </a:ext>
            </a:extLst>
          </p:cNvPr>
          <p:cNvGrpSpPr/>
          <p:nvPr/>
        </p:nvGrpSpPr>
        <p:grpSpPr>
          <a:xfrm>
            <a:off x="2272441" y="3278008"/>
            <a:ext cx="9313929" cy="3173760"/>
            <a:chOff x="2903067" y="3722623"/>
            <a:chExt cx="9317568" cy="3175000"/>
          </a:xfrm>
        </p:grpSpPr>
        <p:grpSp>
          <p:nvGrpSpPr>
            <p:cNvPr id="36" name="Group 35">
              <a:extLst>
                <a:ext uri="{FF2B5EF4-FFF2-40B4-BE49-F238E27FC236}">
                  <a16:creationId xmlns:a16="http://schemas.microsoft.com/office/drawing/2014/main" id="{61DF45C3-D376-6BD2-56AF-E9D4EE270E87}"/>
                </a:ext>
              </a:extLst>
            </p:cNvPr>
            <p:cNvGrpSpPr/>
            <p:nvPr/>
          </p:nvGrpSpPr>
          <p:grpSpPr>
            <a:xfrm>
              <a:off x="2903067" y="3722623"/>
              <a:ext cx="9317568" cy="3175000"/>
              <a:chOff x="-833717" y="5796440"/>
              <a:chExt cx="10091477" cy="3749365"/>
            </a:xfrm>
          </p:grpSpPr>
          <p:grpSp>
            <p:nvGrpSpPr>
              <p:cNvPr id="18" name="Group 17">
                <a:extLst>
                  <a:ext uri="{FF2B5EF4-FFF2-40B4-BE49-F238E27FC236}">
                    <a16:creationId xmlns:a16="http://schemas.microsoft.com/office/drawing/2014/main" id="{778F9A54-91DF-6128-E805-A73ADDE85E11}"/>
                  </a:ext>
                </a:extLst>
              </p:cNvPr>
              <p:cNvGrpSpPr/>
              <p:nvPr/>
            </p:nvGrpSpPr>
            <p:grpSpPr>
              <a:xfrm>
                <a:off x="-833717" y="5796440"/>
                <a:ext cx="10091477" cy="3749365"/>
                <a:chOff x="-3861491" y="-1796166"/>
                <a:chExt cx="10091477" cy="3749365"/>
              </a:xfrm>
            </p:grpSpPr>
            <p:sp>
              <p:nvSpPr>
                <p:cNvPr id="11" name="TextBox 10">
                  <a:extLst>
                    <a:ext uri="{FF2B5EF4-FFF2-40B4-BE49-F238E27FC236}">
                      <a16:creationId xmlns:a16="http://schemas.microsoft.com/office/drawing/2014/main" id="{8C2C2CF1-698E-7CEE-76E7-FBD51BF88428}"/>
                    </a:ext>
                  </a:extLst>
                </p:cNvPr>
                <p:cNvSpPr txBox="1"/>
                <p:nvPr/>
              </p:nvSpPr>
              <p:spPr>
                <a:xfrm>
                  <a:off x="2062928" y="1506609"/>
                  <a:ext cx="4167058" cy="399799"/>
                </a:xfrm>
                <a:prstGeom prst="rect">
                  <a:avLst/>
                </a:prstGeom>
                <a:noFill/>
              </p:spPr>
              <p:txBody>
                <a:bodyPr wrap="square">
                  <a:spAutoFit/>
                </a:bodyPr>
                <a:lstStyle/>
                <a:p>
                  <a:r>
                    <a:rPr lang="de-CH" sz="800"/>
                    <a:t>https://community.sw.siemens.com/s/article/the-goodman-haigh-diagram-for-infinite-life</a:t>
                  </a:r>
                </a:p>
              </p:txBody>
            </p:sp>
            <p:pic>
              <p:nvPicPr>
                <p:cNvPr id="17" name="Picture 16">
                  <a:extLst>
                    <a:ext uri="{FF2B5EF4-FFF2-40B4-BE49-F238E27FC236}">
                      <a16:creationId xmlns:a16="http://schemas.microsoft.com/office/drawing/2014/main" id="{19501269-0B32-0E43-364F-4ABBBBB1579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861491" y="-1796166"/>
                  <a:ext cx="8161727" cy="3749365"/>
                </a:xfrm>
                <a:prstGeom prst="rect">
                  <a:avLst/>
                </a:prstGeom>
              </p:spPr>
            </p:pic>
          </p:grpSp>
          <p:cxnSp>
            <p:nvCxnSpPr>
              <p:cNvPr id="28" name="Straight Connector 27">
                <a:extLst>
                  <a:ext uri="{FF2B5EF4-FFF2-40B4-BE49-F238E27FC236}">
                    <a16:creationId xmlns:a16="http://schemas.microsoft.com/office/drawing/2014/main" id="{89987705-8204-4A2E-37B8-9D259FEE4F04}"/>
                  </a:ext>
                </a:extLst>
              </p:cNvPr>
              <p:cNvCxnSpPr>
                <a:cxnSpLocks/>
              </p:cNvCxnSpPr>
              <p:nvPr/>
            </p:nvCxnSpPr>
            <p:spPr>
              <a:xfrm flipV="1">
                <a:off x="5352131" y="6828270"/>
                <a:ext cx="764547" cy="1320102"/>
              </a:xfrm>
              <a:prstGeom prst="line">
                <a:avLst/>
              </a:prstGeom>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847AA6B7-8C84-397F-239F-C41542F55736}"/>
                  </a:ext>
                </a:extLst>
              </p:cNvPr>
              <p:cNvSpPr txBox="1"/>
              <p:nvPr/>
            </p:nvSpPr>
            <p:spPr>
              <a:xfrm>
                <a:off x="5545931" y="6429970"/>
                <a:ext cx="1740647" cy="436164"/>
              </a:xfrm>
              <a:prstGeom prst="rect">
                <a:avLst/>
              </a:prstGeom>
              <a:noFill/>
            </p:spPr>
            <p:txBody>
              <a:bodyPr wrap="none" rtlCol="0">
                <a:spAutoFit/>
              </a:bodyPr>
              <a:lstStyle/>
              <a:p>
                <a:r>
                  <a:rPr lang="en-US" sz="1799"/>
                  <a:t>Goodman Linie</a:t>
                </a:r>
                <a:endParaRPr lang="de-CH" sz="1799"/>
              </a:p>
            </p:txBody>
          </p:sp>
          <p:cxnSp>
            <p:nvCxnSpPr>
              <p:cNvPr id="33" name="Straight Arrow Connector 32">
                <a:extLst>
                  <a:ext uri="{FF2B5EF4-FFF2-40B4-BE49-F238E27FC236}">
                    <a16:creationId xmlns:a16="http://schemas.microsoft.com/office/drawing/2014/main" id="{2502B12E-8D6F-047F-841E-F82727E32F1D}"/>
                  </a:ext>
                </a:extLst>
              </p:cNvPr>
              <p:cNvCxnSpPr>
                <a:cxnSpLocks/>
              </p:cNvCxnSpPr>
              <p:nvPr/>
            </p:nvCxnSpPr>
            <p:spPr>
              <a:xfrm>
                <a:off x="4554076" y="7052413"/>
                <a:ext cx="357759" cy="11408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F4D1CB44-6AAF-8370-A18B-BA89A2B33742}"/>
                  </a:ext>
                </a:extLst>
              </p:cNvPr>
              <p:cNvSpPr txBox="1"/>
              <p:nvPr/>
            </p:nvSpPr>
            <p:spPr>
              <a:xfrm>
                <a:off x="3944512" y="6683082"/>
                <a:ext cx="1304565" cy="436164"/>
              </a:xfrm>
              <a:prstGeom prst="rect">
                <a:avLst/>
              </a:prstGeom>
              <a:noFill/>
            </p:spPr>
            <p:txBody>
              <a:bodyPr wrap="none" rtlCol="0">
                <a:spAutoFit/>
              </a:bodyPr>
              <a:lstStyle/>
              <a:p>
                <a:r>
                  <a:rPr lang="en-US" sz="1799"/>
                  <a:t>LCF Region</a:t>
                </a:r>
                <a:endParaRPr lang="de-CH" sz="1799"/>
              </a:p>
            </p:txBody>
          </p:sp>
        </p:grpSp>
        <p:cxnSp>
          <p:nvCxnSpPr>
            <p:cNvPr id="45" name="Straight Arrow Connector 44">
              <a:extLst>
                <a:ext uri="{FF2B5EF4-FFF2-40B4-BE49-F238E27FC236}">
                  <a16:creationId xmlns:a16="http://schemas.microsoft.com/office/drawing/2014/main" id="{9E5B2581-6532-D26F-9A96-A1D15C16E9A7}"/>
                </a:ext>
              </a:extLst>
            </p:cNvPr>
            <p:cNvCxnSpPr>
              <a:cxnSpLocks/>
            </p:cNvCxnSpPr>
            <p:nvPr/>
          </p:nvCxnSpPr>
          <p:spPr>
            <a:xfrm flipH="1">
              <a:off x="6759238" y="4789234"/>
              <a:ext cx="1040145" cy="1430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pic>
        <p:nvPicPr>
          <p:cNvPr id="6" name="Picture 5">
            <a:extLst>
              <a:ext uri="{FF2B5EF4-FFF2-40B4-BE49-F238E27FC236}">
                <a16:creationId xmlns:a16="http://schemas.microsoft.com/office/drawing/2014/main" id="{2F52F45D-C5B2-7E78-533A-EBDDF1937D96}"/>
              </a:ext>
            </a:extLst>
          </p:cNvPr>
          <p:cNvPicPr>
            <a:picLocks noChangeAspect="1"/>
          </p:cNvPicPr>
          <p:nvPr/>
        </p:nvPicPr>
        <p:blipFill>
          <a:blip r:embed="rId4"/>
          <a:stretch>
            <a:fillRect/>
          </a:stretch>
        </p:blipFill>
        <p:spPr>
          <a:xfrm>
            <a:off x="10533954" y="3278008"/>
            <a:ext cx="1166339" cy="443716"/>
          </a:xfrm>
          <a:prstGeom prst="rect">
            <a:avLst/>
          </a:prstGeom>
        </p:spPr>
      </p:pic>
      <p:cxnSp>
        <p:nvCxnSpPr>
          <p:cNvPr id="8" name="Straight Connector 7">
            <a:extLst>
              <a:ext uri="{FF2B5EF4-FFF2-40B4-BE49-F238E27FC236}">
                <a16:creationId xmlns:a16="http://schemas.microsoft.com/office/drawing/2014/main" id="{BF7D64A8-8DA4-DA17-8C47-A77EA18AD65F}"/>
              </a:ext>
            </a:extLst>
          </p:cNvPr>
          <p:cNvCxnSpPr>
            <a:cxnSpLocks/>
          </p:cNvCxnSpPr>
          <p:nvPr/>
        </p:nvCxnSpPr>
        <p:spPr>
          <a:xfrm>
            <a:off x="9909733" y="3499866"/>
            <a:ext cx="42945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89D6905-7955-D950-9DDA-61C9EC2BE7EA}"/>
                  </a:ext>
                </a:extLst>
              </p:cNvPr>
              <p:cNvSpPr txBox="1"/>
              <p:nvPr/>
            </p:nvSpPr>
            <p:spPr>
              <a:xfrm>
                <a:off x="10575001" y="3844793"/>
                <a:ext cx="854914"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FF66FF"/>
                              </a:solidFill>
                              <a:latin typeface="Cambria Math" panose="02040503050406030204" pitchFamily="18" charset="0"/>
                            </a:rPr>
                          </m:ctrlPr>
                        </m:sSubPr>
                        <m:e>
                          <m:r>
                            <a:rPr lang="en-US" i="1">
                              <a:solidFill>
                                <a:srgbClr val="FF66FF"/>
                              </a:solidFill>
                              <a:latin typeface="Cambria Math" panose="02040503050406030204" pitchFamily="18" charset="0"/>
                            </a:rPr>
                            <m:t>𝜎</m:t>
                          </m:r>
                        </m:e>
                        <m:sub>
                          <m:r>
                            <a:rPr lang="en-US" i="1">
                              <a:solidFill>
                                <a:srgbClr val="FF66FF"/>
                              </a:solidFill>
                              <a:latin typeface="Cambria Math" panose="02040503050406030204" pitchFamily="18" charset="0"/>
                            </a:rPr>
                            <m:t>𝑦</m:t>
                          </m:r>
                        </m:sub>
                      </m:sSub>
                      <m:r>
                        <a:rPr lang="en-US" i="1">
                          <a:solidFill>
                            <a:srgbClr val="FF66FF"/>
                          </a:solidFill>
                          <a:latin typeface="Cambria Math" panose="02040503050406030204" pitchFamily="18" charset="0"/>
                        </a:rPr>
                        <m:t>=</m:t>
                      </m:r>
                      <m:sSub>
                        <m:sSubPr>
                          <m:ctrlPr>
                            <a:rPr lang="en-US" i="1">
                              <a:solidFill>
                                <a:srgbClr val="FF66FF"/>
                              </a:solidFill>
                              <a:latin typeface="Cambria Math" panose="02040503050406030204" pitchFamily="18" charset="0"/>
                            </a:rPr>
                          </m:ctrlPr>
                        </m:sSubPr>
                        <m:e>
                          <m:r>
                            <a:rPr lang="en-US" i="1">
                              <a:solidFill>
                                <a:srgbClr val="FF66FF"/>
                              </a:solidFill>
                              <a:latin typeface="Cambria Math" panose="02040503050406030204" pitchFamily="18" charset="0"/>
                            </a:rPr>
                            <m:t>𝑅</m:t>
                          </m:r>
                        </m:e>
                        <m:sub>
                          <m:r>
                            <a:rPr lang="en-US" i="1">
                              <a:solidFill>
                                <a:srgbClr val="FF66FF"/>
                              </a:solidFill>
                              <a:latin typeface="Cambria Math" panose="02040503050406030204" pitchFamily="18" charset="0"/>
                            </a:rPr>
                            <m:t>𝑒</m:t>
                          </m:r>
                        </m:sub>
                      </m:sSub>
                    </m:oMath>
                  </m:oMathPara>
                </a14:m>
                <a:endParaRPr lang="en-CH"/>
              </a:p>
            </p:txBody>
          </p:sp>
        </mc:Choice>
        <mc:Fallback>
          <p:sp>
            <p:nvSpPr>
              <p:cNvPr id="10" name="TextBox 9">
                <a:extLst>
                  <a:ext uri="{FF2B5EF4-FFF2-40B4-BE49-F238E27FC236}">
                    <a16:creationId xmlns:a16="http://schemas.microsoft.com/office/drawing/2014/main" id="{389D6905-7955-D950-9DDA-61C9EC2BE7EA}"/>
                  </a:ext>
                </a:extLst>
              </p:cNvPr>
              <p:cNvSpPr txBox="1">
                <a:spLocks noRot="1" noChangeAspect="1" noMove="1" noResize="1" noEditPoints="1" noAdjustHandles="1" noChangeArrowheads="1" noChangeShapeType="1" noTextEdit="1"/>
              </p:cNvSpPr>
              <p:nvPr/>
            </p:nvSpPr>
            <p:spPr>
              <a:xfrm>
                <a:off x="10575001" y="3844793"/>
                <a:ext cx="854914" cy="298928"/>
              </a:xfrm>
              <a:prstGeom prst="rect">
                <a:avLst/>
              </a:prstGeom>
              <a:blipFill>
                <a:blip r:embed="rId5"/>
                <a:stretch>
                  <a:fillRect l="-2857" b="-20408"/>
                </a:stretch>
              </a:blipFill>
            </p:spPr>
            <p:txBody>
              <a:bodyPr/>
              <a:lstStyle/>
              <a:p>
                <a:r>
                  <a:rPr lang="de-CH">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20FF2AA-A576-23B6-1300-818158F7344F}"/>
                  </a:ext>
                </a:extLst>
              </p:cNvPr>
              <p:cNvSpPr txBox="1"/>
              <p:nvPr/>
            </p:nvSpPr>
            <p:spPr>
              <a:xfrm>
                <a:off x="10569462" y="4248129"/>
                <a:ext cx="10529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𝜎</m:t>
                          </m:r>
                        </m:e>
                        <m:sub>
                          <m:r>
                            <a:rPr lang="en-US" i="1">
                              <a:solidFill>
                                <a:srgbClr val="0070C0"/>
                              </a:solidFill>
                              <a:latin typeface="Cambria Math" panose="02040503050406030204" pitchFamily="18" charset="0"/>
                            </a:rPr>
                            <m:t>𝑢𝑙𝑡</m:t>
                          </m:r>
                        </m:sub>
                      </m:sSub>
                      <m:r>
                        <a:rPr lang="en-US" i="1">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𝑅</m:t>
                          </m:r>
                        </m:e>
                        <m:sub>
                          <m:r>
                            <a:rPr lang="en-US" i="1">
                              <a:solidFill>
                                <a:srgbClr val="0070C0"/>
                              </a:solidFill>
                              <a:latin typeface="Cambria Math" panose="02040503050406030204" pitchFamily="18" charset="0"/>
                            </a:rPr>
                            <m:t>𝑚</m:t>
                          </m:r>
                        </m:sub>
                      </m:sSub>
                    </m:oMath>
                  </m:oMathPara>
                </a14:m>
                <a:endParaRPr lang="en-CH">
                  <a:solidFill>
                    <a:srgbClr val="0070C0"/>
                  </a:solidFill>
                </a:endParaRPr>
              </a:p>
            </p:txBody>
          </p:sp>
        </mc:Choice>
        <mc:Fallback>
          <p:sp>
            <p:nvSpPr>
              <p:cNvPr id="12" name="TextBox 11">
                <a:extLst>
                  <a:ext uri="{FF2B5EF4-FFF2-40B4-BE49-F238E27FC236}">
                    <a16:creationId xmlns:a16="http://schemas.microsoft.com/office/drawing/2014/main" id="{D20FF2AA-A576-23B6-1300-818158F7344F}"/>
                  </a:ext>
                </a:extLst>
              </p:cNvPr>
              <p:cNvSpPr txBox="1">
                <a:spLocks noRot="1" noChangeAspect="1" noMove="1" noResize="1" noEditPoints="1" noAdjustHandles="1" noChangeArrowheads="1" noChangeShapeType="1" noTextEdit="1"/>
              </p:cNvSpPr>
              <p:nvPr/>
            </p:nvSpPr>
            <p:spPr>
              <a:xfrm>
                <a:off x="10569462" y="4248129"/>
                <a:ext cx="1052981" cy="276999"/>
              </a:xfrm>
              <a:prstGeom prst="rect">
                <a:avLst/>
              </a:prstGeom>
              <a:blipFill>
                <a:blip r:embed="rId6"/>
                <a:stretch>
                  <a:fillRect l="-2312" b="-17778"/>
                </a:stretch>
              </a:blipFill>
            </p:spPr>
            <p:txBody>
              <a:bodyPr/>
              <a:lstStyle/>
              <a:p>
                <a:r>
                  <a:rPr lang="de-CH">
                    <a:noFill/>
                  </a:rPr>
                  <a:t> </a:t>
                </a:r>
              </a:p>
            </p:txBody>
          </p:sp>
        </mc:Fallback>
      </mc:AlternateContent>
      <p:pic>
        <p:nvPicPr>
          <p:cNvPr id="7" name="Picture 6">
            <a:extLst>
              <a:ext uri="{FF2B5EF4-FFF2-40B4-BE49-F238E27FC236}">
                <a16:creationId xmlns:a16="http://schemas.microsoft.com/office/drawing/2014/main" id="{DD2D32DB-E332-1DC5-02B4-6EFA0122EF93}"/>
              </a:ext>
            </a:extLst>
          </p:cNvPr>
          <p:cNvPicPr>
            <a:picLocks noChangeAspect="1"/>
          </p:cNvPicPr>
          <p:nvPr/>
        </p:nvPicPr>
        <p:blipFill>
          <a:blip r:embed="rId7"/>
          <a:stretch>
            <a:fillRect/>
          </a:stretch>
        </p:blipFill>
        <p:spPr>
          <a:xfrm>
            <a:off x="-3881966" y="2323287"/>
            <a:ext cx="3335053" cy="2353159"/>
          </a:xfrm>
          <a:prstGeom prst="rect">
            <a:avLst/>
          </a:prstGeom>
        </p:spPr>
      </p:pic>
      <p:pic>
        <p:nvPicPr>
          <p:cNvPr id="15" name="Picture 14">
            <a:extLst>
              <a:ext uri="{FF2B5EF4-FFF2-40B4-BE49-F238E27FC236}">
                <a16:creationId xmlns:a16="http://schemas.microsoft.com/office/drawing/2014/main" id="{44E92829-97A9-0419-E9FC-AA422F0ED482}"/>
              </a:ext>
            </a:extLst>
          </p:cNvPr>
          <p:cNvPicPr>
            <a:picLocks noChangeAspect="1"/>
          </p:cNvPicPr>
          <p:nvPr/>
        </p:nvPicPr>
        <p:blipFill>
          <a:blip r:embed="rId8"/>
          <a:stretch>
            <a:fillRect/>
          </a:stretch>
        </p:blipFill>
        <p:spPr>
          <a:xfrm>
            <a:off x="-3940433" y="4864888"/>
            <a:ext cx="3393520" cy="2171398"/>
          </a:xfrm>
          <a:prstGeom prst="rect">
            <a:avLst/>
          </a:prstGeom>
        </p:spPr>
      </p:pic>
      <p:sp>
        <p:nvSpPr>
          <p:cNvPr id="4" name="Rectangle 3">
            <a:extLst>
              <a:ext uri="{FF2B5EF4-FFF2-40B4-BE49-F238E27FC236}">
                <a16:creationId xmlns:a16="http://schemas.microsoft.com/office/drawing/2014/main" id="{94E1C8E8-F1BA-3F96-BCEB-16AC0BB16CCF}"/>
              </a:ext>
            </a:extLst>
          </p:cNvPr>
          <p:cNvSpPr/>
          <p:nvPr/>
        </p:nvSpPr>
        <p:spPr>
          <a:xfrm>
            <a:off x="5056982" y="4143721"/>
            <a:ext cx="663753" cy="40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BFE0F6B-CC14-2555-D7BB-1AA1076423E2}"/>
                  </a:ext>
                </a:extLst>
              </p:cNvPr>
              <p:cNvSpPr txBox="1"/>
              <p:nvPr/>
            </p:nvSpPr>
            <p:spPr>
              <a:xfrm>
                <a:off x="5357410" y="4201961"/>
                <a:ext cx="4270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𝜎</m:t>
                          </m:r>
                        </m:e>
                        <m:sub>
                          <m:r>
                            <a:rPr lang="en-US" i="1">
                              <a:solidFill>
                                <a:srgbClr val="FFC000"/>
                              </a:solidFill>
                              <a:latin typeface="Cambria Math" panose="02040503050406030204" pitchFamily="18" charset="0"/>
                            </a:rPr>
                            <m:t>𝑊</m:t>
                          </m:r>
                        </m:sub>
                      </m:sSub>
                    </m:oMath>
                  </m:oMathPara>
                </a14:m>
                <a:endParaRPr lang="en-CH">
                  <a:solidFill>
                    <a:srgbClr val="FFC000"/>
                  </a:solidFill>
                </a:endParaRPr>
              </a:p>
            </p:txBody>
          </p:sp>
        </mc:Choice>
        <mc:Fallback>
          <p:sp>
            <p:nvSpPr>
              <p:cNvPr id="13" name="TextBox 12">
                <a:extLst>
                  <a:ext uri="{FF2B5EF4-FFF2-40B4-BE49-F238E27FC236}">
                    <a16:creationId xmlns:a16="http://schemas.microsoft.com/office/drawing/2014/main" id="{DBFE0F6B-CC14-2555-D7BB-1AA1076423E2}"/>
                  </a:ext>
                </a:extLst>
              </p:cNvPr>
              <p:cNvSpPr txBox="1">
                <a:spLocks noRot="1" noChangeAspect="1" noMove="1" noResize="1" noEditPoints="1" noAdjustHandles="1" noChangeArrowheads="1" noChangeShapeType="1" noTextEdit="1"/>
              </p:cNvSpPr>
              <p:nvPr/>
            </p:nvSpPr>
            <p:spPr>
              <a:xfrm>
                <a:off x="5357410" y="4201961"/>
                <a:ext cx="427092" cy="369332"/>
              </a:xfrm>
              <a:prstGeom prst="rect">
                <a:avLst/>
              </a:prstGeom>
              <a:blipFill>
                <a:blip r:embed="rId9"/>
                <a:stretch>
                  <a:fillRect/>
                </a:stretch>
              </a:blipFill>
            </p:spPr>
            <p:txBody>
              <a:bodyPr/>
              <a:lstStyle/>
              <a:p>
                <a:r>
                  <a:rPr lang="de-CH">
                    <a:noFill/>
                  </a:rPr>
                  <a:t> </a:t>
                </a:r>
              </a:p>
            </p:txBody>
          </p:sp>
        </mc:Fallback>
      </mc:AlternateContent>
      <p:cxnSp>
        <p:nvCxnSpPr>
          <p:cNvPr id="19" name="Straight Connector 18">
            <a:extLst>
              <a:ext uri="{FF2B5EF4-FFF2-40B4-BE49-F238E27FC236}">
                <a16:creationId xmlns:a16="http://schemas.microsoft.com/office/drawing/2014/main" id="{59414B90-616C-CE9F-71E2-B8D0536C6351}"/>
              </a:ext>
            </a:extLst>
          </p:cNvPr>
          <p:cNvCxnSpPr>
            <a:cxnSpLocks/>
          </p:cNvCxnSpPr>
          <p:nvPr/>
        </p:nvCxnSpPr>
        <p:spPr>
          <a:xfrm flipV="1">
            <a:off x="5149761" y="4086226"/>
            <a:ext cx="554812" cy="49627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5ACED48-8990-FE7E-6449-02A08E8C482F}"/>
              </a:ext>
            </a:extLst>
          </p:cNvPr>
          <p:cNvSpPr txBox="1"/>
          <p:nvPr/>
        </p:nvSpPr>
        <p:spPr>
          <a:xfrm>
            <a:off x="5040323" y="6044665"/>
            <a:ext cx="2574197" cy="369332"/>
          </a:xfrm>
          <a:prstGeom prst="rect">
            <a:avLst/>
          </a:prstGeom>
          <a:solidFill>
            <a:schemeClr val="bg1"/>
          </a:solidFill>
        </p:spPr>
        <p:txBody>
          <a:bodyPr wrap="square">
            <a:spAutoFit/>
          </a:bodyPr>
          <a:lstStyle/>
          <a:p>
            <a:r>
              <a:rPr lang="en-US" err="1"/>
              <a:t>Langzeitfestigkeit</a:t>
            </a:r>
            <a:endParaRPr lang="en-CH"/>
          </a:p>
        </p:txBody>
      </p:sp>
    </p:spTree>
    <p:extLst>
      <p:ext uri="{BB962C8B-B14F-4D97-AF65-F5344CB8AC3E}">
        <p14:creationId xmlns:p14="http://schemas.microsoft.com/office/powerpoint/2010/main" val="882377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58069-02AA-293A-C7E6-59E16A4C789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6F5FFB7-84BE-066A-BEEA-3DB9C1F33624}"/>
              </a:ext>
            </a:extLst>
          </p:cNvPr>
          <p:cNvPicPr>
            <a:picLocks noChangeAspect="1"/>
          </p:cNvPicPr>
          <p:nvPr/>
        </p:nvPicPr>
        <p:blipFill>
          <a:blip r:embed="rId2"/>
          <a:stretch>
            <a:fillRect/>
          </a:stretch>
        </p:blipFill>
        <p:spPr>
          <a:xfrm>
            <a:off x="6944139" y="2085037"/>
            <a:ext cx="4942386" cy="2061356"/>
          </a:xfrm>
          <a:prstGeom prst="rect">
            <a:avLst/>
          </a:prstGeom>
        </p:spPr>
      </p:pic>
      <p:sp>
        <p:nvSpPr>
          <p:cNvPr id="2" name="Title 1">
            <a:extLst>
              <a:ext uri="{FF2B5EF4-FFF2-40B4-BE49-F238E27FC236}">
                <a16:creationId xmlns:a16="http://schemas.microsoft.com/office/drawing/2014/main" id="{F50E5C86-CC10-2725-CAD9-101955864755}"/>
              </a:ext>
            </a:extLst>
          </p:cNvPr>
          <p:cNvSpPr>
            <a:spLocks noGrp="1"/>
          </p:cNvSpPr>
          <p:nvPr>
            <p:ph type="title"/>
          </p:nvPr>
        </p:nvSpPr>
        <p:spPr/>
        <p:txBody>
          <a:bodyPr/>
          <a:lstStyle/>
          <a:p>
            <a:r>
              <a:rPr lang="de-CH"/>
              <a:t>Miner Regel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02D0D26-95F6-4F8D-5FBF-22E283AF4CE7}"/>
                  </a:ext>
                </a:extLst>
              </p:cNvPr>
              <p:cNvSpPr>
                <a:spLocks noGrp="1"/>
              </p:cNvSpPr>
              <p:nvPr>
                <p:ph idx="1"/>
              </p:nvPr>
            </p:nvSpPr>
            <p:spPr>
              <a:xfrm>
                <a:off x="338931" y="1088117"/>
                <a:ext cx="6573834" cy="5045983"/>
              </a:xfrm>
            </p:spPr>
            <p:txBody>
              <a:bodyPr>
                <a:normAutofit fontScale="92500"/>
              </a:bodyPr>
              <a:lstStyle/>
              <a:p>
                <a:r>
                  <a:rPr lang="de-CH" b="1"/>
                  <a:t>Zweck:</a:t>
                </a:r>
                <a:r>
                  <a:rPr lang="de-CH"/>
                  <a:t> Schätzung des kumulativen Schadens, der durch mehrere Belastungszyklen unterschiedlicher Größenordnungen verursacht wird.</a:t>
                </a:r>
              </a:p>
              <a:p>
                <a:r>
                  <a:rPr lang="de-CH" b="1"/>
                  <a:t>Anwendung:</a:t>
                </a:r>
                <a:r>
                  <a:rPr lang="de-CH"/>
                  <a:t> Zur Bewertung der Lebensdauer von Bauteilen, die komplexen Belastungsverläufen ausgesetzt sind.</a:t>
                </a:r>
              </a:p>
              <a:p>
                <a:r>
                  <a:rPr lang="en-US" b="1"/>
                  <a:t>Wie:</a:t>
                </a:r>
                <a:r>
                  <a:rPr lang="en-US"/>
                  <a:t> </a:t>
                </a:r>
                <a14:m>
                  <m:oMath xmlns:m="http://schemas.openxmlformats.org/officeDocument/2006/math">
                    <m:nary>
                      <m:naryPr>
                        <m:chr m:val="∑"/>
                        <m:subHide m:val="on"/>
                        <m:supHide m:val="on"/>
                        <m:ctrlPr>
                          <a:rPr lang="en-GB" b="0" i="1" smtClean="0">
                            <a:latin typeface="Cambria Math" panose="02040503050406030204" pitchFamily="18" charset="0"/>
                          </a:rPr>
                        </m:ctrlPr>
                      </m:naryPr>
                      <m:sub/>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US" b="0" i="1" smtClean="0">
                                    <a:latin typeface="Cambria Math" panose="02040503050406030204" pitchFamily="18" charset="0"/>
                                  </a:rPr>
                                  <m:t>𝑛</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𝑖</m:t>
                                </m:r>
                              </m:sub>
                            </m:sSub>
                          </m:den>
                        </m:f>
                      </m:e>
                    </m:nary>
                    <m:r>
                      <a:rPr lang="en-GB"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(=1</m:t>
                    </m:r>
                  </m:oMath>
                </a14:m>
                <a:r>
                  <a:rPr lang="en-US"/>
                  <a:t> </a:t>
                </a:r>
                <a:r>
                  <a:rPr lang="en-US" err="1"/>
                  <a:t>bei</a:t>
                </a:r>
                <a:r>
                  <a:rPr lang="en-US"/>
                  <a:t> </a:t>
                </a:r>
                <a:r>
                  <a:rPr lang="en-US" err="1"/>
                  <a:t>Versagen</a:t>
                </a:r>
                <a:r>
                  <a:rPr lang="en-US"/>
                  <a:t>), </a:t>
                </a:r>
              </a:p>
              <a:p>
                <a:pPr lvl="1">
                  <a:buFont typeface="Arial" panose="020B0604020202020204" pitchFamily="34" charset="0"/>
                  <a:buChar char="•"/>
                </a:pPr>
                <a14:m>
                  <m:oMath xmlns:m="http://schemas.openxmlformats.org/officeDocument/2006/math">
                    <m:sSub>
                      <m:sSubPr>
                        <m:ctrlPr>
                          <a:rPr lang="en-GB" i="1">
                            <a:latin typeface="Cambria Math" panose="02040503050406030204" pitchFamily="18" charset="0"/>
                          </a:rPr>
                        </m:ctrlPr>
                      </m:sSubPr>
                      <m:e>
                        <m:r>
                          <a:rPr lang="en-US" b="0" i="1" smtClean="0">
                            <a:latin typeface="Cambria Math" panose="02040503050406030204" pitchFamily="18" charset="0"/>
                          </a:rPr>
                          <m:t>𝑛</m:t>
                        </m:r>
                      </m:e>
                      <m:sub>
                        <m:r>
                          <a:rPr lang="en-GB" i="1">
                            <a:latin typeface="Cambria Math" panose="02040503050406030204" pitchFamily="18" charset="0"/>
                          </a:rPr>
                          <m:t>𝑖</m:t>
                        </m:r>
                      </m:sub>
                    </m:sSub>
                    <m:r>
                      <a:rPr lang="en-GB" i="1">
                        <a:latin typeface="Cambria Math" panose="02040503050406030204" pitchFamily="18" charset="0"/>
                      </a:rPr>
                      <m:t> </m:t>
                    </m:r>
                  </m:oMath>
                </a14:m>
                <a:r>
                  <a:rPr lang="en-US"/>
                  <a:t>​ </a:t>
                </a:r>
                <a:r>
                  <a:rPr lang="en-US" err="1"/>
                  <a:t>ist</a:t>
                </a:r>
                <a:r>
                  <a:rPr lang="en-US"/>
                  <a:t> die </a:t>
                </a:r>
                <a:r>
                  <a:rPr lang="en-US" err="1"/>
                  <a:t>Anzahl</a:t>
                </a:r>
                <a:r>
                  <a:rPr lang="en-US"/>
                  <a:t> der </a:t>
                </a:r>
                <a:r>
                  <a:rPr lang="en-US" err="1"/>
                  <a:t>Zyklen</a:t>
                </a:r>
                <a:r>
                  <a:rPr lang="en-US"/>
                  <a:t>, die auf dem Spannungsniveau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𝑖</m:t>
                        </m:r>
                      </m:sub>
                    </m:sSub>
                  </m:oMath>
                </a14:m>
                <a:r>
                  <a:rPr lang="en-US"/>
                  <a:t> </a:t>
                </a:r>
                <a:r>
                  <a:rPr lang="en-US" err="1"/>
                  <a:t>verbracht</a:t>
                </a:r>
                <a:r>
                  <a:rPr lang="en-US"/>
                  <a:t> </a:t>
                </a:r>
                <a:r>
                  <a:rPr lang="en-US" err="1"/>
                  <a:t>werden</a:t>
                </a:r>
                <a:r>
                  <a:rPr lang="en-US"/>
                  <a:t>  </a:t>
                </a:r>
              </a:p>
              <a:p>
                <a:pPr lvl="1">
                  <a:buFont typeface="Arial" panose="020B0604020202020204" pitchFamily="34" charset="0"/>
                  <a:buChar char="•"/>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de-CH" b="0" i="1" smtClean="0">
                        <a:latin typeface="Cambria Math" panose="02040503050406030204" pitchFamily="18" charset="0"/>
                      </a:rPr>
                      <m:t> </m:t>
                    </m:r>
                  </m:oMath>
                </a14:m>
                <a:r>
                  <a:rPr lang="en-US" err="1"/>
                  <a:t>ist</a:t>
                </a:r>
                <a:r>
                  <a:rPr lang="en-US"/>
                  <a:t> die </a:t>
                </a:r>
                <a:r>
                  <a:rPr lang="en-US" err="1"/>
                  <a:t>Bruchlastspielzahl</a:t>
                </a:r>
                <a:r>
                  <a:rPr lang="en-US"/>
                  <a:t> (</a:t>
                </a:r>
                <a:r>
                  <a:rPr lang="de-CH"/>
                  <a:t>Anzahl der Zyklen bis zum Bruch bei diesem Spannungsniveau</a:t>
                </a:r>
                <a:r>
                  <a:rPr lang="en-US"/>
                  <a:t>)</a:t>
                </a:r>
              </a:p>
              <a:p>
                <a:endParaRPr lang="de-CH"/>
              </a:p>
            </p:txBody>
          </p:sp>
        </mc:Choice>
        <mc:Fallback>
          <p:sp>
            <p:nvSpPr>
              <p:cNvPr id="3" name="Content Placeholder 2">
                <a:extLst>
                  <a:ext uri="{FF2B5EF4-FFF2-40B4-BE49-F238E27FC236}">
                    <a16:creationId xmlns:a16="http://schemas.microsoft.com/office/drawing/2014/main" id="{B02D0D26-95F6-4F8D-5FBF-22E283AF4CE7}"/>
                  </a:ext>
                </a:extLst>
              </p:cNvPr>
              <p:cNvSpPr>
                <a:spLocks noGrp="1" noRot="1" noChangeAspect="1" noMove="1" noResize="1" noEditPoints="1" noAdjustHandles="1" noChangeArrowheads="1" noChangeShapeType="1" noTextEdit="1"/>
              </p:cNvSpPr>
              <p:nvPr>
                <p:ph idx="1"/>
              </p:nvPr>
            </p:nvSpPr>
            <p:spPr>
              <a:xfrm>
                <a:off x="338931" y="1088117"/>
                <a:ext cx="6573834" cy="5045983"/>
              </a:xfrm>
              <a:blipFill>
                <a:blip r:embed="rId3"/>
                <a:stretch>
                  <a:fillRect l="-1484" t="-1812" r="-2412"/>
                </a:stretch>
              </a:blipFill>
            </p:spPr>
            <p:txBody>
              <a:bodyPr/>
              <a:lstStyle/>
              <a:p>
                <a:r>
                  <a:rPr lang="de-CH">
                    <a:noFill/>
                  </a:rPr>
                  <a:t> </a:t>
                </a:r>
              </a:p>
            </p:txBody>
          </p:sp>
        </mc:Fallback>
      </mc:AlternateContent>
      <p:sp>
        <p:nvSpPr>
          <p:cNvPr id="9" name="TextBox 8">
            <a:extLst>
              <a:ext uri="{FF2B5EF4-FFF2-40B4-BE49-F238E27FC236}">
                <a16:creationId xmlns:a16="http://schemas.microsoft.com/office/drawing/2014/main" id="{509E18C3-1C61-FC15-6AD6-4D76A7DC9E20}"/>
              </a:ext>
            </a:extLst>
          </p:cNvPr>
          <p:cNvSpPr txBox="1"/>
          <p:nvPr/>
        </p:nvSpPr>
        <p:spPr>
          <a:xfrm>
            <a:off x="7411524" y="4233672"/>
            <a:ext cx="4046544" cy="215360"/>
          </a:xfrm>
          <a:prstGeom prst="rect">
            <a:avLst/>
          </a:prstGeom>
          <a:noFill/>
        </p:spPr>
        <p:txBody>
          <a:bodyPr wrap="square">
            <a:spAutoFit/>
          </a:bodyPr>
          <a:lstStyle/>
          <a:p>
            <a:r>
              <a:rPr lang="de-CH" sz="800"/>
              <a:t>https://community.sw.siemens.com/s/article/calculating-damage-with-miner-s-rule</a:t>
            </a:r>
          </a:p>
        </p:txBody>
      </p:sp>
      <p:cxnSp>
        <p:nvCxnSpPr>
          <p:cNvPr id="11" name="Straight Arrow Connector 10">
            <a:extLst>
              <a:ext uri="{FF2B5EF4-FFF2-40B4-BE49-F238E27FC236}">
                <a16:creationId xmlns:a16="http://schemas.microsoft.com/office/drawing/2014/main" id="{B204A8F2-3640-9BCE-BFA0-5CD5A58F581C}"/>
              </a:ext>
            </a:extLst>
          </p:cNvPr>
          <p:cNvCxnSpPr>
            <a:cxnSpLocks/>
          </p:cNvCxnSpPr>
          <p:nvPr/>
        </p:nvCxnSpPr>
        <p:spPr>
          <a:xfrm>
            <a:off x="9221307" y="2041399"/>
            <a:ext cx="136330" cy="639699"/>
          </a:xfrm>
          <a:prstGeom prst="straightConnector1">
            <a:avLst/>
          </a:prstGeom>
          <a:ln w="28575">
            <a:solidFill>
              <a:srgbClr val="00AF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FF810C1-49F8-9DB7-E4A5-CC7EC5A77BAD}"/>
                  </a:ext>
                </a:extLst>
              </p:cNvPr>
              <p:cNvSpPr txBox="1"/>
              <p:nvPr/>
            </p:nvSpPr>
            <p:spPr>
              <a:xfrm>
                <a:off x="8276549" y="1672067"/>
                <a:ext cx="1724026"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𝑖</m:t>
                          </m:r>
                        </m:sub>
                      </m:sSub>
                      <m:r>
                        <a:rPr lang="en-US" i="1">
                          <a:latin typeface="Cambria Math" panose="02040503050406030204" pitchFamily="18" charset="0"/>
                        </a:rPr>
                        <m:t> </m:t>
                      </m:r>
                      <m:r>
                        <m:rPr>
                          <m:sty m:val="p"/>
                        </m:rPr>
                        <a:rPr lang="en-US">
                          <a:latin typeface="Cambria Math" panose="02040503050406030204" pitchFamily="18" charset="0"/>
                        </a:rPr>
                        <m:t>mit</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m:t>
                          </m:r>
                        </m:sub>
                      </m:sSub>
                      <m:r>
                        <a:rPr lang="en-US" i="1">
                          <a:latin typeface="Cambria Math" panose="02040503050406030204" pitchFamily="18" charset="0"/>
                        </a:rPr>
                        <m:t>=0</m:t>
                      </m:r>
                    </m:oMath>
                  </m:oMathPara>
                </a14:m>
                <a:endParaRPr lang="en-CH"/>
              </a:p>
            </p:txBody>
          </p:sp>
        </mc:Choice>
        <mc:Fallback>
          <p:sp>
            <p:nvSpPr>
              <p:cNvPr id="14" name="TextBox 13">
                <a:extLst>
                  <a:ext uri="{FF2B5EF4-FFF2-40B4-BE49-F238E27FC236}">
                    <a16:creationId xmlns:a16="http://schemas.microsoft.com/office/drawing/2014/main" id="{CFF810C1-49F8-9DB7-E4A5-CC7EC5A77BAD}"/>
                  </a:ext>
                </a:extLst>
              </p:cNvPr>
              <p:cNvSpPr txBox="1">
                <a:spLocks noRot="1" noChangeAspect="1" noMove="1" noResize="1" noEditPoints="1" noAdjustHandles="1" noChangeArrowheads="1" noChangeShapeType="1" noTextEdit="1"/>
              </p:cNvSpPr>
              <p:nvPr/>
            </p:nvSpPr>
            <p:spPr>
              <a:xfrm>
                <a:off x="8276549" y="1672067"/>
                <a:ext cx="1724026" cy="381515"/>
              </a:xfrm>
              <a:prstGeom prst="rect">
                <a:avLst/>
              </a:prstGeom>
              <a:blipFill>
                <a:blip r:embed="rId4"/>
                <a:stretch>
                  <a:fillRect/>
                </a:stretch>
              </a:blipFill>
            </p:spPr>
            <p:txBody>
              <a:bodyPr/>
              <a:lstStyle/>
              <a:p>
                <a:r>
                  <a:rPr lang="de-CH">
                    <a:noFill/>
                  </a:rPr>
                  <a:t> </a:t>
                </a:r>
              </a:p>
            </p:txBody>
          </p:sp>
        </mc:Fallback>
      </mc:AlternateContent>
      <p:cxnSp>
        <p:nvCxnSpPr>
          <p:cNvPr id="15" name="Straight Arrow Connector 14">
            <a:extLst>
              <a:ext uri="{FF2B5EF4-FFF2-40B4-BE49-F238E27FC236}">
                <a16:creationId xmlns:a16="http://schemas.microsoft.com/office/drawing/2014/main" id="{CAA51B08-FECF-A58C-A606-C14DAD64E217}"/>
              </a:ext>
            </a:extLst>
          </p:cNvPr>
          <p:cNvCxnSpPr>
            <a:cxnSpLocks/>
            <a:stCxn id="14" idx="2"/>
          </p:cNvCxnSpPr>
          <p:nvPr/>
        </p:nvCxnSpPr>
        <p:spPr>
          <a:xfrm>
            <a:off x="9138562" y="2053581"/>
            <a:ext cx="0" cy="794204"/>
          </a:xfrm>
          <a:prstGeom prst="straightConnector1">
            <a:avLst/>
          </a:prstGeom>
          <a:ln w="28575">
            <a:solidFill>
              <a:srgbClr val="869AA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C7718130-3C80-CF08-489D-808992DE8345}"/>
                  </a:ext>
                </a:extLst>
              </p:cNvPr>
              <p:cNvSpPr/>
              <p:nvPr/>
            </p:nvSpPr>
            <p:spPr>
              <a:xfrm>
                <a:off x="7137516" y="3780458"/>
                <a:ext cx="736600" cy="2730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i="1">
                              <a:solidFill>
                                <a:srgbClr val="879BAA"/>
                              </a:solidFill>
                              <a:latin typeface="Cambria Math" panose="02040503050406030204" pitchFamily="18" charset="0"/>
                            </a:rPr>
                          </m:ctrlPr>
                        </m:sSubPr>
                        <m:e>
                          <m:r>
                            <a:rPr lang="en-US" sz="1400" i="1">
                              <a:solidFill>
                                <a:srgbClr val="879BAA"/>
                              </a:solidFill>
                              <a:latin typeface="Cambria Math" panose="02040503050406030204" pitchFamily="18" charset="0"/>
                            </a:rPr>
                            <m:t>𝑛</m:t>
                          </m:r>
                        </m:e>
                        <m:sub>
                          <m:r>
                            <a:rPr lang="en-US" sz="1400" i="1">
                              <a:solidFill>
                                <a:srgbClr val="879BAA"/>
                              </a:solidFill>
                              <a:latin typeface="Cambria Math" panose="02040503050406030204" pitchFamily="18" charset="0"/>
                            </a:rPr>
                            <m:t>1</m:t>
                          </m:r>
                        </m:sub>
                      </m:sSub>
                      <m:r>
                        <a:rPr lang="en-US" sz="1400" i="1">
                          <a:solidFill>
                            <a:srgbClr val="879BAA"/>
                          </a:solidFill>
                          <a:latin typeface="Cambria Math" panose="02040503050406030204" pitchFamily="18" charset="0"/>
                        </a:rPr>
                        <m:t>=2</m:t>
                      </m:r>
                    </m:oMath>
                  </m:oMathPara>
                </a14:m>
                <a:endParaRPr lang="en-CH" sz="1400">
                  <a:solidFill>
                    <a:srgbClr val="879BAA"/>
                  </a:solidFill>
                </a:endParaRPr>
              </a:p>
            </p:txBody>
          </p:sp>
        </mc:Choice>
        <mc:Fallback>
          <p:sp>
            <p:nvSpPr>
              <p:cNvPr id="5" name="Rectangle 4">
                <a:extLst>
                  <a:ext uri="{FF2B5EF4-FFF2-40B4-BE49-F238E27FC236}">
                    <a16:creationId xmlns:a16="http://schemas.microsoft.com/office/drawing/2014/main" id="{C7718130-3C80-CF08-489D-808992DE8345}"/>
                  </a:ext>
                </a:extLst>
              </p:cNvPr>
              <p:cNvSpPr>
                <a:spLocks noRot="1" noChangeAspect="1" noMove="1" noResize="1" noEditPoints="1" noAdjustHandles="1" noChangeArrowheads="1" noChangeShapeType="1" noTextEdit="1"/>
              </p:cNvSpPr>
              <p:nvPr/>
            </p:nvSpPr>
            <p:spPr>
              <a:xfrm>
                <a:off x="7137516" y="3780458"/>
                <a:ext cx="736600" cy="273050"/>
              </a:xfrm>
              <a:prstGeom prst="rect">
                <a:avLst/>
              </a:prstGeom>
              <a:blipFill>
                <a:blip r:embed="rId5"/>
                <a:stretch>
                  <a:fillRect/>
                </a:stretch>
              </a:blipFill>
              <a:ln>
                <a:noFill/>
              </a:ln>
            </p:spPr>
            <p:txBody>
              <a:bodyPr/>
              <a:lstStyle/>
              <a:p>
                <a:r>
                  <a:rPr lang="de-CH">
                    <a:noFill/>
                  </a:rPr>
                  <a:t> </a:t>
                </a:r>
              </a:p>
            </p:txBody>
          </p:sp>
        </mc:Fallback>
      </mc:AlternateContent>
      <p:sp>
        <p:nvSpPr>
          <p:cNvPr id="8" name="Rectangle 7">
            <a:extLst>
              <a:ext uri="{FF2B5EF4-FFF2-40B4-BE49-F238E27FC236}">
                <a16:creationId xmlns:a16="http://schemas.microsoft.com/office/drawing/2014/main" id="{54478C34-CBD1-E5F1-6A3F-71A56C8342A1}"/>
              </a:ext>
            </a:extLst>
          </p:cNvPr>
          <p:cNvSpPr/>
          <p:nvPr/>
        </p:nvSpPr>
        <p:spPr>
          <a:xfrm>
            <a:off x="10042018" y="3395472"/>
            <a:ext cx="141605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F6AC89D0-D5CF-E235-FBC8-BBE29F048285}"/>
                  </a:ext>
                </a:extLst>
              </p:cNvPr>
              <p:cNvSpPr/>
              <p:nvPr/>
            </p:nvSpPr>
            <p:spPr>
              <a:xfrm>
                <a:off x="7908249" y="3780458"/>
                <a:ext cx="736600" cy="2730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i="1">
                              <a:solidFill>
                                <a:srgbClr val="00B1F1"/>
                              </a:solidFill>
                              <a:latin typeface="Cambria Math" panose="02040503050406030204" pitchFamily="18" charset="0"/>
                            </a:rPr>
                          </m:ctrlPr>
                        </m:sSubPr>
                        <m:e>
                          <m:r>
                            <a:rPr lang="en-US" sz="1400" i="1">
                              <a:solidFill>
                                <a:srgbClr val="00B1F1"/>
                              </a:solidFill>
                              <a:latin typeface="Cambria Math" panose="02040503050406030204" pitchFamily="18" charset="0"/>
                            </a:rPr>
                            <m:t>𝑛</m:t>
                          </m:r>
                        </m:e>
                        <m:sub>
                          <m:r>
                            <a:rPr lang="en-US" sz="1400" i="1">
                              <a:solidFill>
                                <a:srgbClr val="00B1F1"/>
                              </a:solidFill>
                              <a:latin typeface="Cambria Math" panose="02040503050406030204" pitchFamily="18" charset="0"/>
                            </a:rPr>
                            <m:t>2</m:t>
                          </m:r>
                        </m:sub>
                      </m:sSub>
                      <m:r>
                        <a:rPr lang="en-US" sz="1400" i="1">
                          <a:solidFill>
                            <a:srgbClr val="00B1F1"/>
                          </a:solidFill>
                          <a:latin typeface="Cambria Math" panose="02040503050406030204" pitchFamily="18" charset="0"/>
                        </a:rPr>
                        <m:t>=2</m:t>
                      </m:r>
                    </m:oMath>
                  </m:oMathPara>
                </a14:m>
                <a:endParaRPr lang="en-CH" sz="1400">
                  <a:solidFill>
                    <a:srgbClr val="00B1F1"/>
                  </a:solidFill>
                </a:endParaRPr>
              </a:p>
            </p:txBody>
          </p:sp>
        </mc:Choice>
        <mc:Fallback>
          <p:sp>
            <p:nvSpPr>
              <p:cNvPr id="10" name="Rectangle 9">
                <a:extLst>
                  <a:ext uri="{FF2B5EF4-FFF2-40B4-BE49-F238E27FC236}">
                    <a16:creationId xmlns:a16="http://schemas.microsoft.com/office/drawing/2014/main" id="{F6AC89D0-D5CF-E235-FBC8-BBE29F048285}"/>
                  </a:ext>
                </a:extLst>
              </p:cNvPr>
              <p:cNvSpPr>
                <a:spLocks noRot="1" noChangeAspect="1" noMove="1" noResize="1" noEditPoints="1" noAdjustHandles="1" noChangeArrowheads="1" noChangeShapeType="1" noTextEdit="1"/>
              </p:cNvSpPr>
              <p:nvPr/>
            </p:nvSpPr>
            <p:spPr>
              <a:xfrm>
                <a:off x="7908249" y="3780458"/>
                <a:ext cx="736600" cy="273050"/>
              </a:xfrm>
              <a:prstGeom prst="rect">
                <a:avLst/>
              </a:prstGeom>
              <a:blipFill>
                <a:blip r:embed="rId6"/>
                <a:stretch>
                  <a:fillRect/>
                </a:stretch>
              </a:blipFill>
              <a:ln>
                <a:noFill/>
              </a:ln>
            </p:spPr>
            <p:txBody>
              <a:bodyPr/>
              <a:lstStyle/>
              <a:p>
                <a:r>
                  <a:rPr lang="de-CH">
                    <a:noFill/>
                  </a:rPr>
                  <a:t> </a:t>
                </a:r>
              </a:p>
            </p:txBody>
          </p:sp>
        </mc:Fallback>
      </mc:AlternateContent>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42D76C55-2977-5928-9BAD-943637A46BDB}"/>
                  </a:ext>
                </a:extLst>
              </p:cNvPr>
              <p:cNvSpPr/>
              <p:nvPr/>
            </p:nvSpPr>
            <p:spPr>
              <a:xfrm>
                <a:off x="9954537" y="3308193"/>
                <a:ext cx="893762" cy="273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i="1">
                              <a:solidFill>
                                <a:srgbClr val="00B1F1"/>
                              </a:solidFill>
                              <a:latin typeface="Cambria Math" panose="02040503050406030204" pitchFamily="18" charset="0"/>
                            </a:rPr>
                          </m:ctrlPr>
                        </m:sSubPr>
                        <m:e>
                          <m:r>
                            <a:rPr lang="en-US" sz="1400" i="1">
                              <a:solidFill>
                                <a:srgbClr val="00B1F1"/>
                              </a:solidFill>
                              <a:latin typeface="Cambria Math" panose="02040503050406030204" pitchFamily="18" charset="0"/>
                            </a:rPr>
                            <m:t>𝑁</m:t>
                          </m:r>
                        </m:e>
                        <m:sub>
                          <m:r>
                            <a:rPr lang="en-US" sz="1400" i="1">
                              <a:solidFill>
                                <a:srgbClr val="00B1F1"/>
                              </a:solidFill>
                              <a:latin typeface="Cambria Math" panose="02040503050406030204" pitchFamily="18" charset="0"/>
                            </a:rPr>
                            <m:t>𝐵</m:t>
                          </m:r>
                          <m:r>
                            <a:rPr lang="en-US" sz="1400" i="1">
                              <a:solidFill>
                                <a:srgbClr val="00B1F1"/>
                              </a:solidFill>
                              <a:latin typeface="Cambria Math" panose="02040503050406030204" pitchFamily="18" charset="0"/>
                            </a:rPr>
                            <m:t>,2</m:t>
                          </m:r>
                        </m:sub>
                      </m:sSub>
                      <m:r>
                        <a:rPr lang="en-US" sz="1400" i="1">
                          <a:solidFill>
                            <a:srgbClr val="00B1F1"/>
                          </a:solidFill>
                          <a:latin typeface="Cambria Math" panose="02040503050406030204" pitchFamily="18" charset="0"/>
                        </a:rPr>
                        <m:t>=4</m:t>
                      </m:r>
                    </m:oMath>
                  </m:oMathPara>
                </a14:m>
                <a:endParaRPr lang="en-CH" sz="1400">
                  <a:solidFill>
                    <a:srgbClr val="00B1F1"/>
                  </a:solidFill>
                </a:endParaRPr>
              </a:p>
            </p:txBody>
          </p:sp>
        </mc:Choice>
        <mc:Fallback>
          <p:sp>
            <p:nvSpPr>
              <p:cNvPr id="12" name="Rectangle 11">
                <a:extLst>
                  <a:ext uri="{FF2B5EF4-FFF2-40B4-BE49-F238E27FC236}">
                    <a16:creationId xmlns:a16="http://schemas.microsoft.com/office/drawing/2014/main" id="{42D76C55-2977-5928-9BAD-943637A46BDB}"/>
                  </a:ext>
                </a:extLst>
              </p:cNvPr>
              <p:cNvSpPr>
                <a:spLocks noRot="1" noChangeAspect="1" noMove="1" noResize="1" noEditPoints="1" noAdjustHandles="1" noChangeArrowheads="1" noChangeShapeType="1" noTextEdit="1"/>
              </p:cNvSpPr>
              <p:nvPr/>
            </p:nvSpPr>
            <p:spPr>
              <a:xfrm>
                <a:off x="9954537" y="3308193"/>
                <a:ext cx="893762" cy="273050"/>
              </a:xfrm>
              <a:prstGeom prst="rect">
                <a:avLst/>
              </a:prstGeom>
              <a:blipFill>
                <a:blip r:embed="rId7"/>
                <a:stretch>
                  <a:fillRect b="-2273"/>
                </a:stretch>
              </a:blipFill>
              <a:ln>
                <a:noFill/>
              </a:ln>
            </p:spPr>
            <p:txBody>
              <a:bodyPr/>
              <a:lstStyle/>
              <a:p>
                <a:r>
                  <a:rPr lang="de-CH">
                    <a:noFill/>
                  </a:rPr>
                  <a:t> </a:t>
                </a:r>
              </a:p>
            </p:txBody>
          </p:sp>
        </mc:Fallback>
      </mc:AlternateContent>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149B828E-80EA-3BA2-0631-1E9A31E6315E}"/>
                  </a:ext>
                </a:extLst>
              </p:cNvPr>
              <p:cNvSpPr/>
              <p:nvPr/>
            </p:nvSpPr>
            <p:spPr>
              <a:xfrm>
                <a:off x="10848299" y="3308193"/>
                <a:ext cx="893762" cy="273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i="1">
                              <a:solidFill>
                                <a:srgbClr val="879BAA"/>
                              </a:solidFill>
                              <a:latin typeface="Cambria Math" panose="02040503050406030204" pitchFamily="18" charset="0"/>
                            </a:rPr>
                          </m:ctrlPr>
                        </m:sSubPr>
                        <m:e>
                          <m:r>
                            <a:rPr lang="en-US" sz="1400" i="1">
                              <a:solidFill>
                                <a:srgbClr val="879BAA"/>
                              </a:solidFill>
                              <a:latin typeface="Cambria Math" panose="02040503050406030204" pitchFamily="18" charset="0"/>
                            </a:rPr>
                            <m:t>𝑁</m:t>
                          </m:r>
                        </m:e>
                        <m:sub>
                          <m:r>
                            <a:rPr lang="en-US" sz="1400" i="1">
                              <a:solidFill>
                                <a:srgbClr val="879BAA"/>
                              </a:solidFill>
                              <a:latin typeface="Cambria Math" panose="02040503050406030204" pitchFamily="18" charset="0"/>
                            </a:rPr>
                            <m:t>𝐵</m:t>
                          </m:r>
                          <m:r>
                            <a:rPr lang="en-US" sz="1400" i="1">
                              <a:solidFill>
                                <a:srgbClr val="879BAA"/>
                              </a:solidFill>
                              <a:latin typeface="Cambria Math" panose="02040503050406030204" pitchFamily="18" charset="0"/>
                            </a:rPr>
                            <m:t>,1</m:t>
                          </m:r>
                        </m:sub>
                      </m:sSub>
                      <m:r>
                        <a:rPr lang="en-US" sz="1400" i="1">
                          <a:solidFill>
                            <a:srgbClr val="879BAA"/>
                          </a:solidFill>
                          <a:latin typeface="Cambria Math" panose="02040503050406030204" pitchFamily="18" charset="0"/>
                        </a:rPr>
                        <m:t>=6</m:t>
                      </m:r>
                    </m:oMath>
                  </m:oMathPara>
                </a14:m>
                <a:endParaRPr lang="en-CH" sz="1400">
                  <a:solidFill>
                    <a:srgbClr val="879BAA"/>
                  </a:solidFill>
                </a:endParaRPr>
              </a:p>
            </p:txBody>
          </p:sp>
        </mc:Choice>
        <mc:Fallback>
          <p:sp>
            <p:nvSpPr>
              <p:cNvPr id="13" name="Rectangle 12">
                <a:extLst>
                  <a:ext uri="{FF2B5EF4-FFF2-40B4-BE49-F238E27FC236}">
                    <a16:creationId xmlns:a16="http://schemas.microsoft.com/office/drawing/2014/main" id="{149B828E-80EA-3BA2-0631-1E9A31E6315E}"/>
                  </a:ext>
                </a:extLst>
              </p:cNvPr>
              <p:cNvSpPr>
                <a:spLocks noRot="1" noChangeAspect="1" noMove="1" noResize="1" noEditPoints="1" noAdjustHandles="1" noChangeArrowheads="1" noChangeShapeType="1" noTextEdit="1"/>
              </p:cNvSpPr>
              <p:nvPr/>
            </p:nvSpPr>
            <p:spPr>
              <a:xfrm>
                <a:off x="10848299" y="3308193"/>
                <a:ext cx="893762" cy="273050"/>
              </a:xfrm>
              <a:prstGeom prst="rect">
                <a:avLst/>
              </a:prstGeom>
              <a:blipFill>
                <a:blip r:embed="rId8"/>
                <a:stretch>
                  <a:fillRect b="-2273"/>
                </a:stretch>
              </a:blipFill>
              <a:ln>
                <a:noFill/>
              </a:ln>
            </p:spPr>
            <p:txBody>
              <a:bodyPr/>
              <a:lstStyle/>
              <a:p>
                <a:r>
                  <a:rPr lang="de-CH">
                    <a:noFill/>
                  </a:rPr>
                  <a:t> </a:t>
                </a:r>
              </a:p>
            </p:txBody>
          </p:sp>
        </mc:Fallback>
      </mc:AlternateContent>
      <p:sp>
        <p:nvSpPr>
          <p:cNvPr id="16" name="Rectangle 15">
            <a:extLst>
              <a:ext uri="{FF2B5EF4-FFF2-40B4-BE49-F238E27FC236}">
                <a16:creationId xmlns:a16="http://schemas.microsoft.com/office/drawing/2014/main" id="{3F203D46-9834-BAC8-97CE-0898C925CA57}"/>
              </a:ext>
            </a:extLst>
          </p:cNvPr>
          <p:cNvSpPr/>
          <p:nvPr/>
        </p:nvSpPr>
        <p:spPr>
          <a:xfrm>
            <a:off x="7719335" y="2161413"/>
            <a:ext cx="1114428" cy="31330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solidFill>
              </a:rPr>
              <a:t>Zeitsignal</a:t>
            </a:r>
            <a:endParaRPr lang="en-CH" sz="1400">
              <a:solidFill>
                <a:schemeClr val="tx1"/>
              </a:solidFill>
            </a:endParaRPr>
          </a:p>
        </p:txBody>
      </p:sp>
      <p:sp>
        <p:nvSpPr>
          <p:cNvPr id="17" name="Rectangle 16">
            <a:extLst>
              <a:ext uri="{FF2B5EF4-FFF2-40B4-BE49-F238E27FC236}">
                <a16:creationId xmlns:a16="http://schemas.microsoft.com/office/drawing/2014/main" id="{7E89C144-B7EB-6250-E33E-AAE6ACECB3E6}"/>
              </a:ext>
            </a:extLst>
          </p:cNvPr>
          <p:cNvSpPr/>
          <p:nvPr/>
        </p:nvSpPr>
        <p:spPr>
          <a:xfrm>
            <a:off x="10205363" y="2122298"/>
            <a:ext cx="1186031" cy="29924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solidFill>
              </a:rPr>
              <a:t>Wöhlerkurve</a:t>
            </a:r>
            <a:endParaRPr lang="en-CH" sz="1400">
              <a:solidFill>
                <a:schemeClr val="tx1"/>
              </a:solidFill>
            </a:endParaRPr>
          </a:p>
        </p:txBody>
      </p:sp>
      <p:sp>
        <p:nvSpPr>
          <p:cNvPr id="18" name="Rectangle 17">
            <a:extLst>
              <a:ext uri="{FF2B5EF4-FFF2-40B4-BE49-F238E27FC236}">
                <a16:creationId xmlns:a16="http://schemas.microsoft.com/office/drawing/2014/main" id="{A87BCA19-824A-7ED9-EC2C-FAF0852A47B2}"/>
              </a:ext>
            </a:extLst>
          </p:cNvPr>
          <p:cNvSpPr/>
          <p:nvPr/>
        </p:nvSpPr>
        <p:spPr>
          <a:xfrm>
            <a:off x="10288813" y="3581244"/>
            <a:ext cx="1597713" cy="2992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solidFill>
              </a:rPr>
              <a:t>Schwingspielzahl</a:t>
            </a:r>
            <a:endParaRPr lang="en-CH" sz="1400">
              <a:solidFill>
                <a:schemeClr val="tx1"/>
              </a:solidFill>
            </a:endParaRPr>
          </a:p>
        </p:txBody>
      </p:sp>
      <p:sp>
        <p:nvSpPr>
          <p:cNvPr id="19" name="Rectangle 18">
            <a:extLst>
              <a:ext uri="{FF2B5EF4-FFF2-40B4-BE49-F238E27FC236}">
                <a16:creationId xmlns:a16="http://schemas.microsoft.com/office/drawing/2014/main" id="{A94CB894-854D-9178-D811-50AE7865FCFD}"/>
              </a:ext>
            </a:extLst>
          </p:cNvPr>
          <p:cNvSpPr/>
          <p:nvPr/>
        </p:nvSpPr>
        <p:spPr>
          <a:xfrm>
            <a:off x="9060776" y="3264124"/>
            <a:ext cx="552229" cy="2992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Zeit</a:t>
            </a:r>
            <a:endParaRPr lang="en-CH" sz="1400">
              <a:solidFill>
                <a:schemeClr val="tx1"/>
              </a:solidFill>
            </a:endParaRPr>
          </a:p>
        </p:txBody>
      </p:sp>
    </p:spTree>
    <p:extLst>
      <p:ext uri="{BB962C8B-B14F-4D97-AF65-F5344CB8AC3E}">
        <p14:creationId xmlns:p14="http://schemas.microsoft.com/office/powerpoint/2010/main" val="1839325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2E588-4690-E5D7-B684-8A9747FDC21C}"/>
              </a:ext>
            </a:extLst>
          </p:cNvPr>
          <p:cNvSpPr>
            <a:spLocks noGrp="1"/>
          </p:cNvSpPr>
          <p:nvPr>
            <p:ph type="title"/>
          </p:nvPr>
        </p:nvSpPr>
        <p:spPr/>
        <p:txBody>
          <a:bodyPr/>
          <a:lstStyle/>
          <a:p>
            <a:r>
              <a:rPr lang="de-CH" err="1"/>
              <a:t>Weibull</a:t>
            </a:r>
            <a:r>
              <a:rPr lang="de-CH"/>
              <a:t> Gesetz</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BF40E1-AA73-C166-6B02-F7AAAA6B73F2}"/>
                  </a:ext>
                </a:extLst>
              </p:cNvPr>
              <p:cNvSpPr>
                <a:spLocks noGrp="1"/>
              </p:cNvSpPr>
              <p:nvPr>
                <p:ph idx="1"/>
              </p:nvPr>
            </p:nvSpPr>
            <p:spPr/>
            <p:txBody>
              <a:bodyPr/>
              <a:lstStyle/>
              <a:p>
                <a:r>
                  <a:rPr lang="de-CH" b="1"/>
                  <a:t>Zweck:</a:t>
                </a:r>
                <a:r>
                  <a:rPr lang="de-CH"/>
                  <a:t> Das Weibull-Gesetz ist eine Wahrscheinlichkeitsverteilung, die die Verteilung der Lebensdauer am besten beschreibt.</a:t>
                </a:r>
              </a:p>
              <a:p>
                <a:r>
                  <a:rPr lang="de-CH" b="1"/>
                  <a:t>Anwendung:</a:t>
                </a:r>
                <a:r>
                  <a:rPr lang="de-CH"/>
                  <a:t> Weit verbreitet in der Zuverlässigkeitstechnik und Qualitätskontrolle.</a:t>
                </a:r>
              </a:p>
              <a:p>
                <a:r>
                  <a:rPr lang="en-US" b="1"/>
                  <a:t>Wie:</a:t>
                </a:r>
                <a:r>
                  <a:rPr lang="en-US"/>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𝐵</m:t>
                        </m:r>
                      </m:sub>
                    </m:sSub>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𝜎</m:t>
                            </m:r>
                          </m:e>
                          <m:sub>
                            <m:r>
                              <a:rPr lang="en-US" b="0" i="1" dirty="0" smtClean="0">
                                <a:latin typeface="Cambria Math" panose="02040503050406030204" pitchFamily="18" charset="0"/>
                              </a:rPr>
                              <m:t>𝑎</m:t>
                            </m:r>
                          </m:sub>
                        </m:sSub>
                      </m:e>
                    </m:d>
                    <m:r>
                      <a:rPr lang="en-US" i="1" dirty="0" smtClean="0">
                        <a:latin typeface="Cambria Math" panose="02040503050406030204" pitchFamily="18" charset="0"/>
                      </a:rPr>
                      <m:t>=1−</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𝑒</m:t>
                        </m:r>
                      </m:e>
                      <m:sup>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i="1" dirty="0" smtClean="0">
                                    <a:latin typeface="Cambria Math" panose="02040503050406030204" pitchFamily="18" charset="0"/>
                                  </a:rPr>
                                </m:ctrlPr>
                              </m:dPr>
                              <m:e>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b="0" i="1" dirty="0" smtClean="0">
                                            <a:latin typeface="Cambria Math" panose="02040503050406030204" pitchFamily="18" charset="0"/>
                                          </a:rPr>
                                          <m:t>𝑎</m:t>
                                        </m:r>
                                      </m:sub>
                                    </m:sSub>
                                  </m:num>
                                  <m:den>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𝜎</m:t>
                                        </m:r>
                                      </m:e>
                                      <m:sub>
                                        <m:r>
                                          <a:rPr lang="en-US" b="0" i="1" dirty="0" smtClean="0">
                                            <a:latin typeface="Cambria Math" panose="02040503050406030204" pitchFamily="18" charset="0"/>
                                          </a:rPr>
                                          <m:t>0</m:t>
                                        </m:r>
                                      </m:sub>
                                    </m:sSub>
                                  </m:den>
                                </m:f>
                              </m:e>
                            </m:d>
                          </m:e>
                          <m:sup>
                            <m:r>
                              <a:rPr lang="en-US" b="0" i="1" dirty="0" smtClean="0">
                                <a:latin typeface="Cambria Math" panose="02040503050406030204" pitchFamily="18" charset="0"/>
                              </a:rPr>
                              <m:t>𝑚</m:t>
                            </m:r>
                          </m:sup>
                        </m:sSup>
                      </m:sup>
                    </m:sSup>
                  </m:oMath>
                </a14:m>
                <a:r>
                  <a:rPr lang="en-US"/>
                  <a:t> </a:t>
                </a:r>
                <a:r>
                  <a:rPr lang="en-US" err="1"/>
                  <a:t>oder</a:t>
                </a:r>
                <a:r>
                  <a:rPr lang="en-US"/>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𝐵</m:t>
                        </m:r>
                      </m:sub>
                    </m:sSub>
                    <m:d>
                      <m:dPr>
                        <m:ctrlPr>
                          <a:rPr lang="en-US" i="1" dirty="0">
                            <a:latin typeface="Cambria Math" panose="02040503050406030204" pitchFamily="18" charset="0"/>
                          </a:rPr>
                        </m:ctrlPr>
                      </m:dPr>
                      <m:e>
                        <m:r>
                          <a:rPr lang="en-US" b="0" i="1" dirty="0" smtClean="0">
                            <a:latin typeface="Cambria Math" panose="02040503050406030204" pitchFamily="18" charset="0"/>
                          </a:rPr>
                          <m:t>𝑁</m:t>
                        </m:r>
                      </m:e>
                    </m:d>
                    <m:r>
                      <a:rPr lang="en-US" i="1" dirty="0">
                        <a:latin typeface="Cambria Math" panose="02040503050406030204" pitchFamily="18" charset="0"/>
                      </a:rPr>
                      <m:t>=1−</m:t>
                    </m:r>
                    <m:sSup>
                      <m:sSupPr>
                        <m:ctrlPr>
                          <a:rPr lang="en-US" i="1" dirty="0">
                            <a:latin typeface="Cambria Math" panose="02040503050406030204" pitchFamily="18" charset="0"/>
                          </a:rPr>
                        </m:ctrlPr>
                      </m:sSupPr>
                      <m:e>
                        <m:r>
                          <a:rPr lang="en-US" i="1" dirty="0">
                            <a:latin typeface="Cambria Math" panose="02040503050406030204" pitchFamily="18" charset="0"/>
                          </a:rPr>
                          <m:t>𝑒</m:t>
                        </m:r>
                      </m:e>
                      <m:sup>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r>
                                      <a:rPr lang="en-US" b="0" i="1" dirty="0" smtClean="0">
                                        <a:latin typeface="Cambria Math" panose="02040503050406030204" pitchFamily="18" charset="0"/>
                                      </a:rPr>
                                      <m:t>𝑁</m:t>
                                    </m:r>
                                  </m:num>
                                  <m:den>
                                    <m:sSub>
                                      <m:sSubPr>
                                        <m:ctrlPr>
                                          <a:rPr lang="en-US" i="1" dirty="0">
                                            <a:latin typeface="Cambria Math" panose="02040503050406030204" pitchFamily="18" charset="0"/>
                                          </a:rPr>
                                        </m:ctrlPr>
                                      </m:sSubPr>
                                      <m:e>
                                        <m:r>
                                          <a:rPr lang="en-US" b="0" i="1" dirty="0" smtClean="0">
                                            <a:latin typeface="Cambria Math" panose="02040503050406030204" pitchFamily="18" charset="0"/>
                                          </a:rPr>
                                          <m:t>𝑁</m:t>
                                        </m:r>
                                      </m:e>
                                      <m:sub>
                                        <m:r>
                                          <a:rPr lang="en-US" i="1" dirty="0">
                                            <a:latin typeface="Cambria Math" panose="02040503050406030204" pitchFamily="18" charset="0"/>
                                          </a:rPr>
                                          <m:t>0</m:t>
                                        </m:r>
                                      </m:sub>
                                    </m:sSub>
                                  </m:den>
                                </m:f>
                              </m:e>
                            </m:d>
                          </m:e>
                          <m:sup>
                            <m:r>
                              <a:rPr lang="en-US" i="1" dirty="0">
                                <a:latin typeface="Cambria Math" panose="02040503050406030204" pitchFamily="18" charset="0"/>
                              </a:rPr>
                              <m:t>𝑚</m:t>
                            </m:r>
                          </m:sup>
                        </m:sSup>
                      </m:sup>
                    </m:sSup>
                  </m:oMath>
                </a14:m>
                <a:endParaRPr lang="en-US"/>
              </a:p>
              <a:p>
                <a:pPr lvl="1">
                  <a:buFont typeface="Arial" panose="020B0604020202020204" pitchFamily="34" charset="0"/>
                  <a:buChar char="•"/>
                </a:pP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b="0" i="1" dirty="0" smtClean="0">
                            <a:latin typeface="Cambria Math" panose="02040503050406030204" pitchFamily="18" charset="0"/>
                          </a:rPr>
                          <m:t>𝐵</m:t>
                        </m:r>
                      </m:sub>
                    </m:sSub>
                    <m:r>
                      <a:rPr lang="en-US" i="1" dirty="0">
                        <a:latin typeface="Cambria Math" panose="02040503050406030204" pitchFamily="18" charset="0"/>
                      </a:rPr>
                      <m:t> </m:t>
                    </m:r>
                  </m:oMath>
                </a14:m>
                <a:r>
                  <a:rPr lang="en-US"/>
                  <a:t>​ </a:t>
                </a:r>
                <a:r>
                  <a:rPr lang="en-US" err="1"/>
                  <a:t>ist</a:t>
                </a:r>
                <a:r>
                  <a:rPr lang="en-US"/>
                  <a:t> die </a:t>
                </a:r>
                <a:r>
                  <a:rPr lang="en-US" err="1"/>
                  <a:t>Ausfallwahrscheinlichkeit</a:t>
                </a:r>
                <a:endParaRPr lang="en-US"/>
              </a:p>
              <a:p>
                <a:pPr lvl="1">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𝜎</m:t>
                        </m:r>
                      </m:e>
                      <m:sub>
                        <m:r>
                          <a:rPr lang="en-US" b="0" i="1" dirty="0" smtClean="0">
                            <a:latin typeface="Cambria Math" panose="02040503050406030204" pitchFamily="18" charset="0"/>
                          </a:rPr>
                          <m:t>𝑎</m:t>
                        </m:r>
                      </m:sub>
                    </m:sSub>
                  </m:oMath>
                </a14:m>
                <a:r>
                  <a:rPr lang="en-US"/>
                  <a:t> die </a:t>
                </a:r>
                <a:r>
                  <a:rPr lang="en-US" err="1"/>
                  <a:t>Spannungsamplitude</a:t>
                </a:r>
                <a:endParaRPr lang="en-US"/>
              </a:p>
              <a:p>
                <a:pPr lvl="1">
                  <a:buFont typeface="Arial" panose="020B0604020202020204" pitchFamily="34" charset="0"/>
                  <a:buChar char="•"/>
                </a:pPr>
                <a14:m>
                  <m:oMath xmlns:m="http://schemas.openxmlformats.org/officeDocument/2006/math">
                    <m:r>
                      <a:rPr lang="en-US" b="0" i="1" dirty="0" smtClean="0">
                        <a:latin typeface="Cambria Math" panose="02040503050406030204" pitchFamily="18" charset="0"/>
                      </a:rPr>
                      <m:t>𝑁</m:t>
                    </m:r>
                  </m:oMath>
                </a14:m>
                <a:r>
                  <a:rPr lang="en-US"/>
                  <a:t> die </a:t>
                </a:r>
                <a:r>
                  <a:rPr lang="en-US" err="1"/>
                  <a:t>Lastspielzahl</a:t>
                </a:r>
                <a:endParaRPr lang="en-US"/>
              </a:p>
              <a:p>
                <a:pPr lvl="1">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𝜎</m:t>
                        </m:r>
                      </m:e>
                      <m:sub>
                        <m:r>
                          <a:rPr lang="en-US" b="0" i="1" dirty="0" smtClean="0">
                            <a:latin typeface="Cambria Math" panose="02040503050406030204" pitchFamily="18" charset="0"/>
                          </a:rPr>
                          <m:t>0</m:t>
                        </m:r>
                      </m:sub>
                    </m:sSub>
                  </m:oMath>
                </a14:m>
                <a:r>
                  <a:rPr lang="en-US"/>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0</m:t>
                        </m:r>
                      </m:sub>
                    </m:sSub>
                  </m:oMath>
                </a14:m>
                <a:r>
                  <a:rPr lang="en-US"/>
                  <a:t> und </a:t>
                </a:r>
                <a14:m>
                  <m:oMath xmlns:m="http://schemas.openxmlformats.org/officeDocument/2006/math">
                    <m:r>
                      <a:rPr lang="en-US" i="1" dirty="0" smtClean="0">
                        <a:latin typeface="Cambria Math" panose="02040503050406030204" pitchFamily="18" charset="0"/>
                      </a:rPr>
                      <m:t>𝑚</m:t>
                    </m:r>
                  </m:oMath>
                </a14:m>
                <a:r>
                  <a:rPr lang="en-US"/>
                  <a:t> </a:t>
                </a:r>
                <a:r>
                  <a:rPr lang="en-US" err="1"/>
                  <a:t>sind</a:t>
                </a:r>
                <a:r>
                  <a:rPr lang="en-US"/>
                  <a:t> </a:t>
                </a:r>
                <a:r>
                  <a:rPr lang="en-US" err="1"/>
                  <a:t>Materialkonstanten</a:t>
                </a:r>
                <a:endParaRPr lang="en-US"/>
              </a:p>
              <a:p>
                <a:endParaRPr lang="de-CH"/>
              </a:p>
            </p:txBody>
          </p:sp>
        </mc:Choice>
        <mc:Fallback xmlns="">
          <p:sp>
            <p:nvSpPr>
              <p:cNvPr id="3" name="Content Placeholder 2">
                <a:extLst>
                  <a:ext uri="{FF2B5EF4-FFF2-40B4-BE49-F238E27FC236}">
                    <a16:creationId xmlns:a16="http://schemas.microsoft.com/office/drawing/2014/main" id="{D9BF40E1-AA73-C166-6B02-F7AAAA6B73F2}"/>
                  </a:ext>
                </a:extLst>
              </p:cNvPr>
              <p:cNvSpPr>
                <a:spLocks noGrp="1" noRot="1" noChangeAspect="1" noMove="1" noResize="1" noEditPoints="1" noAdjustHandles="1" noChangeArrowheads="1" noChangeShapeType="1" noTextEdit="1"/>
              </p:cNvSpPr>
              <p:nvPr>
                <p:ph idx="1"/>
              </p:nvPr>
            </p:nvSpPr>
            <p:spPr>
              <a:blipFill>
                <a:blip r:embed="rId2"/>
                <a:stretch>
                  <a:fillRect l="-1364" t="-1565" r="-28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95B7462-BD75-858C-AFA6-18F381ACA13A}"/>
              </a:ext>
            </a:extLst>
          </p:cNvPr>
          <p:cNvPicPr>
            <a:picLocks noChangeAspect="1"/>
          </p:cNvPicPr>
          <p:nvPr/>
        </p:nvPicPr>
        <p:blipFill>
          <a:blip r:embed="rId3"/>
          <a:stretch>
            <a:fillRect/>
          </a:stretch>
        </p:blipFill>
        <p:spPr>
          <a:xfrm>
            <a:off x="7253623" y="3347647"/>
            <a:ext cx="4204444" cy="2997753"/>
          </a:xfrm>
          <a:prstGeom prst="rect">
            <a:avLst/>
          </a:prstGeom>
        </p:spPr>
      </p:pic>
    </p:spTree>
    <p:extLst>
      <p:ext uri="{BB962C8B-B14F-4D97-AF65-F5344CB8AC3E}">
        <p14:creationId xmlns:p14="http://schemas.microsoft.com/office/powerpoint/2010/main" val="4294650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1463</Words>
  <Application>Microsoft Office PowerPoint</Application>
  <PresentationFormat>Widescreen</PresentationFormat>
  <Paragraphs>253</Paragraphs>
  <Slides>20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 Math</vt:lpstr>
      <vt:lpstr>Open Sans</vt:lpstr>
      <vt:lpstr>Symbol</vt:lpstr>
      <vt:lpstr>Office Theme</vt:lpstr>
      <vt:lpstr>WuF Übung ML F36 Woche 9</vt:lpstr>
      <vt:lpstr>Theorie Überblick</vt:lpstr>
      <vt:lpstr>Kap. 6 Ermüdung (cont’d)</vt:lpstr>
      <vt:lpstr>Kap. 7: Thermische Eigenschaften</vt:lpstr>
      <vt:lpstr>03-4: Ermüdung</vt:lpstr>
      <vt:lpstr>Lernziele:</vt:lpstr>
      <vt:lpstr>Ermüdung - Nomenklatur für WuF</vt:lpstr>
      <vt:lpstr>Nomenklatur Spannungen</vt:lpstr>
      <vt:lpstr>Nomenklatur Schwingspielzahl</vt:lpstr>
      <vt:lpstr>Wiederholung der Theorie - Ermüdung</vt:lpstr>
      <vt:lpstr>Zeitfestigkeit (HCF) – Kurzzeitfestigkeit (LCF)</vt:lpstr>
      <vt:lpstr>Wöhlerkurve oder auch S-N-Kurve</vt:lpstr>
      <vt:lpstr>Basquin’sche Gesetz</vt:lpstr>
      <vt:lpstr>Coffin Manson</vt:lpstr>
      <vt:lpstr>Kombination von Basquin und Coffin Manson</vt:lpstr>
      <vt:lpstr>Paris Gesetz (im deutschsprachigen Raum als Risswachstum oder Rissausbreitung bekannst)</vt:lpstr>
      <vt:lpstr>Goodman Beziehung</vt:lpstr>
      <vt:lpstr>Haigh Diagramm</vt:lpstr>
      <vt:lpstr>Miner Regel</vt:lpstr>
      <vt:lpstr>Weibull Gesetz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WuF Übung ML F36 Woche 9</dc:title>
  <dc:creator>Schenk  Lorenzo</dc:creator>
  <cp:lastModifiedBy>Schenk  Lorenzo</cp:lastModifiedBy>
  <cp:revision>4</cp:revision>
  <dcterms:created xsi:type="dcterms:W3CDTF">2025-04-17T08:57:29Z</dcterms:created>
  <dcterms:modified xsi:type="dcterms:W3CDTF">2025-04-17T10:25:06Z</dcterms:modified>
</cp:coreProperties>
</file>