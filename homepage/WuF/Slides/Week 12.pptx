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9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B92FA-6E50-424E-91C5-30986886097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43038-F565-4057-9E75-22733D0223F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559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2F5A-7BF5-4102-BC12-8E0214234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7CF28-C864-4F34-8BFD-85313C4EB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FAA4-03B5-4463-BC35-A02B7A10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D8B-5074-4340-AE1A-FF28AE81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54463-DA5B-4D5D-BB91-73FC4EF9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658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AB31-7AA8-49EB-95DC-2480308A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DED4-89D3-4725-AB16-B82732F0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83FA-D6B9-41B8-8772-39F0A934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8C56-37B5-436D-B07D-C43AA239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D9288-E385-400B-964F-9DBC9696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87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86E6-3770-4527-889C-E0F70B4D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32EA8-ADF3-47F6-BE18-DFC9724D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85EFB-5796-425F-A7FD-91BBF11D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AF9A-7147-46B9-82E7-58AF2355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7128F-35AC-4E38-A7D0-BCB18BAE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2014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45-EC0A-4B95-8B34-30031938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D3DE-DA77-4FD0-96C0-1F85649D5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266AB-7FFD-4121-919B-C17834CF1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08B70-5A57-4B09-8ED0-21225415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DC5E5-FBE2-468D-93CD-CA9314A6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BE380-8925-4CD3-A390-C655A6CF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41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0405-11A8-4B21-B4C6-FF72AB9C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F1C52-017B-4D01-BB6E-DF3EFC252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4CEE7-342E-4518-AC7B-92E4CF15D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EC9A3-3EBB-40C6-BBAD-76A2199EC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7D9E-8257-4F4F-BD72-788105675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BCA1A-D7B8-4C6B-B8A1-223E9D3E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E07E9-6334-4713-818F-72B1925D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9D530-7E53-4097-A581-D97171AA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092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F3F5-A550-4829-9687-629B85E0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FD1E7-8418-4107-9875-E401F43D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EAD07-44C9-43B6-BDB7-5E56EE5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E8D47-A49B-44E9-9E39-8EF9EEB4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350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9531B-2938-45BF-AF32-553391F2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E3B27-0266-4F41-A6B8-66E39869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B28C-9BB8-41A4-99C6-9BD0F757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091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1D74-4646-44BE-B7D7-05E2F37F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CE87-8883-4B42-BAEF-64FE601B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D3604-D90F-4E50-B0AD-F217CFC8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FBFDE-D7DC-4C32-B3C5-4729EA0E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758CC-EF7C-4DFB-8CBA-21DC1244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8A149-4E17-4B8B-9D45-59FFC786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5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B477-8AEF-4423-ACD5-18960D4E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FD1C7-E836-4138-9760-F03FBE3F1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FD7A0-DBF3-4AF8-B1C1-316AF7843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F4EA9-B700-427B-A96D-C94DE22E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A8088-394F-410C-8DDA-84708EC1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EFB93-D75E-422E-AE73-203D9C4D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891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8FA9-4E05-437A-BD83-3050430D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283BC-CC7A-476F-B9EA-845FE963D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813C-B93B-46CC-A8AD-23B21CA9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3B40-F42A-4109-A733-C260C2B4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B40F0-D16D-4857-9E6B-88C9D5EC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553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DBD60-57BC-45F4-896F-C3223D5B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FCD02-2CA4-49C6-B4F8-E15868075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EC69-DF44-4E44-992B-F1B42BB0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3775-AAC4-430C-BFC7-CFCA23C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9A61C-3176-4AB7-85CC-139477E3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375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A0D38E-3C62-453D-B9B9-57CA8084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01D0C-82FC-472A-A0B1-C92C49B5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FD04-4A05-494A-BD9B-FF8AC1576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F672B-7813-4EFF-AC7A-57E3940D72D6}" type="datetimeFigureOut">
              <a:rPr lang="de-CH" smtClean="0"/>
              <a:t>21.05.25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7007-FCEC-4F13-AFF8-096136329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42697-0E9A-40B2-8EFD-E273C7F0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785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346F-81EA-4055-810E-535B22988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WuF</a:t>
            </a:r>
            <a:r>
              <a:rPr lang="de-CH" dirty="0"/>
              <a:t> Übung ML F36</a:t>
            </a:r>
            <a:br>
              <a:rPr lang="de-CH" dirty="0"/>
            </a:br>
            <a:r>
              <a:rPr lang="de-CH" dirty="0"/>
              <a:t>Woche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17B0D-8EDB-4B99-AC8A-74AA7EA90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CH" dirty="0"/>
              <a:t>Welcome back</a:t>
            </a:r>
          </a:p>
          <a:p>
            <a:r>
              <a:rPr lang="de-CH" sz="1200" dirty="0" err="1"/>
              <a:t>For</a:t>
            </a:r>
            <a:r>
              <a:rPr lang="de-CH" sz="1200" dirty="0"/>
              <a:t> </a:t>
            </a:r>
            <a:r>
              <a:rPr lang="de-CH" sz="1200" dirty="0" err="1"/>
              <a:t>the</a:t>
            </a:r>
            <a:r>
              <a:rPr lang="de-CH" sz="1200" dirty="0"/>
              <a:t> last time </a:t>
            </a:r>
            <a:r>
              <a:rPr lang="de-CH" sz="1200" dirty="0">
                <a:sym typeface="Wingdings" pitchFamily="2" charset="2"/>
              </a:rPr>
              <a:t>:(</a:t>
            </a:r>
            <a:endParaRPr lang="de-CH" sz="1200" dirty="0"/>
          </a:p>
          <a:p>
            <a:endParaRPr lang="de-CH" dirty="0"/>
          </a:p>
          <a:p>
            <a:r>
              <a:rPr lang="de-CH" dirty="0"/>
              <a:t>Lorenzo Schenk</a:t>
            </a:r>
          </a:p>
        </p:txBody>
      </p:sp>
    </p:spTree>
    <p:extLst>
      <p:ext uri="{BB962C8B-B14F-4D97-AF65-F5344CB8AC3E}">
        <p14:creationId xmlns:p14="http://schemas.microsoft.com/office/powerpoint/2010/main" val="236022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2731-0E5B-4493-87FD-8D728BCB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 Überblick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C9B1-E5C1-4678-B845-37E9053D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dirty="0"/>
              <a:t>Kap. 10: Optische Eigenschaften</a:t>
            </a:r>
          </a:p>
          <a:p>
            <a:pPr lvl="1"/>
            <a:r>
              <a:rPr lang="de-CH" dirty="0"/>
              <a:t>Strahlenoptik &amp; Brechungsindex</a:t>
            </a:r>
          </a:p>
          <a:p>
            <a:pPr lvl="1"/>
            <a:r>
              <a:rPr lang="de-CH" dirty="0"/>
              <a:t>Maxwell-Optik &amp; Reflektion/Absorption</a:t>
            </a:r>
          </a:p>
          <a:p>
            <a:pPr lvl="1"/>
            <a:r>
              <a:rPr lang="de-CH" dirty="0"/>
              <a:t>Quantenoptik: E = </a:t>
            </a:r>
            <a:r>
              <a:rPr lang="de-CH" dirty="0" err="1"/>
              <a:t>hv</a:t>
            </a:r>
            <a:r>
              <a:rPr lang="de-CH" dirty="0"/>
              <a:t>   // LED, Laser, Resonator</a:t>
            </a:r>
          </a:p>
          <a:p>
            <a:r>
              <a:rPr lang="de-CH" dirty="0"/>
              <a:t>Kap. 11: Degradation von Werkstoffen</a:t>
            </a:r>
          </a:p>
          <a:p>
            <a:pPr lvl="1"/>
            <a:r>
              <a:rPr lang="de-CH" dirty="0"/>
              <a:t>Tribologische Systeme</a:t>
            </a:r>
          </a:p>
          <a:p>
            <a:pPr lvl="1"/>
            <a:r>
              <a:rPr lang="de-CH" dirty="0"/>
              <a:t>Reibung</a:t>
            </a:r>
          </a:p>
          <a:p>
            <a:pPr lvl="1"/>
            <a:r>
              <a:rPr lang="de-CH" dirty="0"/>
              <a:t>Verschleiss / -prüfung</a:t>
            </a:r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2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2"/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C7DD2-4A35-F4BF-34D4-3F446F37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5" r="455" b="84357"/>
          <a:stretch/>
        </p:blipFill>
        <p:spPr>
          <a:xfrm>
            <a:off x="5838830" y="681037"/>
            <a:ext cx="6123488" cy="10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5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7391-5852-2378-7E1E-782DC7E9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Kap. 10 – </a:t>
            </a:r>
            <a:r>
              <a:rPr lang="en-US" dirty="0" err="1"/>
              <a:t>Optische</a:t>
            </a:r>
            <a:r>
              <a:rPr lang="en-US" dirty="0"/>
              <a:t> </a:t>
            </a:r>
            <a:r>
              <a:rPr lang="en-US" dirty="0" err="1"/>
              <a:t>Eigenschaften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194C9-4B5D-0AE3-ABD3-F0B9AF22F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Strahlenoptik</a:t>
            </a:r>
            <a:endParaRPr lang="en-US" dirty="0"/>
          </a:p>
          <a:p>
            <a:pPr lvl="1"/>
            <a:r>
              <a:rPr lang="en-US" dirty="0" err="1"/>
              <a:t>Brechungsindex</a:t>
            </a:r>
            <a:endParaRPr lang="en-US" dirty="0"/>
          </a:p>
          <a:p>
            <a:pPr lvl="1"/>
            <a:r>
              <a:rPr lang="en-US" dirty="0" err="1"/>
              <a:t>Fermat’sches</a:t>
            </a:r>
            <a:r>
              <a:rPr lang="en-US" dirty="0"/>
              <a:t> </a:t>
            </a:r>
            <a:r>
              <a:rPr lang="en-US" dirty="0" err="1"/>
              <a:t>Prinzip</a:t>
            </a:r>
            <a:endParaRPr lang="en-US" dirty="0"/>
          </a:p>
          <a:p>
            <a:pPr lvl="1"/>
            <a:r>
              <a:rPr lang="en-US" dirty="0" err="1"/>
              <a:t>Totalreflexion</a:t>
            </a:r>
            <a:endParaRPr lang="en-US" dirty="0"/>
          </a:p>
          <a:p>
            <a:pPr lvl="2"/>
            <a:r>
              <a:rPr lang="en-US" dirty="0" err="1"/>
              <a:t>Akzeptanzwinkel</a:t>
            </a:r>
            <a:r>
              <a:rPr lang="en-US" dirty="0"/>
              <a:t> und </a:t>
            </a:r>
            <a:r>
              <a:rPr lang="en-US" dirty="0" err="1"/>
              <a:t>numerische</a:t>
            </a:r>
            <a:r>
              <a:rPr lang="en-US" dirty="0"/>
              <a:t> </a:t>
            </a:r>
            <a:r>
              <a:rPr lang="en-US" dirty="0" err="1"/>
              <a:t>Apertur</a:t>
            </a:r>
            <a:r>
              <a:rPr lang="en-US" dirty="0"/>
              <a:t> (NA)</a:t>
            </a:r>
          </a:p>
          <a:p>
            <a:r>
              <a:rPr lang="en-US" dirty="0"/>
              <a:t>Maxwell-Optik</a:t>
            </a:r>
          </a:p>
          <a:p>
            <a:pPr lvl="1"/>
            <a:r>
              <a:rPr lang="en-US" dirty="0" err="1"/>
              <a:t>Reflexion</a:t>
            </a:r>
            <a:r>
              <a:rPr lang="en-US" dirty="0"/>
              <a:t>, Absorption (in </a:t>
            </a:r>
            <a:r>
              <a:rPr lang="en-US" dirty="0" err="1"/>
              <a:t>Metallen</a:t>
            </a:r>
            <a:r>
              <a:rPr lang="en-US" dirty="0"/>
              <a:t>) &amp; Transmission</a:t>
            </a:r>
          </a:p>
          <a:p>
            <a:pPr lvl="1"/>
            <a:r>
              <a:rPr lang="en-US" dirty="0" err="1"/>
              <a:t>Permittivitätszahl</a:t>
            </a:r>
            <a:r>
              <a:rPr lang="en-US" dirty="0"/>
              <a:t> &amp; </a:t>
            </a:r>
            <a:r>
              <a:rPr lang="en-US" dirty="0" err="1"/>
              <a:t>Plasmafrequenz</a:t>
            </a:r>
            <a:endParaRPr lang="en-US" dirty="0"/>
          </a:p>
          <a:p>
            <a:r>
              <a:rPr lang="en-US" dirty="0" err="1"/>
              <a:t>Quantenoptik</a:t>
            </a:r>
            <a:r>
              <a:rPr lang="en-US" dirty="0"/>
              <a:t>: E = hv</a:t>
            </a:r>
          </a:p>
          <a:p>
            <a:pPr lvl="1"/>
            <a:r>
              <a:rPr lang="en-US" dirty="0" err="1"/>
              <a:t>Anregung</a:t>
            </a:r>
            <a:r>
              <a:rPr lang="en-US" dirty="0"/>
              <a:t> und Emission</a:t>
            </a:r>
          </a:p>
          <a:p>
            <a:pPr lvl="1"/>
            <a:r>
              <a:rPr lang="en-US" dirty="0"/>
              <a:t>Absorption von </a:t>
            </a:r>
            <a:r>
              <a:rPr lang="en-US" dirty="0" err="1"/>
              <a:t>Photonen</a:t>
            </a:r>
            <a:endParaRPr lang="en-US" dirty="0"/>
          </a:p>
          <a:p>
            <a:pPr lvl="1"/>
            <a:r>
              <a:rPr lang="en-US" dirty="0"/>
              <a:t>LED &amp; Laser (Resonator &amp; </a:t>
            </a:r>
            <a:r>
              <a:rPr lang="en-US" dirty="0" err="1"/>
              <a:t>Besetzungsinversion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6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82B5-2175-17D0-8D6C-1F358186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Kap. 11 – Degradation von </a:t>
            </a:r>
            <a:r>
              <a:rPr lang="en-US" dirty="0" err="1"/>
              <a:t>Werkstoffen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5F6F-4C63-CC21-3B3B-6B383B43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Tribologische</a:t>
            </a:r>
            <a:r>
              <a:rPr lang="en-US" dirty="0"/>
              <a:t> Systeme</a:t>
            </a:r>
          </a:p>
          <a:p>
            <a:pPr lvl="1"/>
            <a:r>
              <a:rPr lang="en-US" dirty="0" err="1"/>
              <a:t>Definitionen</a:t>
            </a:r>
            <a:r>
              <a:rPr lang="en-US" dirty="0"/>
              <a:t>: </a:t>
            </a:r>
            <a:r>
              <a:rPr lang="en-US" dirty="0" err="1"/>
              <a:t>Wirkort</a:t>
            </a:r>
            <a:r>
              <a:rPr lang="en-US" dirty="0"/>
              <a:t>, -</a:t>
            </a:r>
            <a:r>
              <a:rPr lang="en-US" dirty="0" err="1"/>
              <a:t>fläche</a:t>
            </a:r>
            <a:r>
              <a:rPr lang="en-US" dirty="0"/>
              <a:t>, etc.</a:t>
            </a:r>
          </a:p>
          <a:p>
            <a:r>
              <a:rPr lang="en-US" dirty="0" err="1"/>
              <a:t>Reibung</a:t>
            </a:r>
            <a:endParaRPr lang="en-US" dirty="0"/>
          </a:p>
          <a:p>
            <a:pPr lvl="1"/>
            <a:r>
              <a:rPr lang="en-US" dirty="0" err="1"/>
              <a:t>Reibungsdreieck</a:t>
            </a:r>
            <a:endParaRPr lang="en-US" dirty="0"/>
          </a:p>
          <a:p>
            <a:pPr lvl="1"/>
            <a:r>
              <a:rPr lang="en-US" dirty="0" err="1"/>
              <a:t>Stribeck-Kurve</a:t>
            </a:r>
            <a:endParaRPr lang="en-US" dirty="0"/>
          </a:p>
          <a:p>
            <a:pPr lvl="1"/>
            <a:r>
              <a:rPr lang="en-US" dirty="0" err="1"/>
              <a:t>Schmierungszustände</a:t>
            </a:r>
            <a:r>
              <a:rPr lang="en-US" dirty="0"/>
              <a:t> (6)</a:t>
            </a:r>
          </a:p>
          <a:p>
            <a:pPr lvl="2"/>
            <a:r>
              <a:rPr lang="en-US" dirty="0" err="1"/>
              <a:t>Frestkörperkontakt</a:t>
            </a:r>
            <a:endParaRPr lang="en-US" dirty="0"/>
          </a:p>
          <a:p>
            <a:pPr lvl="2"/>
            <a:r>
              <a:rPr lang="en-US" dirty="0" err="1"/>
              <a:t>Grenzschichtkontakt</a:t>
            </a:r>
            <a:endParaRPr lang="en-US" dirty="0"/>
          </a:p>
          <a:p>
            <a:pPr lvl="2"/>
            <a:r>
              <a:rPr lang="en-US" dirty="0" err="1"/>
              <a:t>Grenzschmierung</a:t>
            </a:r>
            <a:endParaRPr lang="en-US" dirty="0"/>
          </a:p>
          <a:p>
            <a:pPr lvl="2"/>
            <a:r>
              <a:rPr lang="en-US" dirty="0" err="1"/>
              <a:t>Mischschmierung</a:t>
            </a:r>
            <a:endParaRPr lang="en-US" dirty="0"/>
          </a:p>
          <a:p>
            <a:pPr lvl="2"/>
            <a:r>
              <a:rPr lang="en-US" dirty="0" err="1"/>
              <a:t>Flüssigkeitsschmierung</a:t>
            </a:r>
            <a:endParaRPr lang="en-US" dirty="0"/>
          </a:p>
          <a:p>
            <a:pPr lvl="2"/>
            <a:r>
              <a:rPr lang="en-US" dirty="0"/>
              <a:t>Gasschmierung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9B172-3D89-B09E-95C2-5E52ADB13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277" y="1825625"/>
            <a:ext cx="3453642" cy="408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4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0731-6B6F-1C73-0519-6AA0BA05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Kap. 11 – Degradation von </a:t>
            </a:r>
            <a:r>
              <a:rPr lang="en-US" dirty="0" err="1"/>
              <a:t>Werkstoffen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81DC-9C09-91A1-F513-06E0BFBB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114026" cy="4351338"/>
          </a:xfrm>
        </p:spPr>
        <p:txBody>
          <a:bodyPr>
            <a:normAutofit/>
          </a:bodyPr>
          <a:lstStyle/>
          <a:p>
            <a:r>
              <a:rPr lang="en-US" dirty="0" err="1"/>
              <a:t>Reibung</a:t>
            </a:r>
            <a:r>
              <a:rPr lang="en-US" dirty="0"/>
              <a:t> (cont’d)</a:t>
            </a:r>
          </a:p>
          <a:p>
            <a:pPr lvl="1"/>
            <a:r>
              <a:rPr lang="en-US" dirty="0" err="1"/>
              <a:t>Reibungsmechanismen</a:t>
            </a:r>
            <a:r>
              <a:rPr lang="en-US" dirty="0"/>
              <a:t> (4)</a:t>
            </a:r>
          </a:p>
          <a:p>
            <a:pPr lvl="2"/>
            <a:r>
              <a:rPr lang="en-US" dirty="0" err="1"/>
              <a:t>Adhäsion</a:t>
            </a:r>
            <a:endParaRPr lang="en-US" dirty="0"/>
          </a:p>
          <a:p>
            <a:pPr lvl="2"/>
            <a:r>
              <a:rPr lang="en-US" dirty="0" err="1"/>
              <a:t>Plastische</a:t>
            </a:r>
            <a:r>
              <a:rPr lang="en-US" dirty="0"/>
              <a:t> Deformation</a:t>
            </a:r>
          </a:p>
          <a:p>
            <a:pPr lvl="2"/>
            <a:r>
              <a:rPr lang="en-US" dirty="0" err="1"/>
              <a:t>Furchung</a:t>
            </a:r>
            <a:endParaRPr lang="en-US" dirty="0"/>
          </a:p>
          <a:p>
            <a:pPr lvl="2"/>
            <a:r>
              <a:rPr lang="en-US" dirty="0" err="1"/>
              <a:t>Elastische</a:t>
            </a:r>
            <a:r>
              <a:rPr lang="en-US" dirty="0"/>
              <a:t> Deformation (</a:t>
            </a:r>
            <a:r>
              <a:rPr lang="en-US" dirty="0" err="1"/>
              <a:t>Hysterese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Hydrodynamische</a:t>
            </a:r>
            <a:r>
              <a:rPr lang="en-US" dirty="0"/>
              <a:t> </a:t>
            </a:r>
            <a:r>
              <a:rPr lang="en-US" dirty="0" err="1"/>
              <a:t>Schmierung</a:t>
            </a:r>
            <a:endParaRPr lang="en-US" dirty="0"/>
          </a:p>
          <a:p>
            <a:pPr lvl="1"/>
            <a:r>
              <a:rPr lang="en-US" dirty="0" err="1"/>
              <a:t>Einsatzgrenzen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F9D21C-45D1-0726-A216-2E2508E40CD9}"/>
              </a:ext>
            </a:extLst>
          </p:cNvPr>
          <p:cNvSpPr txBox="1">
            <a:spLocks/>
          </p:cNvSpPr>
          <p:nvPr/>
        </p:nvSpPr>
        <p:spPr>
          <a:xfrm>
            <a:off x="6383548" y="1690688"/>
            <a:ext cx="51140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Verschleiss</a:t>
            </a:r>
            <a:endParaRPr lang="en-US" dirty="0"/>
          </a:p>
          <a:p>
            <a:pPr lvl="1"/>
            <a:r>
              <a:rPr lang="en-US" dirty="0" err="1"/>
              <a:t>Mechanismen</a:t>
            </a:r>
            <a:r>
              <a:rPr lang="en-US" dirty="0"/>
              <a:t> (4)</a:t>
            </a:r>
          </a:p>
          <a:p>
            <a:pPr lvl="2"/>
            <a:r>
              <a:rPr lang="en-US" dirty="0" err="1"/>
              <a:t>Adhäsion</a:t>
            </a:r>
            <a:endParaRPr lang="en-US" dirty="0"/>
          </a:p>
          <a:p>
            <a:pPr lvl="2"/>
            <a:r>
              <a:rPr lang="en-US" dirty="0" err="1"/>
              <a:t>Tribochemische</a:t>
            </a:r>
            <a:r>
              <a:rPr lang="en-US" dirty="0"/>
              <a:t> </a:t>
            </a:r>
            <a:r>
              <a:rPr lang="en-US" dirty="0" err="1"/>
              <a:t>Reaktionen</a:t>
            </a:r>
            <a:endParaRPr lang="en-US" dirty="0"/>
          </a:p>
          <a:p>
            <a:pPr lvl="2"/>
            <a:r>
              <a:rPr lang="en-US" dirty="0" err="1"/>
              <a:t>Oberflächenzerüttung</a:t>
            </a:r>
            <a:endParaRPr lang="en-US" dirty="0"/>
          </a:p>
          <a:p>
            <a:pPr lvl="2"/>
            <a:r>
              <a:rPr lang="en-US" dirty="0"/>
              <a:t>Abrasion (Archard-Modell)</a:t>
            </a:r>
          </a:p>
          <a:p>
            <a:pPr lvl="1"/>
            <a:r>
              <a:rPr lang="en-US" dirty="0" err="1"/>
              <a:t>Gestaltabwichungen</a:t>
            </a:r>
            <a:endParaRPr lang="en-US" dirty="0"/>
          </a:p>
          <a:p>
            <a:pPr lvl="1"/>
            <a:r>
              <a:rPr lang="en-US" dirty="0" err="1"/>
              <a:t>Verschleissprüfung</a:t>
            </a:r>
            <a:r>
              <a:rPr lang="en-US" dirty="0"/>
              <a:t> (4) + Stift-Scheibe-</a:t>
            </a:r>
            <a:r>
              <a:rPr lang="en-US" dirty="0" err="1"/>
              <a:t>Versuch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10210-BEFF-AA76-6F80-C25A6771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8" y="5167312"/>
            <a:ext cx="4738777" cy="1395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CC7DDF-F74D-5E10-D564-73CACF492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" y="4943475"/>
            <a:ext cx="4738777" cy="15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9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188</Words>
  <Application>Microsoft Macintosh PowerPoint</Application>
  <PresentationFormat>Widescreen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WuF Übung ML F36 Woche 13</vt:lpstr>
      <vt:lpstr>Theorie Überblick</vt:lpstr>
      <vt:lpstr>Kap. 10 – Optische Eigenschaften</vt:lpstr>
      <vt:lpstr>Kap. 11 – Degradation von Werkstoffen</vt:lpstr>
      <vt:lpstr>Kap. 11 – Degradation von Werkstoffen (cont)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WuF Übung ML F36 Woche 9</dc:title>
  <dc:creator>Schenk  Lorenzo</dc:creator>
  <cp:lastModifiedBy>Schenk  Lorenzo</cp:lastModifiedBy>
  <cp:revision>15</cp:revision>
  <dcterms:created xsi:type="dcterms:W3CDTF">2025-04-17T08:57:29Z</dcterms:created>
  <dcterms:modified xsi:type="dcterms:W3CDTF">2025-05-21T20:51:37Z</dcterms:modified>
</cp:coreProperties>
</file>